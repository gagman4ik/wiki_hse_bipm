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2" r:id="rId3"/>
    <p:sldId id="307" r:id="rId4"/>
    <p:sldId id="306" r:id="rId5"/>
    <p:sldId id="308" r:id="rId6"/>
    <p:sldId id="315" r:id="rId7"/>
    <p:sldId id="316" r:id="rId8"/>
    <p:sldId id="309" r:id="rId9"/>
    <p:sldId id="310" r:id="rId10"/>
    <p:sldId id="311" r:id="rId11"/>
    <p:sldId id="317" r:id="rId12"/>
    <p:sldId id="312" r:id="rId13"/>
    <p:sldId id="313" r:id="rId14"/>
    <p:sldId id="314" r:id="rId15"/>
    <p:sldId id="303" r:id="rId16"/>
    <p:sldId id="305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302"/>
            <p14:sldId id="307"/>
            <p14:sldId id="306"/>
            <p14:sldId id="308"/>
            <p14:sldId id="315"/>
            <p14:sldId id="316"/>
            <p14:sldId id="309"/>
            <p14:sldId id="310"/>
            <p14:sldId id="311"/>
            <p14:sldId id="317"/>
            <p14:sldId id="312"/>
            <p14:sldId id="313"/>
            <p14:sldId id="314"/>
            <p14:sldId id="303"/>
            <p14:sldId id="305"/>
            <p14:sldId id="304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7" autoAdjust="0"/>
    <p:restoredTop sz="94241" autoAdjust="0"/>
  </p:normalViewPr>
  <p:slideViewPr>
    <p:cSldViewPr snapToGrid="0">
      <p:cViewPr varScale="1">
        <p:scale>
          <a:sx n="125" d="100"/>
          <a:sy n="125" d="100"/>
        </p:scale>
        <p:origin x="8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youtu.be/FJJTYQYB1JQ?si=YVxIH9qqJjr7Q_z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c3mPdZA-Fmc?si=eaoRsHfJZfwOlh5b" TargetMode="External"/><Relationship Id="rId5" Type="http://schemas.openxmlformats.org/officeDocument/2006/relationships/hyperlink" Target="https://www.amazon.com/Computer-Architecture-Quantitative-John-Hennessy/dp/012383872X" TargetMode="Externa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dbolt.or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C-Programming-Language-4th/dp/032156384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C-Programming-Language-4th/dp/032156384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C-Programming-Language-4th/dp/032156384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ru-RU" sz="4800" dirty="0">
                <a:solidFill>
                  <a:schemeClr val="bg1"/>
                </a:solidFill>
              </a:rPr>
              <a:t>С++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5EDAE420-E33A-4860-A651-B1CC6748BB70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8443990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Чем отличается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C/C++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от других языков программирования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Какое место занимает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C/C++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отрасли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Оссобености сборки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C/C++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кода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7D1FB-FD01-46A4-9FE0-3563BD4F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151" y="1681422"/>
            <a:ext cx="5719887" cy="402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739DE-0649-4060-BCDB-5A74E52A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934" y="1648968"/>
            <a:ext cx="3965585" cy="3331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241661-E81E-4AB4-AB11-5A0866DF1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397403"/>
            <a:ext cx="1394450" cy="1800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043139-8646-4507-AB00-49FBECA2A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767" y="5142796"/>
            <a:ext cx="4248849" cy="1184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10E393-D1D0-432D-87CE-7F3099A93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285" y="1561995"/>
            <a:ext cx="3335176" cy="2344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C6D816-52D7-4875-83C6-F0810533B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943" y="4123723"/>
            <a:ext cx="3979860" cy="22862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C23ABF-4AC6-4A14-B40D-9FEB980161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02" y="4174457"/>
            <a:ext cx="3087977" cy="2184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0D6E1A-4554-482D-9E91-358A2FCD64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0230" y="1753068"/>
            <a:ext cx="1489489" cy="150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5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C3E37-2201-48BD-ABBA-BA09EB4BA59B}"/>
              </a:ext>
            </a:extLst>
          </p:cNvPr>
          <p:cNvSpPr txBox="1"/>
          <p:nvPr/>
        </p:nvSpPr>
        <p:spPr>
          <a:xfrm>
            <a:off x="478535" y="2487454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std::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World!\n"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124BC-FC23-4F89-8072-56DBFE6A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660" y="3150722"/>
            <a:ext cx="2057687" cy="733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2C3D96-6F83-410B-830E-D9143DE5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95" y="3169774"/>
            <a:ext cx="3639058" cy="7144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3F6975-93A8-48D0-A512-C4B322CA6FC6}"/>
              </a:ext>
            </a:extLst>
          </p:cNvPr>
          <p:cNvCxnSpPr/>
          <p:nvPr/>
        </p:nvCxnSpPr>
        <p:spPr>
          <a:xfrm>
            <a:off x="4194048" y="3517485"/>
            <a:ext cx="6217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B9E3B8-21C4-4FB7-9F61-D5778CCF97FF}"/>
              </a:ext>
            </a:extLst>
          </p:cNvPr>
          <p:cNvCxnSpPr/>
          <p:nvPr/>
        </p:nvCxnSpPr>
        <p:spPr>
          <a:xfrm>
            <a:off x="7168896" y="3527011"/>
            <a:ext cx="6217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CFCAEE9-E159-4369-BF3E-A45BBBF66FCB}"/>
              </a:ext>
            </a:extLst>
          </p:cNvPr>
          <p:cNvSpPr txBox="1"/>
          <p:nvPr/>
        </p:nvSpPr>
        <p:spPr>
          <a:xfrm>
            <a:off x="4256318" y="315584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A9E2C2-9701-4FB9-AE6D-2A4BE4E91BBE}"/>
              </a:ext>
            </a:extLst>
          </p:cNvPr>
          <p:cNvSpPr txBox="1"/>
          <p:nvPr/>
        </p:nvSpPr>
        <p:spPr>
          <a:xfrm>
            <a:off x="7231166" y="314632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42063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Ассемблер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957CF-1DFE-4B6C-AF5B-A927B19A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475233"/>
            <a:ext cx="3786037" cy="4456176"/>
          </a:xfrm>
          <a:prstGeom prst="rect">
            <a:avLst/>
          </a:prstGeom>
        </p:spPr>
      </p:pic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092736D6-1792-4065-910F-C9BF5480BCD6}"/>
              </a:ext>
            </a:extLst>
          </p:cNvPr>
          <p:cNvSpPr txBox="1">
            <a:spLocks/>
          </p:cNvSpPr>
          <p:nvPr/>
        </p:nvSpPr>
        <p:spPr>
          <a:xfrm>
            <a:off x="4747850" y="1372465"/>
            <a:ext cx="4365670" cy="254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Язы́к ассе́мблера (англ. assembly language) — представление команд процессора в виде, доступном для чтения человеком.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C. Wikipedia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В языке ассемблера все вычисления производятся в регистрах.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Отдельный команды для записи из регистров в память и наоборот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(Load store)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Управление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control flow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черезразличные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conditional jump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Каждая команда ассемблера кодируется в несколько байт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DD34F8-C10F-4802-8618-F1273184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859" y="5804257"/>
            <a:ext cx="4418846" cy="605687"/>
          </a:xfrm>
          <a:prstGeom prst="rect">
            <a:avLst/>
          </a:prstGeom>
        </p:spPr>
      </p:pic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99EAA4C6-25D6-46C8-B235-ED0ECAEDF3E5}"/>
              </a:ext>
            </a:extLst>
          </p:cNvPr>
          <p:cNvSpPr txBox="1">
            <a:spLocks/>
          </p:cNvSpPr>
          <p:nvPr/>
        </p:nvSpPr>
        <p:spPr>
          <a:xfrm>
            <a:off x="4747850" y="5931409"/>
            <a:ext cx="6078646" cy="148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r0 r1 r2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C964B2-C465-49B6-8285-0BB1FC095DF7}"/>
              </a:ext>
            </a:extLst>
          </p:cNvPr>
          <p:cNvCxnSpPr/>
          <p:nvPr/>
        </p:nvCxnSpPr>
        <p:spPr>
          <a:xfrm>
            <a:off x="5772912" y="6089997"/>
            <a:ext cx="6217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DA511A12-2875-46B0-89BB-6D1D3CEDF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504" y="3912768"/>
            <a:ext cx="2477885" cy="16252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D0BA7E-75C5-46D2-A102-BEDACB44F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654" y="2104806"/>
            <a:ext cx="2490139" cy="3497897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DF0F76-A0A3-4D3D-933C-7AAB895999CC}"/>
              </a:ext>
            </a:extLst>
          </p:cNvPr>
          <p:cNvCxnSpPr/>
          <p:nvPr/>
        </p:nvCxnSpPr>
        <p:spPr>
          <a:xfrm>
            <a:off x="8491728" y="4731557"/>
            <a:ext cx="6217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38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А где же стек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(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stack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и куча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(heap)?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63784-3A52-4508-BC77-A18775DD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35" y="2302514"/>
            <a:ext cx="3918710" cy="2659630"/>
          </a:xfrm>
          <a:prstGeom prst="rect">
            <a:avLst/>
          </a:prstGeom>
        </p:spPr>
      </p:pic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A171699B-FA44-4CCB-B6B2-6E099D4A410C}"/>
              </a:ext>
            </a:extLst>
          </p:cNvPr>
          <p:cNvSpPr txBox="1">
            <a:spLocks/>
          </p:cNvSpPr>
          <p:nvPr/>
        </p:nvSpPr>
        <p:spPr>
          <a:xfrm>
            <a:off x="5735402" y="1488291"/>
            <a:ext cx="4365670" cy="81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Stack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используется очень часто поэтому современные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ISA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имеют специальные ассемблерные команды для работы со стеком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1B8F3CE4-43DE-4C2B-893E-3F10E5AE22C1}"/>
              </a:ext>
            </a:extLst>
          </p:cNvPr>
          <p:cNvSpPr txBox="1">
            <a:spLocks/>
          </p:cNvSpPr>
          <p:nvPr/>
        </p:nvSpPr>
        <p:spPr>
          <a:xfrm>
            <a:off x="5735402" y="2303381"/>
            <a:ext cx="4365670" cy="155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Stack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это отдельная область памяти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Calling convection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Stack corruption</a:t>
            </a:r>
          </a:p>
        </p:txBody>
      </p:sp>
    </p:spTree>
    <p:extLst>
      <p:ext uri="{BB962C8B-B14F-4D97-AF65-F5344CB8AC3E}">
        <p14:creationId xmlns:p14="http://schemas.microsoft.com/office/powerpoint/2010/main" val="257185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Cache miss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887FC-3621-4619-B685-CE20B7DAB9A6}"/>
              </a:ext>
            </a:extLst>
          </p:cNvPr>
          <p:cNvSpPr txBox="1"/>
          <p:nvPr/>
        </p:nvSpPr>
        <p:spPr>
          <a:xfrm>
            <a:off x="521207" y="5920478"/>
            <a:ext cx="10418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Sorting Algorithms: Speed Is Found In The Minds of People - Andrei </a:t>
            </a:r>
            <a:r>
              <a:rPr lang="en-US" dirty="0" err="1">
                <a:hlinkClick r:id="rId2"/>
              </a:rPr>
              <a:t>Alexandrescu</a:t>
            </a:r>
            <a:r>
              <a:rPr lang="en-US" dirty="0">
                <a:hlinkClick r:id="rId2"/>
              </a:rPr>
              <a:t> - </a:t>
            </a:r>
            <a:r>
              <a:rPr lang="en-US" dirty="0" err="1">
                <a:hlinkClick r:id="rId2"/>
              </a:rPr>
              <a:t>CppCon</a:t>
            </a:r>
            <a:r>
              <a:rPr lang="en-US" dirty="0">
                <a:hlinkClick r:id="rId2"/>
              </a:rPr>
              <a:t> 2019</a:t>
            </a:r>
            <a:r>
              <a:rPr lang="en-US" dirty="0"/>
              <a:t> </a:t>
            </a:r>
          </a:p>
        </p:txBody>
      </p: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3EE69995-8A65-48E9-B14F-B6C47FA8180B}"/>
              </a:ext>
            </a:extLst>
          </p:cNvPr>
          <p:cNvSpPr txBox="1">
            <a:spLocks/>
          </p:cNvSpPr>
          <p:nvPr/>
        </p:nvSpPr>
        <p:spPr>
          <a:xfrm>
            <a:off x="657434" y="1396849"/>
            <a:ext cx="5505622" cy="254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Чтение из памяти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длится порядка сотни тактов процессора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Cache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процессора строится на предположении что доступ к памяти программы будет локальным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18DA5-F882-4ACB-9B2C-FC6B50272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601" y="2697933"/>
            <a:ext cx="3462864" cy="2088225"/>
          </a:xfrm>
          <a:prstGeom prst="rect">
            <a:avLst/>
          </a:prstGeom>
        </p:spPr>
      </p:pic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E264219D-F4AC-4766-8F91-86D185A0C589}"/>
              </a:ext>
            </a:extLst>
          </p:cNvPr>
          <p:cNvSpPr txBox="1">
            <a:spLocks/>
          </p:cNvSpPr>
          <p:nvPr/>
        </p:nvSpPr>
        <p:spPr>
          <a:xfrm>
            <a:off x="5839034" y="1287121"/>
            <a:ext cx="5505622" cy="254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Как работают кеши в многоядерном процессоре? (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Cache coherence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873868-FBA9-4874-AC8D-CA62759C5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074" y="1926439"/>
            <a:ext cx="4565107" cy="334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CPU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F82EF-862D-4FA8-9CA1-2A487AFD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41" y="1346986"/>
            <a:ext cx="6232868" cy="25043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900432-7A90-4FA1-95AE-6E4BB6B8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7" y="1329667"/>
            <a:ext cx="4162443" cy="2858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A5BD25-C84E-47D1-9449-0356F5560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999" y="4429809"/>
            <a:ext cx="1914762" cy="17160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F37708-7DB9-44AC-A337-CE7C6071E18D}"/>
              </a:ext>
            </a:extLst>
          </p:cNvPr>
          <p:cNvSpPr txBox="1"/>
          <p:nvPr/>
        </p:nvSpPr>
        <p:spPr>
          <a:xfrm>
            <a:off x="5319709" y="38356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Computer Architecture: A Quantitative Approach Book</a:t>
            </a:r>
            <a:r>
              <a:rPr lang="en-US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0C7675-81BB-4DC9-9995-A2CF147AE7B8}"/>
              </a:ext>
            </a:extLst>
          </p:cNvPr>
          <p:cNvSpPr/>
          <p:nvPr/>
        </p:nvSpPr>
        <p:spPr>
          <a:xfrm>
            <a:off x="5111824" y="4988509"/>
            <a:ext cx="1450848" cy="1421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App.exe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8C7387-0C61-47B5-B2E4-6F0B0BCF7A00}"/>
              </a:ext>
            </a:extLst>
          </p:cNvPr>
          <p:cNvSpPr/>
          <p:nvPr/>
        </p:nvSpPr>
        <p:spPr>
          <a:xfrm>
            <a:off x="7257616" y="4988510"/>
            <a:ext cx="1450848" cy="1421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1B5A4-7EAA-4B69-9CC9-72E7643E0B6C}"/>
              </a:ext>
            </a:extLst>
          </p:cNvPr>
          <p:cNvSpPr/>
          <p:nvPr/>
        </p:nvSpPr>
        <p:spPr>
          <a:xfrm>
            <a:off x="9388496" y="4988510"/>
            <a:ext cx="1450848" cy="1421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D1BC03-D8DE-499A-B219-1FDD28A6E62D}"/>
              </a:ext>
            </a:extLst>
          </p:cNvPr>
          <p:cNvCxnSpPr/>
          <p:nvPr/>
        </p:nvCxnSpPr>
        <p:spPr>
          <a:xfrm>
            <a:off x="6687312" y="5699227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8FE857-E8E5-49A0-A04A-63B2E18DED53}"/>
              </a:ext>
            </a:extLst>
          </p:cNvPr>
          <p:cNvCxnSpPr/>
          <p:nvPr/>
        </p:nvCxnSpPr>
        <p:spPr>
          <a:xfrm>
            <a:off x="8833104" y="5699226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BBC7956-95CD-47A8-9575-16467EDA762C}"/>
              </a:ext>
            </a:extLst>
          </p:cNvPr>
          <p:cNvSpPr txBox="1"/>
          <p:nvPr/>
        </p:nvSpPr>
        <p:spPr>
          <a:xfrm>
            <a:off x="5319709" y="4114647"/>
            <a:ext cx="623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Computer Architecture - Lecture 1: Introduction and Basics (ETH Zürich, Fall 2020)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291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CPP</a:t>
            </a: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33911DE3-70FD-4E0C-9593-B44616D6E834}"/>
              </a:ext>
            </a:extLst>
          </p:cNvPr>
          <p:cNvSpPr txBox="1">
            <a:spLocks/>
          </p:cNvSpPr>
          <p:nvPr/>
        </p:nvSpPr>
        <p:spPr>
          <a:xfrm>
            <a:off x="645242" y="1409041"/>
            <a:ext cx="4365670" cy="194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C++/C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может напрямую компилироваться в бинарный код и запускаться напрямую на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embedded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девайсах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С++ напрямую компилируется в бинарный исполняемые файлы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42DFF-B7FD-4DA2-98AC-450C810F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960" y="1293217"/>
            <a:ext cx="1950966" cy="1455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B58B49-5260-47EE-A883-B27549668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10" y="3569340"/>
            <a:ext cx="3210373" cy="828791"/>
          </a:xfrm>
          <a:prstGeom prst="rect">
            <a:avLst/>
          </a:prstGeom>
        </p:spPr>
      </p:pic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2DD2DCE5-A2AC-4FE4-AE26-C8D11C6D60D2}"/>
              </a:ext>
            </a:extLst>
          </p:cNvPr>
          <p:cNvSpPr txBox="1">
            <a:spLocks/>
          </p:cNvSpPr>
          <p:nvPr/>
        </p:nvSpPr>
        <p:spPr>
          <a:xfrm>
            <a:off x="5294960" y="3136959"/>
            <a:ext cx="4365670" cy="194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C++/C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может напрямую компилироваться в бинарный код и запускаться напрямую на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embedded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девайсах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С++ напрямую компилируется в бинарные исполняемые файлы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BE094D-740B-4B71-B1BC-C440E746A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10" y="4771155"/>
            <a:ext cx="10553700" cy="61912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3072F0-4414-414F-8FC3-822571A4D39A}"/>
              </a:ext>
            </a:extLst>
          </p:cNvPr>
          <p:cNvCxnSpPr>
            <a:cxnSpLocks/>
          </p:cNvCxnSpPr>
          <p:nvPr/>
        </p:nvCxnSpPr>
        <p:spPr>
          <a:xfrm>
            <a:off x="4090416" y="4289011"/>
            <a:ext cx="1109472" cy="3378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17">
            <a:extLst>
              <a:ext uri="{FF2B5EF4-FFF2-40B4-BE49-F238E27FC236}">
                <a16:creationId xmlns:a16="http://schemas.microsoft.com/office/drawing/2014/main" id="{CF0677A6-347D-4DE6-BD85-03EAD8BD086E}"/>
              </a:ext>
            </a:extLst>
          </p:cNvPr>
          <p:cNvSpPr txBox="1">
            <a:spLocks/>
          </p:cNvSpPr>
          <p:nvPr/>
        </p:nvSpPr>
        <p:spPr>
          <a:xfrm>
            <a:off x="694010" y="5474014"/>
            <a:ext cx="7566070" cy="194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Python.exe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написан на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pure C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Многие языки абстрагирую программиста от прямой работы с памятью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C/C++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не единственные языки которые поддерживают прямую компиляцию в бинарные файлы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71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Процесс компиляции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CPP/C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кода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0B7F5-C19B-4311-9ED1-D857E4D87FB5}"/>
              </a:ext>
            </a:extLst>
          </p:cNvPr>
          <p:cNvSpPr/>
          <p:nvPr/>
        </p:nvSpPr>
        <p:spPr>
          <a:xfrm>
            <a:off x="1374976" y="1696669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add10.cpp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69AE5D-D803-4D55-A534-22F2350A8DC6}"/>
              </a:ext>
            </a:extLst>
          </p:cNvPr>
          <p:cNvSpPr/>
          <p:nvPr/>
        </p:nvSpPr>
        <p:spPr>
          <a:xfrm>
            <a:off x="1374976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add5.cpp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E2C0E-8549-4112-8B3D-EDFC6154B269}"/>
              </a:ext>
            </a:extLst>
          </p:cNvPr>
          <p:cNvSpPr/>
          <p:nvPr/>
        </p:nvSpPr>
        <p:spPr>
          <a:xfrm>
            <a:off x="1374976" y="2886760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main.cpp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8FD559-853E-488D-9126-EAC61A84ABF2}"/>
              </a:ext>
            </a:extLst>
          </p:cNvPr>
          <p:cNvCxnSpPr/>
          <p:nvPr/>
        </p:nvCxnSpPr>
        <p:spPr>
          <a:xfrm>
            <a:off x="3023616" y="1913611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26C0C9C-2C63-4795-809B-C3AA5FAACABB}"/>
              </a:ext>
            </a:extLst>
          </p:cNvPr>
          <p:cNvSpPr/>
          <p:nvPr/>
        </p:nvSpPr>
        <p:spPr>
          <a:xfrm>
            <a:off x="3630496" y="1696669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4B62A3-6B39-4806-B22A-B37C54BB2362}"/>
              </a:ext>
            </a:extLst>
          </p:cNvPr>
          <p:cNvCxnSpPr/>
          <p:nvPr/>
        </p:nvCxnSpPr>
        <p:spPr>
          <a:xfrm>
            <a:off x="3023616" y="2515515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2024339-D5EA-4593-A919-7817FBB36B7E}"/>
              </a:ext>
            </a:extLst>
          </p:cNvPr>
          <p:cNvSpPr/>
          <p:nvPr/>
        </p:nvSpPr>
        <p:spPr>
          <a:xfrm>
            <a:off x="3630496" y="2298573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454EFA-5820-41A2-84E0-51FB5359029F}"/>
              </a:ext>
            </a:extLst>
          </p:cNvPr>
          <p:cNvCxnSpPr/>
          <p:nvPr/>
        </p:nvCxnSpPr>
        <p:spPr>
          <a:xfrm>
            <a:off x="3023616" y="3090444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DF108B8-8239-4927-B043-315776952BA9}"/>
              </a:ext>
            </a:extLst>
          </p:cNvPr>
          <p:cNvSpPr/>
          <p:nvPr/>
        </p:nvSpPr>
        <p:spPr>
          <a:xfrm>
            <a:off x="3630496" y="2873502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DEB414-910B-490D-8C6F-3C578079FA1D}"/>
              </a:ext>
            </a:extLst>
          </p:cNvPr>
          <p:cNvSpPr/>
          <p:nvPr/>
        </p:nvSpPr>
        <p:spPr>
          <a:xfrm>
            <a:off x="5877200" y="1682953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6D61BD-4F10-4E57-9515-B53074BCEED5}"/>
              </a:ext>
            </a:extLst>
          </p:cNvPr>
          <p:cNvCxnSpPr/>
          <p:nvPr/>
        </p:nvCxnSpPr>
        <p:spPr>
          <a:xfrm>
            <a:off x="5319088" y="1927326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DDD834-209E-4E9E-A711-F1834D05F6C7}"/>
              </a:ext>
            </a:extLst>
          </p:cNvPr>
          <p:cNvSpPr/>
          <p:nvPr/>
        </p:nvSpPr>
        <p:spPr>
          <a:xfrm>
            <a:off x="587720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E18288-4184-4409-B301-7DB25E40D98A}"/>
              </a:ext>
            </a:extLst>
          </p:cNvPr>
          <p:cNvCxnSpPr/>
          <p:nvPr/>
        </p:nvCxnSpPr>
        <p:spPr>
          <a:xfrm>
            <a:off x="5319088" y="2529230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278D6B3-0CEE-4A23-80FE-DB237DEACBE4}"/>
              </a:ext>
            </a:extLst>
          </p:cNvPr>
          <p:cNvSpPr/>
          <p:nvPr/>
        </p:nvSpPr>
        <p:spPr>
          <a:xfrm>
            <a:off x="5877200" y="28735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main.o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835C04-1907-4671-8618-D58DD6477DA2}"/>
              </a:ext>
            </a:extLst>
          </p:cNvPr>
          <p:cNvCxnSpPr/>
          <p:nvPr/>
        </p:nvCxnSpPr>
        <p:spPr>
          <a:xfrm>
            <a:off x="5319088" y="3117875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F581F79-45C3-4944-B519-CCE21B74A8D8}"/>
              </a:ext>
            </a:extLst>
          </p:cNvPr>
          <p:cNvSpPr/>
          <p:nvPr/>
        </p:nvSpPr>
        <p:spPr>
          <a:xfrm>
            <a:off x="797488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87DD65-471A-4454-AA67-3272DBAD0957}"/>
              </a:ext>
            </a:extLst>
          </p:cNvPr>
          <p:cNvCxnSpPr>
            <a:cxnSpLocks/>
          </p:cNvCxnSpPr>
          <p:nvPr/>
        </p:nvCxnSpPr>
        <p:spPr>
          <a:xfrm>
            <a:off x="7398326" y="1913610"/>
            <a:ext cx="469392" cy="24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740F11-7E5B-43F7-A28A-7F0521EE8DD3}"/>
              </a:ext>
            </a:extLst>
          </p:cNvPr>
          <p:cNvCxnSpPr/>
          <p:nvPr/>
        </p:nvCxnSpPr>
        <p:spPr>
          <a:xfrm>
            <a:off x="7398326" y="2508807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E693FC-2943-40BF-9BB5-CC14A49454F1}"/>
              </a:ext>
            </a:extLst>
          </p:cNvPr>
          <p:cNvCxnSpPr>
            <a:cxnSpLocks/>
          </p:cNvCxnSpPr>
          <p:nvPr/>
        </p:nvCxnSpPr>
        <p:spPr>
          <a:xfrm flipV="1">
            <a:off x="7398326" y="2873502"/>
            <a:ext cx="469392" cy="26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D4D23AC-CFD3-439B-A556-036F94647F6F}"/>
              </a:ext>
            </a:extLst>
          </p:cNvPr>
          <p:cNvCxnSpPr/>
          <p:nvPr/>
        </p:nvCxnSpPr>
        <p:spPr>
          <a:xfrm>
            <a:off x="9556310" y="2515514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0099C56-0131-44F8-86F2-314BF621CA72}"/>
              </a:ext>
            </a:extLst>
          </p:cNvPr>
          <p:cNvSpPr/>
          <p:nvPr/>
        </p:nvSpPr>
        <p:spPr>
          <a:xfrm>
            <a:off x="10156284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main.exe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489AB3-EA10-4148-BF67-27F82C7E6917}"/>
              </a:ext>
            </a:extLst>
          </p:cNvPr>
          <p:cNvSpPr/>
          <p:nvPr/>
        </p:nvSpPr>
        <p:spPr>
          <a:xfrm>
            <a:off x="1091512" y="1408108"/>
            <a:ext cx="4462272" cy="22555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17">
            <a:extLst>
              <a:ext uri="{FF2B5EF4-FFF2-40B4-BE49-F238E27FC236}">
                <a16:creationId xmlns:a16="http://schemas.microsoft.com/office/drawing/2014/main" id="{C7436D3F-076A-469E-A703-6101CD1EFC0B}"/>
              </a:ext>
            </a:extLst>
          </p:cNvPr>
          <p:cNvSpPr txBox="1">
            <a:spLocks/>
          </p:cNvSpPr>
          <p:nvPr/>
        </p:nvSpPr>
        <p:spPr>
          <a:xfrm>
            <a:off x="1447661" y="3715742"/>
            <a:ext cx="3514483" cy="51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Компиляция может выполянться параллельно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4B038A-4D72-46DD-81CF-A0C05FF3AF13}"/>
              </a:ext>
            </a:extLst>
          </p:cNvPr>
          <p:cNvSpPr txBox="1"/>
          <p:nvPr/>
        </p:nvSpPr>
        <p:spPr>
          <a:xfrm>
            <a:off x="902864" y="4782885"/>
            <a:ext cx="2648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add10(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+ 10.0f;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E0BA1F-9F00-42AA-9F5F-F04EE94ABAAC}"/>
              </a:ext>
            </a:extLst>
          </p:cNvPr>
          <p:cNvSpPr txBox="1"/>
          <p:nvPr/>
        </p:nvSpPr>
        <p:spPr>
          <a:xfrm>
            <a:off x="3630496" y="4732335"/>
            <a:ext cx="23543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add5(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+ 5.0f;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42AE9E-57FB-4FC3-B93C-7673178F7D85}"/>
              </a:ext>
            </a:extLst>
          </p:cNvPr>
          <p:cNvSpPr txBox="1"/>
          <p:nvPr/>
        </p:nvSpPr>
        <p:spPr>
          <a:xfrm>
            <a:off x="6443464" y="4706507"/>
            <a:ext cx="33467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 = 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std::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std::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add10(add5(t));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51" name="Content Placeholder 17">
            <a:extLst>
              <a:ext uri="{FF2B5EF4-FFF2-40B4-BE49-F238E27FC236}">
                <a16:creationId xmlns:a16="http://schemas.microsoft.com/office/drawing/2014/main" id="{F03EC9C4-12EB-4C53-B369-936400C48CFE}"/>
              </a:ext>
            </a:extLst>
          </p:cNvPr>
          <p:cNvSpPr txBox="1">
            <a:spLocks/>
          </p:cNvSpPr>
          <p:nvPr/>
        </p:nvSpPr>
        <p:spPr>
          <a:xfrm>
            <a:off x="938502" y="4067957"/>
            <a:ext cx="5664122" cy="772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Как компилятор узнает о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add5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и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add10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функциях если комплиляция происходит паралельно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513639-686B-468F-99AE-64B9E6C4EEE8}"/>
              </a:ext>
            </a:extLst>
          </p:cNvPr>
          <p:cNvSpPr/>
          <p:nvPr/>
        </p:nvSpPr>
        <p:spPr>
          <a:xfrm>
            <a:off x="5642178" y="1408108"/>
            <a:ext cx="4147990" cy="22555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ontent Placeholder 17">
            <a:extLst>
              <a:ext uri="{FF2B5EF4-FFF2-40B4-BE49-F238E27FC236}">
                <a16:creationId xmlns:a16="http://schemas.microsoft.com/office/drawing/2014/main" id="{A41255DF-DF6A-4B74-8BC5-9FA426B9CCF5}"/>
              </a:ext>
            </a:extLst>
          </p:cNvPr>
          <p:cNvSpPr txBox="1">
            <a:spLocks/>
          </p:cNvSpPr>
          <p:nvPr/>
        </p:nvSpPr>
        <p:spPr>
          <a:xfrm>
            <a:off x="5958931" y="3660164"/>
            <a:ext cx="3514483" cy="51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Compile-time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связывание или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static linking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5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Static library linking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0B7F5-C19B-4311-9ED1-D857E4D87FB5}"/>
              </a:ext>
            </a:extLst>
          </p:cNvPr>
          <p:cNvSpPr/>
          <p:nvPr/>
        </p:nvSpPr>
        <p:spPr>
          <a:xfrm>
            <a:off x="1374976" y="1696669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add10.cpp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69AE5D-D803-4D55-A534-22F2350A8DC6}"/>
              </a:ext>
            </a:extLst>
          </p:cNvPr>
          <p:cNvSpPr/>
          <p:nvPr/>
        </p:nvSpPr>
        <p:spPr>
          <a:xfrm>
            <a:off x="1374976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add5.cpp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8FD559-853E-488D-9126-EAC61A84ABF2}"/>
              </a:ext>
            </a:extLst>
          </p:cNvPr>
          <p:cNvCxnSpPr/>
          <p:nvPr/>
        </p:nvCxnSpPr>
        <p:spPr>
          <a:xfrm>
            <a:off x="3023616" y="1913611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26C0C9C-2C63-4795-809B-C3AA5FAACABB}"/>
              </a:ext>
            </a:extLst>
          </p:cNvPr>
          <p:cNvSpPr/>
          <p:nvPr/>
        </p:nvSpPr>
        <p:spPr>
          <a:xfrm>
            <a:off x="3630496" y="1696669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4B62A3-6B39-4806-B22A-B37C54BB2362}"/>
              </a:ext>
            </a:extLst>
          </p:cNvPr>
          <p:cNvCxnSpPr/>
          <p:nvPr/>
        </p:nvCxnSpPr>
        <p:spPr>
          <a:xfrm>
            <a:off x="3023616" y="2515515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2024339-D5EA-4593-A919-7817FBB36B7E}"/>
              </a:ext>
            </a:extLst>
          </p:cNvPr>
          <p:cNvSpPr/>
          <p:nvPr/>
        </p:nvSpPr>
        <p:spPr>
          <a:xfrm>
            <a:off x="3630496" y="2298573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DEB414-910B-490D-8C6F-3C578079FA1D}"/>
              </a:ext>
            </a:extLst>
          </p:cNvPr>
          <p:cNvSpPr/>
          <p:nvPr/>
        </p:nvSpPr>
        <p:spPr>
          <a:xfrm>
            <a:off x="5877200" y="1682953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6D61BD-4F10-4E57-9515-B53074BCEED5}"/>
              </a:ext>
            </a:extLst>
          </p:cNvPr>
          <p:cNvCxnSpPr/>
          <p:nvPr/>
        </p:nvCxnSpPr>
        <p:spPr>
          <a:xfrm>
            <a:off x="5319088" y="1927326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DDD834-209E-4E9E-A711-F1834D05F6C7}"/>
              </a:ext>
            </a:extLst>
          </p:cNvPr>
          <p:cNvSpPr/>
          <p:nvPr/>
        </p:nvSpPr>
        <p:spPr>
          <a:xfrm>
            <a:off x="587720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E18288-4184-4409-B301-7DB25E40D98A}"/>
              </a:ext>
            </a:extLst>
          </p:cNvPr>
          <p:cNvCxnSpPr/>
          <p:nvPr/>
        </p:nvCxnSpPr>
        <p:spPr>
          <a:xfrm>
            <a:off x="5319088" y="2529230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F581F79-45C3-4944-B519-CCE21B74A8D8}"/>
              </a:ext>
            </a:extLst>
          </p:cNvPr>
          <p:cNvSpPr/>
          <p:nvPr/>
        </p:nvSpPr>
        <p:spPr>
          <a:xfrm>
            <a:off x="797488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87DD65-471A-4454-AA67-3272DBAD0957}"/>
              </a:ext>
            </a:extLst>
          </p:cNvPr>
          <p:cNvCxnSpPr>
            <a:cxnSpLocks/>
          </p:cNvCxnSpPr>
          <p:nvPr/>
        </p:nvCxnSpPr>
        <p:spPr>
          <a:xfrm>
            <a:off x="7398326" y="1913610"/>
            <a:ext cx="469392" cy="24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740F11-7E5B-43F7-A28A-7F0521EE8DD3}"/>
              </a:ext>
            </a:extLst>
          </p:cNvPr>
          <p:cNvCxnSpPr/>
          <p:nvPr/>
        </p:nvCxnSpPr>
        <p:spPr>
          <a:xfrm>
            <a:off x="7398326" y="2508807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D4D23AC-CFD3-439B-A556-036F94647F6F}"/>
              </a:ext>
            </a:extLst>
          </p:cNvPr>
          <p:cNvCxnSpPr/>
          <p:nvPr/>
        </p:nvCxnSpPr>
        <p:spPr>
          <a:xfrm>
            <a:off x="9556310" y="2515514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0099C56-0131-44F8-86F2-314BF621CA72}"/>
              </a:ext>
            </a:extLst>
          </p:cNvPr>
          <p:cNvSpPr/>
          <p:nvPr/>
        </p:nvSpPr>
        <p:spPr>
          <a:xfrm>
            <a:off x="10156284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add.lib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489AB3-EA10-4148-BF67-27F82C7E6917}"/>
              </a:ext>
            </a:extLst>
          </p:cNvPr>
          <p:cNvSpPr/>
          <p:nvPr/>
        </p:nvSpPr>
        <p:spPr>
          <a:xfrm>
            <a:off x="1091512" y="1408108"/>
            <a:ext cx="4462272" cy="15440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513639-686B-468F-99AE-64B9E6C4EEE8}"/>
              </a:ext>
            </a:extLst>
          </p:cNvPr>
          <p:cNvSpPr/>
          <p:nvPr/>
        </p:nvSpPr>
        <p:spPr>
          <a:xfrm>
            <a:off x="5642178" y="1408108"/>
            <a:ext cx="4147990" cy="15440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40ACB1-7047-4E52-A612-965A5B285D3D}"/>
              </a:ext>
            </a:extLst>
          </p:cNvPr>
          <p:cNvSpPr txBox="1"/>
          <p:nvPr/>
        </p:nvSpPr>
        <p:spPr>
          <a:xfrm>
            <a:off x="1350264" y="3292547"/>
            <a:ext cx="33467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 = 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std::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std::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add10(add5(t));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D178A3-3F17-4370-9247-29697AC905D0}"/>
              </a:ext>
            </a:extLst>
          </p:cNvPr>
          <p:cNvSpPr/>
          <p:nvPr/>
        </p:nvSpPr>
        <p:spPr>
          <a:xfrm>
            <a:off x="6544740" y="4339525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add.lib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1EC284-1EEC-4240-8A66-9DEDB067D9BE}"/>
              </a:ext>
            </a:extLst>
          </p:cNvPr>
          <p:cNvSpPr/>
          <p:nvPr/>
        </p:nvSpPr>
        <p:spPr>
          <a:xfrm>
            <a:off x="8574854" y="3754386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main1.exe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E16621-8267-4A2D-8B36-74623B21D379}"/>
              </a:ext>
            </a:extLst>
          </p:cNvPr>
          <p:cNvSpPr/>
          <p:nvPr/>
        </p:nvSpPr>
        <p:spPr>
          <a:xfrm>
            <a:off x="8574854" y="4800840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main2.exe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DD2BA7-868A-49EB-B1B2-9DC64B293E0D}"/>
              </a:ext>
            </a:extLst>
          </p:cNvPr>
          <p:cNvCxnSpPr>
            <a:cxnSpLocks/>
          </p:cNvCxnSpPr>
          <p:nvPr/>
        </p:nvCxnSpPr>
        <p:spPr>
          <a:xfrm flipV="1">
            <a:off x="8044502" y="3985043"/>
            <a:ext cx="477706" cy="54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AA2A96-4729-435C-8A29-C06124ED4336}"/>
              </a:ext>
            </a:extLst>
          </p:cNvPr>
          <p:cNvCxnSpPr>
            <a:cxnSpLocks/>
          </p:cNvCxnSpPr>
          <p:nvPr/>
        </p:nvCxnSpPr>
        <p:spPr>
          <a:xfrm>
            <a:off x="8044502" y="4677542"/>
            <a:ext cx="435034" cy="340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64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Dynamic library linking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0B7F5-C19B-4311-9ED1-D857E4D87FB5}"/>
              </a:ext>
            </a:extLst>
          </p:cNvPr>
          <p:cNvSpPr/>
          <p:nvPr/>
        </p:nvSpPr>
        <p:spPr>
          <a:xfrm>
            <a:off x="1374976" y="1696669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add10.cpp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69AE5D-D803-4D55-A534-22F2350A8DC6}"/>
              </a:ext>
            </a:extLst>
          </p:cNvPr>
          <p:cNvSpPr/>
          <p:nvPr/>
        </p:nvSpPr>
        <p:spPr>
          <a:xfrm>
            <a:off x="1374976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add5.cpp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8FD559-853E-488D-9126-EAC61A84ABF2}"/>
              </a:ext>
            </a:extLst>
          </p:cNvPr>
          <p:cNvCxnSpPr/>
          <p:nvPr/>
        </p:nvCxnSpPr>
        <p:spPr>
          <a:xfrm>
            <a:off x="3023616" y="1913611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26C0C9C-2C63-4795-809B-C3AA5FAACABB}"/>
              </a:ext>
            </a:extLst>
          </p:cNvPr>
          <p:cNvSpPr/>
          <p:nvPr/>
        </p:nvSpPr>
        <p:spPr>
          <a:xfrm>
            <a:off x="3630496" y="1696669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4B62A3-6B39-4806-B22A-B37C54BB2362}"/>
              </a:ext>
            </a:extLst>
          </p:cNvPr>
          <p:cNvCxnSpPr/>
          <p:nvPr/>
        </p:nvCxnSpPr>
        <p:spPr>
          <a:xfrm>
            <a:off x="3023616" y="2515515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2024339-D5EA-4593-A919-7817FBB36B7E}"/>
              </a:ext>
            </a:extLst>
          </p:cNvPr>
          <p:cNvSpPr/>
          <p:nvPr/>
        </p:nvSpPr>
        <p:spPr>
          <a:xfrm>
            <a:off x="3630496" y="2298573"/>
            <a:ext cx="1599872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DEB414-910B-490D-8C6F-3C578079FA1D}"/>
              </a:ext>
            </a:extLst>
          </p:cNvPr>
          <p:cNvSpPr/>
          <p:nvPr/>
        </p:nvSpPr>
        <p:spPr>
          <a:xfrm>
            <a:off x="5877200" y="1682953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add10.o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6D61BD-4F10-4E57-9515-B53074BCEED5}"/>
              </a:ext>
            </a:extLst>
          </p:cNvPr>
          <p:cNvCxnSpPr/>
          <p:nvPr/>
        </p:nvCxnSpPr>
        <p:spPr>
          <a:xfrm>
            <a:off x="5319088" y="1927326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DDD834-209E-4E9E-A711-F1834D05F6C7}"/>
              </a:ext>
            </a:extLst>
          </p:cNvPr>
          <p:cNvSpPr/>
          <p:nvPr/>
        </p:nvSpPr>
        <p:spPr>
          <a:xfrm>
            <a:off x="587720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add5.o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E18288-4184-4409-B301-7DB25E40D98A}"/>
              </a:ext>
            </a:extLst>
          </p:cNvPr>
          <p:cNvCxnSpPr/>
          <p:nvPr/>
        </p:nvCxnSpPr>
        <p:spPr>
          <a:xfrm>
            <a:off x="5319088" y="2529230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F581F79-45C3-4944-B519-CCE21B74A8D8}"/>
              </a:ext>
            </a:extLst>
          </p:cNvPr>
          <p:cNvSpPr/>
          <p:nvPr/>
        </p:nvSpPr>
        <p:spPr>
          <a:xfrm>
            <a:off x="7974880" y="2284857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87DD65-471A-4454-AA67-3272DBAD0957}"/>
              </a:ext>
            </a:extLst>
          </p:cNvPr>
          <p:cNvCxnSpPr>
            <a:cxnSpLocks/>
          </p:cNvCxnSpPr>
          <p:nvPr/>
        </p:nvCxnSpPr>
        <p:spPr>
          <a:xfrm>
            <a:off x="7398326" y="1913610"/>
            <a:ext cx="469392" cy="24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740F11-7E5B-43F7-A28A-7F0521EE8DD3}"/>
              </a:ext>
            </a:extLst>
          </p:cNvPr>
          <p:cNvCxnSpPr/>
          <p:nvPr/>
        </p:nvCxnSpPr>
        <p:spPr>
          <a:xfrm>
            <a:off x="7398326" y="2508807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D4D23AC-CFD3-439B-A556-036F94647F6F}"/>
              </a:ext>
            </a:extLst>
          </p:cNvPr>
          <p:cNvCxnSpPr/>
          <p:nvPr/>
        </p:nvCxnSpPr>
        <p:spPr>
          <a:xfrm>
            <a:off x="9556310" y="2515514"/>
            <a:ext cx="469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0099C56-0131-44F8-86F2-314BF621CA72}"/>
              </a:ext>
            </a:extLst>
          </p:cNvPr>
          <p:cNvSpPr/>
          <p:nvPr/>
        </p:nvSpPr>
        <p:spPr>
          <a:xfrm>
            <a:off x="10156284" y="2305202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add.dll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489AB3-EA10-4148-BF67-27F82C7E6917}"/>
              </a:ext>
            </a:extLst>
          </p:cNvPr>
          <p:cNvSpPr/>
          <p:nvPr/>
        </p:nvSpPr>
        <p:spPr>
          <a:xfrm>
            <a:off x="1091512" y="1408108"/>
            <a:ext cx="4462272" cy="15440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513639-686B-468F-99AE-64B9E6C4EEE8}"/>
              </a:ext>
            </a:extLst>
          </p:cNvPr>
          <p:cNvSpPr/>
          <p:nvPr/>
        </p:nvSpPr>
        <p:spPr>
          <a:xfrm>
            <a:off x="5642178" y="1408108"/>
            <a:ext cx="4147990" cy="15440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8A390F-3425-46F6-9AE7-805636773B4C}"/>
              </a:ext>
            </a:extLst>
          </p:cNvPr>
          <p:cNvSpPr txBox="1"/>
          <p:nvPr/>
        </p:nvSpPr>
        <p:spPr>
          <a:xfrm>
            <a:off x="1374976" y="32269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HMODULE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dynamic_lib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LoadLibraryW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L"add.dll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GetProcAddress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dynamic_lib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"add10"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//.....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92249D-36E6-4E61-94AD-3C57EC09EE5D}"/>
              </a:ext>
            </a:extLst>
          </p:cNvPr>
          <p:cNvSpPr/>
          <p:nvPr/>
        </p:nvSpPr>
        <p:spPr>
          <a:xfrm>
            <a:off x="7716173" y="4140098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add.dll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F1F785-4DD0-4743-9BEE-1654076DCC5C}"/>
              </a:ext>
            </a:extLst>
          </p:cNvPr>
          <p:cNvSpPr/>
          <p:nvPr/>
        </p:nvSpPr>
        <p:spPr>
          <a:xfrm>
            <a:off x="9726998" y="3622921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main1.exe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C88A7E-0A04-475E-8DA1-14D0A683D96C}"/>
              </a:ext>
            </a:extLst>
          </p:cNvPr>
          <p:cNvSpPr/>
          <p:nvPr/>
        </p:nvSpPr>
        <p:spPr>
          <a:xfrm>
            <a:off x="9726998" y="4755046"/>
            <a:ext cx="1450848" cy="461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r>
              <a:rPr lang="ru-RU" dirty="0"/>
              <a:t>2</a:t>
            </a:r>
            <a:r>
              <a:rPr lang="en-US" dirty="0"/>
              <a:t>.exe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A723ADB-13BC-4EAD-AD10-9B93A8BF0A8A}"/>
              </a:ext>
            </a:extLst>
          </p:cNvPr>
          <p:cNvCxnSpPr>
            <a:cxnSpLocks/>
          </p:cNvCxnSpPr>
          <p:nvPr/>
        </p:nvCxnSpPr>
        <p:spPr>
          <a:xfrm flipV="1">
            <a:off x="9257606" y="3827120"/>
            <a:ext cx="392362" cy="553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575D91A-B168-471D-9BFA-B6E39F1FD15F}"/>
              </a:ext>
            </a:extLst>
          </p:cNvPr>
          <p:cNvCxnSpPr>
            <a:cxnSpLocks/>
          </p:cNvCxnSpPr>
          <p:nvPr/>
        </p:nvCxnSpPr>
        <p:spPr>
          <a:xfrm>
            <a:off x="9257606" y="4532000"/>
            <a:ext cx="392362" cy="453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9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Debug Symbols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22125D-8361-4950-A844-F113F373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3" y="1383791"/>
            <a:ext cx="5773447" cy="43009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FFAFC7-3131-4700-9C03-3B5337456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85" y="1987381"/>
            <a:ext cx="2490139" cy="34978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61B8500-C39A-4528-91A6-DD0DDB7D2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044" y="2923728"/>
            <a:ext cx="2477885" cy="1625201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C1CDAE-3B33-4B7E-97BA-2DA88229449C}"/>
              </a:ext>
            </a:extLst>
          </p:cNvPr>
          <p:cNvCxnSpPr>
            <a:cxnSpLocks/>
          </p:cNvCxnSpPr>
          <p:nvPr/>
        </p:nvCxnSpPr>
        <p:spPr>
          <a:xfrm flipH="1">
            <a:off x="8894064" y="3736328"/>
            <a:ext cx="25603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7">
            <a:extLst>
              <a:ext uri="{FF2B5EF4-FFF2-40B4-BE49-F238E27FC236}">
                <a16:creationId xmlns:a16="http://schemas.microsoft.com/office/drawing/2014/main" id="{EFBC04CB-1ABC-4C1F-A443-25E3C70DE535}"/>
              </a:ext>
            </a:extLst>
          </p:cNvPr>
          <p:cNvSpPr txBox="1">
            <a:spLocks/>
          </p:cNvSpPr>
          <p:nvPr/>
        </p:nvSpPr>
        <p:spPr>
          <a:xfrm>
            <a:off x="6559016" y="2349403"/>
            <a:ext cx="6352312" cy="772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pdb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файлы с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Debug Symbols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E98DB-2FE3-4EB5-ADF5-96CCA347C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852" y="1543375"/>
            <a:ext cx="2184077" cy="8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0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830057" cy="640080"/>
          </a:xfrm>
        </p:spPr>
        <p:txBody>
          <a:bodyPr>
            <a:noAutofit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Отличие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Debug, Release,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RelWithDebInfo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сборок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63BD8-F351-48A6-8B8C-9E51522C286A}"/>
              </a:ext>
            </a:extLst>
          </p:cNvPr>
          <p:cNvSpPr txBox="1"/>
          <p:nvPr/>
        </p:nvSpPr>
        <p:spPr>
          <a:xfrm>
            <a:off x="786384" y="2463814"/>
            <a:ext cx="25054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add2(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+ 2;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add2_t(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+ 2;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num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C6852-C055-4128-A538-30618006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454" y="2533929"/>
            <a:ext cx="4044060" cy="2611125"/>
          </a:xfrm>
          <a:prstGeom prst="rect">
            <a:avLst/>
          </a:prstGeom>
        </p:spPr>
      </p:pic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65763090-0AFE-48D1-9E1C-8EEE12DE2138}"/>
              </a:ext>
            </a:extLst>
          </p:cNvPr>
          <p:cNvSpPr txBox="1">
            <a:spLocks/>
          </p:cNvSpPr>
          <p:nvPr/>
        </p:nvSpPr>
        <p:spPr>
          <a:xfrm>
            <a:off x="4338758" y="2121868"/>
            <a:ext cx="3514483" cy="51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Без оптимизаций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D9A8B-AF56-4FFF-A743-4016EBDB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062" y="2513682"/>
            <a:ext cx="4448753" cy="1830636"/>
          </a:xfrm>
          <a:prstGeom prst="rect">
            <a:avLst/>
          </a:prstGeom>
        </p:spPr>
      </p:pic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3ED12750-DFC9-4221-9D33-482A1120037C}"/>
              </a:ext>
            </a:extLst>
          </p:cNvPr>
          <p:cNvSpPr txBox="1">
            <a:spLocks/>
          </p:cNvSpPr>
          <p:nvPr/>
        </p:nvSpPr>
        <p:spPr>
          <a:xfrm>
            <a:off x="8959526" y="2121868"/>
            <a:ext cx="3514483" cy="51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 оптимизацией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C8203-70CB-4B09-8F98-9D2ABE37334B}"/>
              </a:ext>
            </a:extLst>
          </p:cNvPr>
          <p:cNvSpPr txBox="1"/>
          <p:nvPr/>
        </p:nvSpPr>
        <p:spPr>
          <a:xfrm>
            <a:off x="728472" y="5658350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695645DD-F971-48BD-98B3-B5ACE8858363}"/>
              </a:ext>
            </a:extLst>
          </p:cNvPr>
          <p:cNvSpPr txBox="1">
            <a:spLocks/>
          </p:cNvSpPr>
          <p:nvPr/>
        </p:nvSpPr>
        <p:spPr>
          <a:xfrm>
            <a:off x="2998952" y="5719310"/>
            <a:ext cx="6352312" cy="772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- Позволяет увидеть ассемблерный код различных компиляторов в читаемой форме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1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5EDAE420-E33A-4860-A651-B1CC6748BB70}"/>
              </a:ext>
            </a:extLst>
          </p:cNvPr>
          <p:cNvSpPr txBox="1">
            <a:spLocks/>
          </p:cNvSpPr>
          <p:nvPr/>
        </p:nvSpPr>
        <p:spPr>
          <a:xfrm>
            <a:off x="615696" y="1493241"/>
            <a:ext cx="11095654" cy="3865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/>
              <a:t>The purpose of a programming language is to help express ideas in code.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/>
              <a:t>In that, a programming language performs two related tasks: </a:t>
            </a:r>
            <a:br>
              <a:rPr lang="en-US" dirty="0"/>
            </a:br>
            <a:r>
              <a:rPr lang="en-US" dirty="0"/>
              <a:t>	it provides a vehicle for the programmer to specify actions to be executed by the machine, </a:t>
            </a:r>
            <a:br>
              <a:rPr lang="en-US" dirty="0"/>
            </a:br>
            <a:r>
              <a:rPr lang="en-US" dirty="0"/>
              <a:t>		 ‘‘close to the machine’’ </a:t>
            </a:r>
            <a:br>
              <a:rPr lang="en-US" dirty="0"/>
            </a:br>
            <a:r>
              <a:rPr lang="en-US" dirty="0"/>
              <a:t>		 direct mappings of built-in operations and types to hardware to provide efficient memory use and efficient low-level operations</a:t>
            </a:r>
            <a:br>
              <a:rPr lang="en-US" dirty="0"/>
            </a:br>
            <a:r>
              <a:rPr lang="en-US" dirty="0"/>
              <a:t>	it provides a set of concepts for the programmer to use when thinking about what can be done. </a:t>
            </a:r>
            <a:br>
              <a:rPr lang="en-US" dirty="0"/>
            </a:br>
            <a:r>
              <a:rPr lang="en-US" dirty="0"/>
              <a:t>		 ‘‘close to the problem to be solved’’ </a:t>
            </a:r>
            <a:br>
              <a:rPr lang="en-US" dirty="0"/>
            </a:br>
            <a:r>
              <a:rPr lang="en-US" dirty="0"/>
              <a:t>		 affordable and flexible abstraction mechanisms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/>
              <a:t>C++ is a language for developing and using elegant and efficient abstractions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85D79-0E0F-47E9-830E-ADC3CDE5E77D}"/>
              </a:ext>
            </a:extLst>
          </p:cNvPr>
          <p:cNvSpPr txBox="1"/>
          <p:nvPr/>
        </p:nvSpPr>
        <p:spPr>
          <a:xfrm>
            <a:off x="597408" y="5891972"/>
            <a:ext cx="757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The C++ Programming Language, 4th Edition, Bjarne </a:t>
            </a:r>
            <a:r>
              <a:rPr lang="en-US" dirty="0" err="1">
                <a:hlinkClick r:id="rId2"/>
              </a:rPr>
              <a:t>Stroustrup</a:t>
            </a:r>
            <a:r>
              <a:rPr lang="en-US" dirty="0">
                <a:hlinkClick r:id="rId2"/>
              </a:rPr>
              <a:t> Book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83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5EDAE420-E33A-4860-A651-B1CC6748BB70}"/>
              </a:ext>
            </a:extLst>
          </p:cNvPr>
          <p:cNvSpPr txBox="1">
            <a:spLocks/>
          </p:cNvSpPr>
          <p:nvPr/>
        </p:nvSpPr>
        <p:spPr>
          <a:xfrm>
            <a:off x="615696" y="1493241"/>
            <a:ext cx="11095654" cy="3865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/>
              <a:t>The general ideals for design and programming can be expressed simply:</a:t>
            </a:r>
            <a:br>
              <a:rPr lang="en-US" dirty="0"/>
            </a:br>
            <a:r>
              <a:rPr lang="en-US" dirty="0"/>
              <a:t>	Express ideas directly in code. </a:t>
            </a:r>
            <a:br>
              <a:rPr lang="en-US" dirty="0"/>
            </a:br>
            <a:r>
              <a:rPr lang="en-US" dirty="0"/>
              <a:t>	Express independent ideas independently in code. </a:t>
            </a:r>
            <a:br>
              <a:rPr lang="en-US" dirty="0"/>
            </a:br>
            <a:r>
              <a:rPr lang="en-US" dirty="0"/>
              <a:t>	Represent relationships among ideas directly in code. </a:t>
            </a:r>
            <a:br>
              <a:rPr lang="en-US" dirty="0"/>
            </a:br>
            <a:r>
              <a:rPr lang="en-US" dirty="0"/>
              <a:t>	Combine ideas expressed in code freely – where and only where combinations make sense. </a:t>
            </a:r>
            <a:br>
              <a:rPr lang="en-US" dirty="0"/>
            </a:br>
            <a:r>
              <a:rPr lang="en-US" dirty="0"/>
              <a:t>	Express simple ideas simply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85D79-0E0F-47E9-830E-ADC3CDE5E77D}"/>
              </a:ext>
            </a:extLst>
          </p:cNvPr>
          <p:cNvSpPr txBox="1"/>
          <p:nvPr/>
        </p:nvSpPr>
        <p:spPr>
          <a:xfrm>
            <a:off x="597408" y="5891972"/>
            <a:ext cx="757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The C++ Programming Language, 4th Edition, Bjarne </a:t>
            </a:r>
            <a:r>
              <a:rPr lang="en-US" dirty="0" err="1">
                <a:hlinkClick r:id="rId2"/>
              </a:rPr>
              <a:t>Stroustrup</a:t>
            </a:r>
            <a:r>
              <a:rPr lang="en-US" dirty="0">
                <a:hlinkClick r:id="rId2"/>
              </a:rPr>
              <a:t> Book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669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C++/C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5EDAE420-E33A-4860-A651-B1CC6748BB70}"/>
              </a:ext>
            </a:extLst>
          </p:cNvPr>
          <p:cNvSpPr txBox="1">
            <a:spLocks/>
          </p:cNvSpPr>
          <p:nvPr/>
        </p:nvSpPr>
        <p:spPr>
          <a:xfrm>
            <a:off x="615696" y="1493241"/>
            <a:ext cx="11095654" cy="3865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/>
              <a:t>The C++ language features most directly support four programming styles: </a:t>
            </a:r>
            <a:br>
              <a:rPr lang="en-US" dirty="0"/>
            </a:br>
            <a:r>
              <a:rPr lang="en-US" dirty="0"/>
              <a:t>	Procedural programming</a:t>
            </a:r>
            <a:br>
              <a:rPr lang="en-US" dirty="0"/>
            </a:br>
            <a:r>
              <a:rPr lang="en-US" dirty="0"/>
              <a:t>		This is programming focused on processing and the design of suitable data structures.</a:t>
            </a:r>
            <a:br>
              <a:rPr lang="en-US" dirty="0"/>
            </a:br>
            <a:r>
              <a:rPr lang="en-US" dirty="0"/>
              <a:t>		It is what C was designed to support</a:t>
            </a:r>
            <a:br>
              <a:rPr lang="en-US" dirty="0"/>
            </a:br>
            <a:r>
              <a:rPr lang="en-US" dirty="0"/>
              <a:t>	Data abstraction </a:t>
            </a:r>
            <a:br>
              <a:rPr lang="en-US" dirty="0"/>
            </a:br>
            <a:r>
              <a:rPr lang="en-US" dirty="0"/>
              <a:t>		This is programming focused on the design of interfaces, hiding implementation details in general and representations in particular.</a:t>
            </a:r>
            <a:br>
              <a:rPr lang="en-US" dirty="0"/>
            </a:br>
            <a:r>
              <a:rPr lang="en-US" dirty="0"/>
              <a:t>	Object-oriented programming</a:t>
            </a:r>
            <a:br>
              <a:rPr lang="en-US" dirty="0"/>
            </a:br>
            <a:r>
              <a:rPr lang="en-US" dirty="0"/>
              <a:t>		This is programming focused on the design, implementation, and use of class hierarchies.</a:t>
            </a:r>
            <a:br>
              <a:rPr lang="en-US" dirty="0"/>
            </a:br>
            <a:r>
              <a:rPr lang="en-US" dirty="0"/>
              <a:t>	Generic programming</a:t>
            </a:r>
            <a:br>
              <a:rPr lang="en-US" dirty="0"/>
            </a:br>
            <a:r>
              <a:rPr lang="en-US" dirty="0"/>
              <a:t>		This is programming focused on the design, implementation, and use of general algorithms. </a:t>
            </a:r>
            <a:br>
              <a:rPr lang="en-US" dirty="0"/>
            </a:br>
            <a:r>
              <a:rPr lang="en-US" dirty="0"/>
              <a:t>		Here, ‘‘general’’ means that an algorithm can be designed to accept a wide variety of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85D79-0E0F-47E9-830E-ADC3CDE5E77D}"/>
              </a:ext>
            </a:extLst>
          </p:cNvPr>
          <p:cNvSpPr txBox="1"/>
          <p:nvPr/>
        </p:nvSpPr>
        <p:spPr>
          <a:xfrm>
            <a:off x="597408" y="5891972"/>
            <a:ext cx="757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The C++ Programming Language, 4th Edition, Bjarne </a:t>
            </a:r>
            <a:r>
              <a:rPr lang="en-US" dirty="0" err="1">
                <a:hlinkClick r:id="rId2"/>
              </a:rPr>
              <a:t>Stroustrup</a:t>
            </a:r>
            <a:r>
              <a:rPr lang="en-US" dirty="0">
                <a:hlinkClick r:id="rId2"/>
              </a:rPr>
              <a:t> Book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371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_fixed.potx" id="{9A9BE078-57A7-48B2-9D33-8EFC365D262A}" vid="{66905093-CF97-471D-A25F-2AFDA5521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14942</TotalTime>
  <Words>1018</Words>
  <Application>Microsoft Office PowerPoint</Application>
  <PresentationFormat>Widescreen</PresentationFormat>
  <Paragraphs>146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Cascadia Mono</vt:lpstr>
      <vt:lpstr>Segoe UI</vt:lpstr>
      <vt:lpstr>Segoe UI Light</vt:lpstr>
      <vt:lpstr>WelcomeDoc</vt:lpstr>
      <vt:lpstr>С++</vt:lpstr>
      <vt:lpstr>C++/C</vt:lpstr>
      <vt:lpstr>C++/C</vt:lpstr>
      <vt:lpstr>C++/C</vt:lpstr>
      <vt:lpstr>Ассемблер</vt:lpstr>
      <vt:lpstr>А где же стек (stack) и куча (heap)?</vt:lpstr>
      <vt:lpstr>Cache miss</vt:lpstr>
      <vt:lpstr>CPU</vt:lpstr>
      <vt:lpstr>CPP</vt:lpstr>
      <vt:lpstr>Процесс компиляции CPP/C кода</vt:lpstr>
      <vt:lpstr>Static library linking</vt:lpstr>
      <vt:lpstr>Dynamic library linking</vt:lpstr>
      <vt:lpstr>Debug Symbols</vt:lpstr>
      <vt:lpstr>Отличие Debug, Release, RelWithDebInfo, сборок </vt:lpstr>
      <vt:lpstr>C++/C</vt:lpstr>
      <vt:lpstr>C++/C</vt:lpstr>
      <vt:lpstr>C++/C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программирования</dc:title>
  <dc:creator>Svyatoslav</dc:creator>
  <cp:keywords/>
  <cp:lastModifiedBy>hulio</cp:lastModifiedBy>
  <cp:revision>68</cp:revision>
  <dcterms:created xsi:type="dcterms:W3CDTF">2023-04-07T23:55:43Z</dcterms:created>
  <dcterms:modified xsi:type="dcterms:W3CDTF">2023-10-12T07:59:08Z</dcterms:modified>
  <cp:version/>
</cp:coreProperties>
</file>