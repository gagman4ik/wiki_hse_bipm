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1"/>
  </p:sldMasterIdLst>
  <p:notesMasterIdLst>
    <p:notesMasterId r:id="rId90"/>
  </p:notesMasterIdLst>
  <p:handoutMasterIdLst>
    <p:handoutMasterId r:id="rId91"/>
  </p:handoutMasterIdLst>
  <p:sldIdLst>
    <p:sldId id="256" r:id="rId2"/>
    <p:sldId id="302" r:id="rId3"/>
    <p:sldId id="307" r:id="rId4"/>
    <p:sldId id="306" r:id="rId5"/>
    <p:sldId id="308" r:id="rId6"/>
    <p:sldId id="315" r:id="rId7"/>
    <p:sldId id="316" r:id="rId8"/>
    <p:sldId id="309" r:id="rId9"/>
    <p:sldId id="310" r:id="rId10"/>
    <p:sldId id="311" r:id="rId11"/>
    <p:sldId id="317" r:id="rId12"/>
    <p:sldId id="312" r:id="rId13"/>
    <p:sldId id="313" r:id="rId14"/>
    <p:sldId id="314" r:id="rId15"/>
    <p:sldId id="303" r:id="rId16"/>
    <p:sldId id="305" r:id="rId17"/>
    <p:sldId id="304" r:id="rId18"/>
    <p:sldId id="318" r:id="rId19"/>
    <p:sldId id="322" r:id="rId20"/>
    <p:sldId id="323" r:id="rId21"/>
    <p:sldId id="319" r:id="rId22"/>
    <p:sldId id="321" r:id="rId23"/>
    <p:sldId id="320" r:id="rId24"/>
    <p:sldId id="324" r:id="rId25"/>
    <p:sldId id="325" r:id="rId26"/>
    <p:sldId id="326" r:id="rId27"/>
    <p:sldId id="351" r:id="rId28"/>
    <p:sldId id="350" r:id="rId29"/>
    <p:sldId id="349" r:id="rId30"/>
    <p:sldId id="352" r:id="rId31"/>
    <p:sldId id="354" r:id="rId32"/>
    <p:sldId id="353" r:id="rId33"/>
    <p:sldId id="327" r:id="rId34"/>
    <p:sldId id="346" r:id="rId35"/>
    <p:sldId id="348" r:id="rId36"/>
    <p:sldId id="357" r:id="rId37"/>
    <p:sldId id="356" r:id="rId38"/>
    <p:sldId id="347" r:id="rId39"/>
    <p:sldId id="358" r:id="rId40"/>
    <p:sldId id="359" r:id="rId41"/>
    <p:sldId id="361" r:id="rId42"/>
    <p:sldId id="362" r:id="rId43"/>
    <p:sldId id="366" r:id="rId44"/>
    <p:sldId id="364" r:id="rId45"/>
    <p:sldId id="367" r:id="rId46"/>
    <p:sldId id="365" r:id="rId47"/>
    <p:sldId id="368" r:id="rId48"/>
    <p:sldId id="372" r:id="rId49"/>
    <p:sldId id="371" r:id="rId50"/>
    <p:sldId id="373" r:id="rId51"/>
    <p:sldId id="374" r:id="rId52"/>
    <p:sldId id="376" r:id="rId53"/>
    <p:sldId id="375" r:id="rId54"/>
    <p:sldId id="377" r:id="rId55"/>
    <p:sldId id="378" r:id="rId56"/>
    <p:sldId id="369" r:id="rId57"/>
    <p:sldId id="379" r:id="rId58"/>
    <p:sldId id="385" r:id="rId59"/>
    <p:sldId id="388" r:id="rId60"/>
    <p:sldId id="394" r:id="rId61"/>
    <p:sldId id="390" r:id="rId62"/>
    <p:sldId id="387" r:id="rId63"/>
    <p:sldId id="392" r:id="rId64"/>
    <p:sldId id="393" r:id="rId65"/>
    <p:sldId id="395" r:id="rId66"/>
    <p:sldId id="396" r:id="rId67"/>
    <p:sldId id="397" r:id="rId68"/>
    <p:sldId id="398" r:id="rId69"/>
    <p:sldId id="399" r:id="rId70"/>
    <p:sldId id="402" r:id="rId71"/>
    <p:sldId id="404" r:id="rId72"/>
    <p:sldId id="405" r:id="rId73"/>
    <p:sldId id="406" r:id="rId74"/>
    <p:sldId id="408" r:id="rId75"/>
    <p:sldId id="409" r:id="rId76"/>
    <p:sldId id="401" r:id="rId77"/>
    <p:sldId id="411" r:id="rId78"/>
    <p:sldId id="410" r:id="rId79"/>
    <p:sldId id="412" r:id="rId80"/>
    <p:sldId id="413" r:id="rId81"/>
    <p:sldId id="384" r:id="rId82"/>
    <p:sldId id="414" r:id="rId83"/>
    <p:sldId id="415" r:id="rId84"/>
    <p:sldId id="416" r:id="rId85"/>
    <p:sldId id="417" r:id="rId86"/>
    <p:sldId id="419" r:id="rId87"/>
    <p:sldId id="418" r:id="rId88"/>
    <p:sldId id="386"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Morph, Annotate, Work Together, Tell Me" id="{B9B51309-D148-4332-87C2-07BE32FBCA3B}">
          <p14:sldIdLst>
            <p14:sldId id="302"/>
            <p14:sldId id="307"/>
            <p14:sldId id="306"/>
            <p14:sldId id="308"/>
            <p14:sldId id="315"/>
            <p14:sldId id="316"/>
            <p14:sldId id="309"/>
            <p14:sldId id="310"/>
            <p14:sldId id="311"/>
            <p14:sldId id="317"/>
            <p14:sldId id="312"/>
            <p14:sldId id="313"/>
            <p14:sldId id="314"/>
            <p14:sldId id="303"/>
            <p14:sldId id="305"/>
            <p14:sldId id="304"/>
            <p14:sldId id="318"/>
            <p14:sldId id="322"/>
            <p14:sldId id="323"/>
            <p14:sldId id="319"/>
            <p14:sldId id="321"/>
            <p14:sldId id="320"/>
            <p14:sldId id="324"/>
            <p14:sldId id="325"/>
            <p14:sldId id="326"/>
            <p14:sldId id="351"/>
            <p14:sldId id="350"/>
            <p14:sldId id="349"/>
            <p14:sldId id="352"/>
            <p14:sldId id="354"/>
            <p14:sldId id="353"/>
            <p14:sldId id="327"/>
            <p14:sldId id="346"/>
            <p14:sldId id="348"/>
            <p14:sldId id="357"/>
            <p14:sldId id="356"/>
            <p14:sldId id="347"/>
            <p14:sldId id="358"/>
            <p14:sldId id="359"/>
            <p14:sldId id="361"/>
            <p14:sldId id="362"/>
            <p14:sldId id="366"/>
            <p14:sldId id="364"/>
            <p14:sldId id="367"/>
            <p14:sldId id="365"/>
            <p14:sldId id="368"/>
            <p14:sldId id="372"/>
            <p14:sldId id="371"/>
            <p14:sldId id="373"/>
            <p14:sldId id="374"/>
            <p14:sldId id="376"/>
            <p14:sldId id="375"/>
            <p14:sldId id="377"/>
            <p14:sldId id="378"/>
            <p14:sldId id="369"/>
            <p14:sldId id="379"/>
            <p14:sldId id="385"/>
            <p14:sldId id="388"/>
            <p14:sldId id="394"/>
            <p14:sldId id="390"/>
            <p14:sldId id="387"/>
            <p14:sldId id="392"/>
            <p14:sldId id="393"/>
            <p14:sldId id="395"/>
            <p14:sldId id="396"/>
            <p14:sldId id="397"/>
            <p14:sldId id="398"/>
            <p14:sldId id="399"/>
            <p14:sldId id="402"/>
            <p14:sldId id="404"/>
            <p14:sldId id="405"/>
            <p14:sldId id="406"/>
            <p14:sldId id="408"/>
            <p14:sldId id="409"/>
            <p14:sldId id="401"/>
            <p14:sldId id="411"/>
            <p14:sldId id="410"/>
            <p14:sldId id="412"/>
            <p14:sldId id="413"/>
            <p14:sldId id="384"/>
            <p14:sldId id="414"/>
            <p14:sldId id="415"/>
            <p14:sldId id="416"/>
            <p14:sldId id="417"/>
            <p14:sldId id="419"/>
            <p14:sldId id="418"/>
            <p14:sldId id="386"/>
          </p14:sldIdLst>
        </p14:section>
        <p14:section name="Learn More"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7" autoAdjust="0"/>
    <p:restoredTop sz="94241" autoAdjust="0"/>
  </p:normalViewPr>
  <p:slideViewPr>
    <p:cSldViewPr snapToGrid="0">
      <p:cViewPr varScale="1">
        <p:scale>
          <a:sx n="125" d="100"/>
          <a:sy n="125" d="100"/>
        </p:scale>
        <p:origin x="82" y="19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commentAuthors" Target="commentAuthor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10/19/2023</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10/19/2023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B1FC6-AFCE-4501-A68A-31231707B2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45367EF-3641-456C-8873-842D49556C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AF4500-7252-443C-9159-83A8947FFD51}"/>
              </a:ext>
            </a:extLst>
          </p:cNvPr>
          <p:cNvSpPr>
            <a:spLocks noGrp="1"/>
          </p:cNvSpPr>
          <p:nvPr>
            <p:ph type="dt" sz="half" idx="10"/>
          </p:nvPr>
        </p:nvSpPr>
        <p:spPr/>
        <p:txBody>
          <a:bodyPr/>
          <a:lstStyle/>
          <a:p>
            <a:fld id="{8BEEBAAA-29B5-4AF5-BC5F-7E580C29002D}" type="datetimeFigureOut">
              <a:rPr lang="en-US" smtClean="0"/>
              <a:pPr/>
              <a:t>10/19/2023</a:t>
            </a:fld>
            <a:endParaRPr lang="en-US" dirty="0"/>
          </a:p>
        </p:txBody>
      </p:sp>
      <p:sp>
        <p:nvSpPr>
          <p:cNvPr id="5" name="Footer Placeholder 4">
            <a:extLst>
              <a:ext uri="{FF2B5EF4-FFF2-40B4-BE49-F238E27FC236}">
                <a16:creationId xmlns:a16="http://schemas.microsoft.com/office/drawing/2014/main" id="{A55C37B8-D9AB-4C31-BCEE-DC42E7BF52B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05D8FB9-8C94-41F8-AC36-474359036E2D}"/>
              </a:ext>
            </a:extLst>
          </p:cNvPr>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3725914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C949D-ACD8-49DC-9D8A-D44932C23B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F452B8-4F3D-4D71-AEF8-7FC764CB14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EFE803-185C-4C56-9C42-EBE99391CC0C}"/>
              </a:ext>
            </a:extLst>
          </p:cNvPr>
          <p:cNvSpPr>
            <a:spLocks noGrp="1"/>
          </p:cNvSpPr>
          <p:nvPr>
            <p:ph type="dt" sz="half" idx="10"/>
          </p:nvPr>
        </p:nvSpPr>
        <p:spPr/>
        <p:txBody>
          <a:bodyPr/>
          <a:lstStyle/>
          <a:p>
            <a:fld id="{8BEEBAAA-29B5-4AF5-BC5F-7E580C29002D}" type="datetimeFigureOut">
              <a:rPr lang="en-US" smtClean="0"/>
              <a:pPr/>
              <a:t>10/19/2023</a:t>
            </a:fld>
            <a:endParaRPr lang="en-US" dirty="0"/>
          </a:p>
        </p:txBody>
      </p:sp>
      <p:sp>
        <p:nvSpPr>
          <p:cNvPr id="5" name="Footer Placeholder 4">
            <a:extLst>
              <a:ext uri="{FF2B5EF4-FFF2-40B4-BE49-F238E27FC236}">
                <a16:creationId xmlns:a16="http://schemas.microsoft.com/office/drawing/2014/main" id="{A2214209-406D-4628-BB52-0313F96A35A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1D2B28A-4211-4D2D-A139-DB9BEF6A353E}"/>
              </a:ext>
            </a:extLst>
          </p:cNvPr>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11328457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1DC7A-7A4E-4380-B3D7-A5ADA4007E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42C4A5-0D05-42FD-A75D-6F4A9363FB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58081C-EC30-48FE-921E-21CBBD124184}"/>
              </a:ext>
            </a:extLst>
          </p:cNvPr>
          <p:cNvSpPr>
            <a:spLocks noGrp="1"/>
          </p:cNvSpPr>
          <p:nvPr>
            <p:ph type="dt" sz="half" idx="10"/>
          </p:nvPr>
        </p:nvSpPr>
        <p:spPr/>
        <p:txBody>
          <a:bodyPr/>
          <a:lstStyle/>
          <a:p>
            <a:fld id="{8BEEBAAA-29B5-4AF5-BC5F-7E580C29002D}" type="datetimeFigureOut">
              <a:rPr lang="en-US" smtClean="0"/>
              <a:pPr/>
              <a:t>10/19/2023</a:t>
            </a:fld>
            <a:endParaRPr lang="en-US" dirty="0"/>
          </a:p>
        </p:txBody>
      </p:sp>
      <p:sp>
        <p:nvSpPr>
          <p:cNvPr id="5" name="Footer Placeholder 4">
            <a:extLst>
              <a:ext uri="{FF2B5EF4-FFF2-40B4-BE49-F238E27FC236}">
                <a16:creationId xmlns:a16="http://schemas.microsoft.com/office/drawing/2014/main" id="{444E3DDA-B38C-4520-A122-3A291A35BC7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CB4FEE8-B563-476B-8FD2-A6A43EDDBAA0}"/>
              </a:ext>
            </a:extLst>
          </p:cNvPr>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4107305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07B28-9F8C-4212-8B6B-BFB61E5A8A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172A2F-E037-40F2-8DF6-31F31F18D5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A168C50-9733-4EF5-8D6F-22F3B551C5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41BA0C9-5B0D-4F86-AF95-0638C64E8A80}"/>
              </a:ext>
            </a:extLst>
          </p:cNvPr>
          <p:cNvSpPr>
            <a:spLocks noGrp="1"/>
          </p:cNvSpPr>
          <p:nvPr>
            <p:ph type="dt" sz="half" idx="10"/>
          </p:nvPr>
        </p:nvSpPr>
        <p:spPr/>
        <p:txBody>
          <a:bodyPr/>
          <a:lstStyle/>
          <a:p>
            <a:fld id="{8BEEBAAA-29B5-4AF5-BC5F-7E580C29002D}" type="datetimeFigureOut">
              <a:rPr lang="en-US" smtClean="0"/>
              <a:pPr/>
              <a:t>10/19/2023</a:t>
            </a:fld>
            <a:endParaRPr lang="en-US" dirty="0"/>
          </a:p>
        </p:txBody>
      </p:sp>
      <p:sp>
        <p:nvSpPr>
          <p:cNvPr id="6" name="Footer Placeholder 5">
            <a:extLst>
              <a:ext uri="{FF2B5EF4-FFF2-40B4-BE49-F238E27FC236}">
                <a16:creationId xmlns:a16="http://schemas.microsoft.com/office/drawing/2014/main" id="{366F5077-03A4-4422-BEE8-41058860827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D334F3D-053C-4FED-BE12-65BF5B57619B}"/>
              </a:ext>
            </a:extLst>
          </p:cNvPr>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3545848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E357B-B2D2-42EC-8FFE-7C339B7D5C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E2754C0-49A0-4923-886F-B0F765E10E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B4F5E3-7D45-42D8-8440-A3F23E4116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92AF3A-547F-4EA4-AD23-8E4241E651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B3C75D-882C-4290-AB67-AF9DE6E6D6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0A9005-78EF-4869-884E-C0594F58D9EB}"/>
              </a:ext>
            </a:extLst>
          </p:cNvPr>
          <p:cNvSpPr>
            <a:spLocks noGrp="1"/>
          </p:cNvSpPr>
          <p:nvPr>
            <p:ph type="dt" sz="half" idx="10"/>
          </p:nvPr>
        </p:nvSpPr>
        <p:spPr/>
        <p:txBody>
          <a:bodyPr/>
          <a:lstStyle/>
          <a:p>
            <a:fld id="{8BEEBAAA-29B5-4AF5-BC5F-7E580C29002D}" type="datetimeFigureOut">
              <a:rPr lang="en-US" smtClean="0"/>
              <a:pPr/>
              <a:t>10/19/2023</a:t>
            </a:fld>
            <a:endParaRPr lang="en-US" dirty="0"/>
          </a:p>
        </p:txBody>
      </p:sp>
      <p:sp>
        <p:nvSpPr>
          <p:cNvPr id="8" name="Footer Placeholder 7">
            <a:extLst>
              <a:ext uri="{FF2B5EF4-FFF2-40B4-BE49-F238E27FC236}">
                <a16:creationId xmlns:a16="http://schemas.microsoft.com/office/drawing/2014/main" id="{B6961BB6-161F-4A4B-8B00-A9CAC9756EBC}"/>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CD6835F-5176-4D3A-8819-1FF10528EE79}"/>
              </a:ext>
            </a:extLst>
          </p:cNvPr>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3833319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02C45-2E7F-452D-A595-06575F27473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EDCC8DF-837B-4823-B120-DB969F6AEF26}"/>
              </a:ext>
            </a:extLst>
          </p:cNvPr>
          <p:cNvSpPr>
            <a:spLocks noGrp="1"/>
          </p:cNvSpPr>
          <p:nvPr>
            <p:ph type="dt" sz="half" idx="10"/>
          </p:nvPr>
        </p:nvSpPr>
        <p:spPr/>
        <p:txBody>
          <a:bodyPr/>
          <a:lstStyle/>
          <a:p>
            <a:fld id="{8BEEBAAA-29B5-4AF5-BC5F-7E580C29002D}" type="datetimeFigureOut">
              <a:rPr lang="en-US" smtClean="0"/>
              <a:pPr/>
              <a:t>10/19/2023</a:t>
            </a:fld>
            <a:endParaRPr lang="en-US" dirty="0"/>
          </a:p>
        </p:txBody>
      </p:sp>
      <p:sp>
        <p:nvSpPr>
          <p:cNvPr id="4" name="Footer Placeholder 3">
            <a:extLst>
              <a:ext uri="{FF2B5EF4-FFF2-40B4-BE49-F238E27FC236}">
                <a16:creationId xmlns:a16="http://schemas.microsoft.com/office/drawing/2014/main" id="{FE3F5B74-9503-4D00-BEE5-8BC5DBB088D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BB546DB-29B3-4E8F-8084-5AFAE8DD3F14}"/>
              </a:ext>
            </a:extLst>
          </p:cNvPr>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3663887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BE95AD-44D4-4B3F-A764-E91651ACC9EC}"/>
              </a:ext>
            </a:extLst>
          </p:cNvPr>
          <p:cNvSpPr>
            <a:spLocks noGrp="1"/>
          </p:cNvSpPr>
          <p:nvPr>
            <p:ph type="dt" sz="half" idx="10"/>
          </p:nvPr>
        </p:nvSpPr>
        <p:spPr/>
        <p:txBody>
          <a:bodyPr/>
          <a:lstStyle/>
          <a:p>
            <a:fld id="{8BEEBAAA-29B5-4AF5-BC5F-7E580C29002D}" type="datetimeFigureOut">
              <a:rPr lang="en-US" smtClean="0"/>
              <a:pPr/>
              <a:t>10/19/2023</a:t>
            </a:fld>
            <a:endParaRPr lang="en-US" dirty="0"/>
          </a:p>
        </p:txBody>
      </p:sp>
      <p:sp>
        <p:nvSpPr>
          <p:cNvPr id="3" name="Footer Placeholder 2">
            <a:extLst>
              <a:ext uri="{FF2B5EF4-FFF2-40B4-BE49-F238E27FC236}">
                <a16:creationId xmlns:a16="http://schemas.microsoft.com/office/drawing/2014/main" id="{9B68DB3A-3B6B-4923-AB8B-1E0B375DA92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08CFB8C3-E505-4D7C-96D1-96A39D4C5ECA}"/>
              </a:ext>
            </a:extLst>
          </p:cNvPr>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434377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3D7C2-50B0-4C62-9A60-E8F4905517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9CC1C1-90B7-4F0B-8FDB-9AF22105A8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BA298B-88F7-4173-B80F-9C365B174B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168446-B504-4E7D-8CB3-74FCCCE8FD27}"/>
              </a:ext>
            </a:extLst>
          </p:cNvPr>
          <p:cNvSpPr>
            <a:spLocks noGrp="1"/>
          </p:cNvSpPr>
          <p:nvPr>
            <p:ph type="dt" sz="half" idx="10"/>
          </p:nvPr>
        </p:nvSpPr>
        <p:spPr/>
        <p:txBody>
          <a:bodyPr/>
          <a:lstStyle/>
          <a:p>
            <a:fld id="{8BEEBAAA-29B5-4AF5-BC5F-7E580C29002D}" type="datetimeFigureOut">
              <a:rPr lang="en-US" smtClean="0"/>
              <a:pPr/>
              <a:t>10/19/2023</a:t>
            </a:fld>
            <a:endParaRPr lang="en-US" dirty="0"/>
          </a:p>
        </p:txBody>
      </p:sp>
      <p:sp>
        <p:nvSpPr>
          <p:cNvPr id="6" name="Footer Placeholder 5">
            <a:extLst>
              <a:ext uri="{FF2B5EF4-FFF2-40B4-BE49-F238E27FC236}">
                <a16:creationId xmlns:a16="http://schemas.microsoft.com/office/drawing/2014/main" id="{4F6869BE-121A-4010-8774-4BF8794CFC7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DD1CFAC-C1AF-43A0-AC68-40FE2AB5CC07}"/>
              </a:ext>
            </a:extLst>
          </p:cNvPr>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89462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CC515-536B-46AA-9F1A-96C3CF6FD0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A85B8E6-26D2-46C1-80D8-2F889AA40C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52DB497-48DE-4755-AC45-21CDF9D02E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654C9A-2DE0-4A1C-BF1D-2D8B8353548C}"/>
              </a:ext>
            </a:extLst>
          </p:cNvPr>
          <p:cNvSpPr>
            <a:spLocks noGrp="1"/>
          </p:cNvSpPr>
          <p:nvPr>
            <p:ph type="dt" sz="half" idx="10"/>
          </p:nvPr>
        </p:nvSpPr>
        <p:spPr/>
        <p:txBody>
          <a:bodyPr/>
          <a:lstStyle/>
          <a:p>
            <a:fld id="{8BEEBAAA-29B5-4AF5-BC5F-7E580C29002D}" type="datetimeFigureOut">
              <a:rPr lang="en-US" smtClean="0"/>
              <a:pPr/>
              <a:t>10/19/2023</a:t>
            </a:fld>
            <a:endParaRPr lang="en-US" dirty="0"/>
          </a:p>
        </p:txBody>
      </p:sp>
      <p:sp>
        <p:nvSpPr>
          <p:cNvPr id="6" name="Footer Placeholder 5">
            <a:extLst>
              <a:ext uri="{FF2B5EF4-FFF2-40B4-BE49-F238E27FC236}">
                <a16:creationId xmlns:a16="http://schemas.microsoft.com/office/drawing/2014/main" id="{F096E041-8C17-459B-8915-D482D32960F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DE658E1-BED7-44B2-BFCE-359A10A4734D}"/>
              </a:ext>
            </a:extLst>
          </p:cNvPr>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562694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26F9C-F797-41F1-BE25-D375C8E19F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664B5C-7E0D-4FF4-A116-40D8A03BB0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FA4F1C-7EAC-4075-BC57-09C1798B8443}"/>
              </a:ext>
            </a:extLst>
          </p:cNvPr>
          <p:cNvSpPr>
            <a:spLocks noGrp="1"/>
          </p:cNvSpPr>
          <p:nvPr>
            <p:ph type="dt" sz="half" idx="10"/>
          </p:nvPr>
        </p:nvSpPr>
        <p:spPr/>
        <p:txBody>
          <a:bodyPr/>
          <a:lstStyle/>
          <a:p>
            <a:fld id="{8BEEBAAA-29B5-4AF5-BC5F-7E580C29002D}" type="datetimeFigureOut">
              <a:rPr lang="en-US" smtClean="0"/>
              <a:pPr/>
              <a:t>10/19/2023</a:t>
            </a:fld>
            <a:endParaRPr lang="en-US" dirty="0"/>
          </a:p>
        </p:txBody>
      </p:sp>
      <p:sp>
        <p:nvSpPr>
          <p:cNvPr id="5" name="Footer Placeholder 4">
            <a:extLst>
              <a:ext uri="{FF2B5EF4-FFF2-40B4-BE49-F238E27FC236}">
                <a16:creationId xmlns:a16="http://schemas.microsoft.com/office/drawing/2014/main" id="{D6EC1468-7B59-4761-BE5B-488CC094D2A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BC694C4-F93E-44AA-9EA6-72DC4BDC62EE}"/>
              </a:ext>
            </a:extLst>
          </p:cNvPr>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93722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D7DCEB-AC1F-4BB9-95FE-20935A2983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345FCC-1313-4449-8AAC-DD1C32F542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23CF44-6FF4-42CD-84ED-0985753B9A18}"/>
              </a:ext>
            </a:extLst>
          </p:cNvPr>
          <p:cNvSpPr>
            <a:spLocks noGrp="1"/>
          </p:cNvSpPr>
          <p:nvPr>
            <p:ph type="dt" sz="half" idx="10"/>
          </p:nvPr>
        </p:nvSpPr>
        <p:spPr/>
        <p:txBody>
          <a:bodyPr/>
          <a:lstStyle/>
          <a:p>
            <a:fld id="{8BEEBAAA-29B5-4AF5-BC5F-7E580C29002D}" type="datetimeFigureOut">
              <a:rPr lang="en-US" smtClean="0"/>
              <a:pPr/>
              <a:t>10/19/2023</a:t>
            </a:fld>
            <a:endParaRPr lang="en-US" dirty="0"/>
          </a:p>
        </p:txBody>
      </p:sp>
      <p:sp>
        <p:nvSpPr>
          <p:cNvPr id="5" name="Footer Placeholder 4">
            <a:extLst>
              <a:ext uri="{FF2B5EF4-FFF2-40B4-BE49-F238E27FC236}">
                <a16:creationId xmlns:a16="http://schemas.microsoft.com/office/drawing/2014/main" id="{47B0916C-6FCB-4939-9D82-2C57814FAC6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637E063-B92A-4A96-B4E9-2F4627B3901B}"/>
              </a:ext>
            </a:extLst>
          </p:cNvPr>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41286960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471953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10/19/2023</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15729291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8F7974-E8E1-4676-A649-FC00E1CE52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31F300E-0886-441E-942D-3F1CA035BE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F8A3DA-7A37-4AF6-A20A-1B9BF286C0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EBAAA-29B5-4AF5-BC5F-7E580C29002D}" type="datetimeFigureOut">
              <a:rPr lang="en-US" smtClean="0"/>
              <a:pPr/>
              <a:t>10/19/2023</a:t>
            </a:fld>
            <a:endParaRPr lang="en-US" dirty="0"/>
          </a:p>
        </p:txBody>
      </p:sp>
      <p:sp>
        <p:nvSpPr>
          <p:cNvPr id="5" name="Footer Placeholder 4">
            <a:extLst>
              <a:ext uri="{FF2B5EF4-FFF2-40B4-BE49-F238E27FC236}">
                <a16:creationId xmlns:a16="http://schemas.microsoft.com/office/drawing/2014/main" id="{2E0F5071-8522-41F7-8025-93D513E61E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6BDD050-CDE5-4225-AEF5-03D709C6BD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60EDB8-5305-433F-BE41-D7A86D811DB3}" type="slidenum">
              <a:rPr lang="en-US" smtClean="0"/>
              <a:pPr/>
              <a:t>‹#›</a:t>
            </a:fld>
            <a:endParaRPr lang="en-US" dirty="0"/>
          </a:p>
        </p:txBody>
      </p:sp>
      <p:sp>
        <p:nvSpPr>
          <p:cNvPr id="7" name="Rectangle 6">
            <a:extLst>
              <a:ext uri="{FF2B5EF4-FFF2-40B4-BE49-F238E27FC236}">
                <a16:creationId xmlns:a16="http://schemas.microsoft.com/office/drawing/2014/main" id="{703F677F-C82F-46FE-A767-E9E6638C8FBD}"/>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8" name="Straight Connector 7">
            <a:extLst>
              <a:ext uri="{FF2B5EF4-FFF2-40B4-BE49-F238E27FC236}">
                <a16:creationId xmlns:a16="http://schemas.microsoft.com/office/drawing/2014/main" id="{7D8F6DB0-341C-4690-BE60-3FD3DF9D9F7A}"/>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2864082"/>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youtu.be/FJJTYQYB1JQ?si=YVxIH9qqJjr7Q_zd" TargetMode="Externa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 Id="rId6" Type="http://schemas.openxmlformats.org/officeDocument/2006/relationships/hyperlink" Target="https://youtu.be/c3mPdZA-Fmc?si=eaoRsHfJZfwOlh5b" TargetMode="External"/><Relationship Id="rId5" Type="http://schemas.openxmlformats.org/officeDocument/2006/relationships/hyperlink" Target="https://www.amazon.com/Computer-Architecture-Quantitative-John-Hennessy/dp/012383872X" TargetMode="Externa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4.png"/><Relationship Id="rId1" Type="http://schemas.openxmlformats.org/officeDocument/2006/relationships/slideLayout" Target="../slideLayouts/slideLayout13.xml"/><Relationship Id="rId5" Type="http://schemas.openxmlformats.org/officeDocument/2006/relationships/image" Target="../media/image25.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3.xml"/><Relationship Id="rId4" Type="http://schemas.openxmlformats.org/officeDocument/2006/relationships/hyperlink" Target="https://godbolt.org/" TargetMode="External"/></Relationships>
</file>

<file path=ppt/slides/_rels/slide15.xml.rels><?xml version="1.0" encoding="UTF-8" standalone="yes"?>
<Relationships xmlns="http://schemas.openxmlformats.org/package/2006/relationships"><Relationship Id="rId2" Type="http://schemas.openxmlformats.org/officeDocument/2006/relationships/hyperlink" Target="https://www.amazon.com/C-Programming-Language-4th/dp/0321563840" TargetMode="Externa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hyperlink" Target="https://www.amazon.com/C-Programming-Language-4th/dp/0321563840" TargetMode="Externa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hyperlink" Target="https://www.amazon.com/C-Programming-Language-4th/dp/0321563840" TargetMode="Externa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torvalds/linux" TargetMode="Externa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torvalds/linux" TargetMode="Externa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hyperlink" Target="https://github.com/torvalds/linux" TargetMode="Externa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hyperlink" Target="https://en.cppreference.com/w/cpp/language/explicit_cast" TargetMode="Externa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hyperlink" Target="https://github.com/microsoft/STL" TargetMode="External"/><Relationship Id="rId2" Type="http://schemas.openxmlformats.org/officeDocument/2006/relationships/hyperlink" Target="https://github.com/gcc-mirror/gcc/tree/master/libstdc%2B%2B-v3" TargetMode="External"/><Relationship Id="rId1" Type="http://schemas.openxmlformats.org/officeDocument/2006/relationships/slideLayout" Target="../slideLayouts/slideLayout13.xml"/><Relationship Id="rId5" Type="http://schemas.openxmlformats.org/officeDocument/2006/relationships/image" Target="../media/image41.png"/><Relationship Id="rId4" Type="http://schemas.openxmlformats.org/officeDocument/2006/relationships/hyperlink" Target="https://github.com/llvm/llvm-project/tree/main/libcxx" TargetMode="External"/></Relationships>
</file>

<file path=ppt/slides/_rels/slide5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64324"/>
            <a:ext cx="10515600" cy="2387600"/>
          </a:xfrm>
        </p:spPr>
        <p:txBody>
          <a:bodyPr anchor="ctr" anchorCtr="0">
            <a:normAutofit/>
          </a:bodyPr>
          <a:lstStyle/>
          <a:p>
            <a:r>
              <a:rPr lang="ru-RU" sz="4800" dirty="0">
                <a:solidFill>
                  <a:schemeClr val="bg1"/>
                </a:solidFill>
              </a:rPr>
              <a:t>С++</a:t>
            </a:r>
            <a:endParaRPr lang="en-US" sz="4800" dirty="0">
              <a:solidFill>
                <a:schemeClr val="bg1"/>
              </a:solidFill>
            </a:endParaRP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a:latin typeface="Segoe UI Light" panose="020B0502040204020203" pitchFamily="34" charset="0"/>
                <a:cs typeface="Segoe UI Light" panose="020B0502040204020203" pitchFamily="34" charset="0"/>
              </a:rPr>
              <a:t>C++/C</a:t>
            </a:r>
          </a:p>
        </p:txBody>
      </p:sp>
      <p:sp>
        <p:nvSpPr>
          <p:cNvPr id="5" name="Content Placeholder 17">
            <a:extLst>
              <a:ext uri="{FF2B5EF4-FFF2-40B4-BE49-F238E27FC236}">
                <a16:creationId xmlns:a16="http://schemas.microsoft.com/office/drawing/2014/main" id="{5EDAE420-E33A-4860-A651-B1CC6748BB70}"/>
              </a:ext>
            </a:extLst>
          </p:cNvPr>
          <p:cNvSpPr txBox="1">
            <a:spLocks/>
          </p:cNvSpPr>
          <p:nvPr/>
        </p:nvSpPr>
        <p:spPr>
          <a:xfrm>
            <a:off x="541610" y="1524708"/>
            <a:ext cx="8443990"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ru-RU" dirty="0">
                <a:latin typeface="Segoe UI" panose="020B0502040204020203" pitchFamily="34" charset="0"/>
                <a:cs typeface="Segoe UI" panose="020B0502040204020203" pitchFamily="34" charset="0"/>
              </a:rPr>
              <a:t>Чем отличается </a:t>
            </a:r>
            <a:r>
              <a:rPr lang="en-US" dirty="0">
                <a:latin typeface="Segoe UI" panose="020B0502040204020203" pitchFamily="34" charset="0"/>
                <a:cs typeface="Segoe UI" panose="020B0502040204020203" pitchFamily="34" charset="0"/>
              </a:rPr>
              <a:t>C/C++</a:t>
            </a:r>
            <a:r>
              <a:rPr lang="ru-RU" dirty="0">
                <a:latin typeface="Segoe UI" panose="020B0502040204020203" pitchFamily="34" charset="0"/>
                <a:cs typeface="Segoe UI" panose="020B0502040204020203" pitchFamily="34" charset="0"/>
              </a:rPr>
              <a:t>от других языков программирования</a:t>
            </a:r>
          </a:p>
          <a:p>
            <a:pPr marL="0" lvl="0" indent="0">
              <a:spcAft>
                <a:spcPts val="600"/>
              </a:spcAft>
              <a:buNone/>
              <a:defRPr/>
            </a:pPr>
            <a:r>
              <a:rPr lang="ru-RU" dirty="0">
                <a:latin typeface="Segoe UI" panose="020B0502040204020203" pitchFamily="34" charset="0"/>
                <a:cs typeface="Segoe UI" panose="020B0502040204020203" pitchFamily="34" charset="0"/>
              </a:rPr>
              <a:t>Какое место занимает </a:t>
            </a:r>
            <a:r>
              <a:rPr lang="en-US" dirty="0">
                <a:latin typeface="Segoe UI" panose="020B0502040204020203" pitchFamily="34" charset="0"/>
                <a:cs typeface="Segoe UI" panose="020B0502040204020203" pitchFamily="34" charset="0"/>
              </a:rPr>
              <a:t>C/C++ </a:t>
            </a:r>
            <a:r>
              <a:rPr lang="ru-RU" dirty="0">
                <a:latin typeface="Segoe UI" panose="020B0502040204020203" pitchFamily="34" charset="0"/>
                <a:cs typeface="Segoe UI" panose="020B0502040204020203" pitchFamily="34" charset="0"/>
              </a:rPr>
              <a:t>в </a:t>
            </a:r>
            <a:r>
              <a:rPr lang="en-US" dirty="0">
                <a:latin typeface="Segoe UI" panose="020B0502040204020203" pitchFamily="34" charset="0"/>
                <a:cs typeface="Segoe UI" panose="020B0502040204020203" pitchFamily="34" charset="0"/>
              </a:rPr>
              <a:t>IT </a:t>
            </a:r>
            <a:r>
              <a:rPr lang="ru-RU" dirty="0">
                <a:latin typeface="Segoe UI" panose="020B0502040204020203" pitchFamily="34" charset="0"/>
                <a:cs typeface="Segoe UI" panose="020B0502040204020203" pitchFamily="34" charset="0"/>
              </a:rPr>
              <a:t>отрасли</a:t>
            </a:r>
          </a:p>
          <a:p>
            <a:pPr marL="0" lvl="0" indent="0">
              <a:spcAft>
                <a:spcPts val="600"/>
              </a:spcAft>
              <a:buNone/>
              <a:defRPr/>
            </a:pPr>
            <a:r>
              <a:rPr lang="ru-RU" dirty="0">
                <a:latin typeface="Segoe UI" panose="020B0502040204020203" pitchFamily="34" charset="0"/>
                <a:cs typeface="Segoe UI" panose="020B0502040204020203" pitchFamily="34" charset="0"/>
              </a:rPr>
              <a:t>Оссобености сборки </a:t>
            </a:r>
            <a:r>
              <a:rPr lang="en-US" dirty="0">
                <a:latin typeface="Segoe UI" panose="020B0502040204020203" pitchFamily="34" charset="0"/>
                <a:cs typeface="Segoe UI" panose="020B0502040204020203" pitchFamily="34" charset="0"/>
              </a:rPr>
              <a:t>C/C++ </a:t>
            </a:r>
            <a:r>
              <a:rPr lang="ru-RU" dirty="0">
                <a:latin typeface="Segoe UI" panose="020B0502040204020203" pitchFamily="34" charset="0"/>
                <a:cs typeface="Segoe UI" panose="020B0502040204020203" pitchFamily="34" charset="0"/>
              </a:rPr>
              <a:t>кода</a:t>
            </a:r>
          </a:p>
          <a:p>
            <a:pPr marL="0" lvl="0" indent="0">
              <a:spcAft>
                <a:spcPts val="600"/>
              </a:spcAft>
              <a:buNone/>
              <a:defRPr/>
            </a:pPr>
            <a:endParaRPr lang="ru-RU" dirty="0">
              <a:latin typeface="Segoe UI" panose="020B0502040204020203" pitchFamily="34" charset="0"/>
              <a:cs typeface="Segoe UI" panose="020B0502040204020203" pitchFamily="34" charset="0"/>
            </a:endParaRPr>
          </a:p>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pic>
        <p:nvPicPr>
          <p:cNvPr id="3" name="Picture 2">
            <a:extLst>
              <a:ext uri="{FF2B5EF4-FFF2-40B4-BE49-F238E27FC236}">
                <a16:creationId xmlns:a16="http://schemas.microsoft.com/office/drawing/2014/main" id="{7447D1FB-FD01-46A4-9FE0-3563BD4F9A07}"/>
              </a:ext>
            </a:extLst>
          </p:cNvPr>
          <p:cNvPicPr>
            <a:picLocks noChangeAspect="1"/>
          </p:cNvPicPr>
          <p:nvPr/>
        </p:nvPicPr>
        <p:blipFill>
          <a:blip r:embed="rId2"/>
          <a:stretch>
            <a:fillRect/>
          </a:stretch>
        </p:blipFill>
        <p:spPr>
          <a:xfrm>
            <a:off x="5526151" y="1681422"/>
            <a:ext cx="5719887" cy="4029456"/>
          </a:xfrm>
          <a:prstGeom prst="rect">
            <a:avLst/>
          </a:prstGeom>
        </p:spPr>
      </p:pic>
    </p:spTree>
    <p:extLst>
      <p:ext uri="{BB962C8B-B14F-4D97-AF65-F5344CB8AC3E}">
        <p14:creationId xmlns:p14="http://schemas.microsoft.com/office/powerpoint/2010/main" val="2532488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a:latin typeface="Segoe UI Light" panose="020B0502040204020203" pitchFamily="34" charset="0"/>
                <a:cs typeface="Segoe UI Light" panose="020B0502040204020203" pitchFamily="34" charset="0"/>
              </a:rPr>
              <a:t>C++/C</a:t>
            </a:r>
          </a:p>
        </p:txBody>
      </p:sp>
      <p:pic>
        <p:nvPicPr>
          <p:cNvPr id="4" name="Picture 3">
            <a:extLst>
              <a:ext uri="{FF2B5EF4-FFF2-40B4-BE49-F238E27FC236}">
                <a16:creationId xmlns:a16="http://schemas.microsoft.com/office/drawing/2014/main" id="{6B7739DE-0649-4060-BCDB-5A74E52A31FB}"/>
              </a:ext>
            </a:extLst>
          </p:cNvPr>
          <p:cNvPicPr>
            <a:picLocks noChangeAspect="1"/>
          </p:cNvPicPr>
          <p:nvPr/>
        </p:nvPicPr>
        <p:blipFill>
          <a:blip r:embed="rId2"/>
          <a:stretch>
            <a:fillRect/>
          </a:stretch>
        </p:blipFill>
        <p:spPr>
          <a:xfrm>
            <a:off x="7690934" y="1648968"/>
            <a:ext cx="3965585" cy="3331690"/>
          </a:xfrm>
          <a:prstGeom prst="rect">
            <a:avLst/>
          </a:prstGeom>
        </p:spPr>
      </p:pic>
      <p:pic>
        <p:nvPicPr>
          <p:cNvPr id="7" name="Picture 6">
            <a:extLst>
              <a:ext uri="{FF2B5EF4-FFF2-40B4-BE49-F238E27FC236}">
                <a16:creationId xmlns:a16="http://schemas.microsoft.com/office/drawing/2014/main" id="{48241661-E81E-4AB4-AB11-5A0866DF1AEA}"/>
              </a:ext>
            </a:extLst>
          </p:cNvPr>
          <p:cNvPicPr>
            <a:picLocks noChangeAspect="1"/>
          </p:cNvPicPr>
          <p:nvPr/>
        </p:nvPicPr>
        <p:blipFill>
          <a:blip r:embed="rId3"/>
          <a:stretch>
            <a:fillRect/>
          </a:stretch>
        </p:blipFill>
        <p:spPr>
          <a:xfrm>
            <a:off x="521207" y="1397403"/>
            <a:ext cx="1394450" cy="1800071"/>
          </a:xfrm>
          <a:prstGeom prst="rect">
            <a:avLst/>
          </a:prstGeom>
        </p:spPr>
      </p:pic>
      <p:pic>
        <p:nvPicPr>
          <p:cNvPr id="10" name="Picture 9">
            <a:extLst>
              <a:ext uri="{FF2B5EF4-FFF2-40B4-BE49-F238E27FC236}">
                <a16:creationId xmlns:a16="http://schemas.microsoft.com/office/drawing/2014/main" id="{93043139-8646-4507-AB00-49FBECA2ABDB}"/>
              </a:ext>
            </a:extLst>
          </p:cNvPr>
          <p:cNvPicPr>
            <a:picLocks noChangeAspect="1"/>
          </p:cNvPicPr>
          <p:nvPr/>
        </p:nvPicPr>
        <p:blipFill>
          <a:blip r:embed="rId4"/>
          <a:stretch>
            <a:fillRect/>
          </a:stretch>
        </p:blipFill>
        <p:spPr>
          <a:xfrm>
            <a:off x="7475767" y="5142796"/>
            <a:ext cx="4248849" cy="1184106"/>
          </a:xfrm>
          <a:prstGeom prst="rect">
            <a:avLst/>
          </a:prstGeom>
        </p:spPr>
      </p:pic>
      <p:pic>
        <p:nvPicPr>
          <p:cNvPr id="12" name="Picture 11">
            <a:extLst>
              <a:ext uri="{FF2B5EF4-FFF2-40B4-BE49-F238E27FC236}">
                <a16:creationId xmlns:a16="http://schemas.microsoft.com/office/drawing/2014/main" id="{DD10E393-D1D0-432D-87CE-7F3099A934B5}"/>
              </a:ext>
            </a:extLst>
          </p:cNvPr>
          <p:cNvPicPr>
            <a:picLocks noChangeAspect="1"/>
          </p:cNvPicPr>
          <p:nvPr/>
        </p:nvPicPr>
        <p:blipFill>
          <a:blip r:embed="rId5"/>
          <a:stretch>
            <a:fillRect/>
          </a:stretch>
        </p:blipFill>
        <p:spPr>
          <a:xfrm>
            <a:off x="3684285" y="1561995"/>
            <a:ext cx="3335176" cy="2344564"/>
          </a:xfrm>
          <a:prstGeom prst="rect">
            <a:avLst/>
          </a:prstGeom>
        </p:spPr>
      </p:pic>
      <p:pic>
        <p:nvPicPr>
          <p:cNvPr id="14" name="Picture 13">
            <a:extLst>
              <a:ext uri="{FF2B5EF4-FFF2-40B4-BE49-F238E27FC236}">
                <a16:creationId xmlns:a16="http://schemas.microsoft.com/office/drawing/2014/main" id="{C5C6D816-52D7-4875-83C6-F0810533B164}"/>
              </a:ext>
            </a:extLst>
          </p:cNvPr>
          <p:cNvPicPr>
            <a:picLocks noChangeAspect="1"/>
          </p:cNvPicPr>
          <p:nvPr/>
        </p:nvPicPr>
        <p:blipFill>
          <a:blip r:embed="rId6"/>
          <a:stretch>
            <a:fillRect/>
          </a:stretch>
        </p:blipFill>
        <p:spPr>
          <a:xfrm>
            <a:off x="3361943" y="4123723"/>
            <a:ext cx="3979860" cy="2286221"/>
          </a:xfrm>
          <a:prstGeom prst="rect">
            <a:avLst/>
          </a:prstGeom>
        </p:spPr>
      </p:pic>
      <p:pic>
        <p:nvPicPr>
          <p:cNvPr id="16" name="Picture 15">
            <a:extLst>
              <a:ext uri="{FF2B5EF4-FFF2-40B4-BE49-F238E27FC236}">
                <a16:creationId xmlns:a16="http://schemas.microsoft.com/office/drawing/2014/main" id="{FFC23ABF-4AC6-4A14-B40D-9FEB980161EE}"/>
              </a:ext>
            </a:extLst>
          </p:cNvPr>
          <p:cNvPicPr>
            <a:picLocks noChangeAspect="1"/>
          </p:cNvPicPr>
          <p:nvPr/>
        </p:nvPicPr>
        <p:blipFill>
          <a:blip r:embed="rId7"/>
          <a:stretch>
            <a:fillRect/>
          </a:stretch>
        </p:blipFill>
        <p:spPr>
          <a:xfrm>
            <a:off x="140002" y="4174457"/>
            <a:ext cx="3087977" cy="2184751"/>
          </a:xfrm>
          <a:prstGeom prst="rect">
            <a:avLst/>
          </a:prstGeom>
        </p:spPr>
      </p:pic>
      <p:pic>
        <p:nvPicPr>
          <p:cNvPr id="18" name="Picture 17">
            <a:extLst>
              <a:ext uri="{FF2B5EF4-FFF2-40B4-BE49-F238E27FC236}">
                <a16:creationId xmlns:a16="http://schemas.microsoft.com/office/drawing/2014/main" id="{800D6E1A-4554-482D-9E91-358A2FCD64D9}"/>
              </a:ext>
            </a:extLst>
          </p:cNvPr>
          <p:cNvPicPr>
            <a:picLocks noChangeAspect="1"/>
          </p:cNvPicPr>
          <p:nvPr/>
        </p:nvPicPr>
        <p:blipFill>
          <a:blip r:embed="rId8"/>
          <a:stretch>
            <a:fillRect/>
          </a:stretch>
        </p:blipFill>
        <p:spPr>
          <a:xfrm>
            <a:off x="2020230" y="1753068"/>
            <a:ext cx="1489489" cy="1508049"/>
          </a:xfrm>
          <a:prstGeom prst="rect">
            <a:avLst/>
          </a:prstGeom>
        </p:spPr>
      </p:pic>
    </p:spTree>
    <p:extLst>
      <p:ext uri="{BB962C8B-B14F-4D97-AF65-F5344CB8AC3E}">
        <p14:creationId xmlns:p14="http://schemas.microsoft.com/office/powerpoint/2010/main" val="5841570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a:latin typeface="Segoe UI Light" panose="020B0502040204020203" pitchFamily="34" charset="0"/>
                <a:cs typeface="Segoe UI Light" panose="020B0502040204020203" pitchFamily="34" charset="0"/>
              </a:rPr>
              <a:t>C++/C</a:t>
            </a:r>
          </a:p>
        </p:txBody>
      </p:sp>
      <p:sp>
        <p:nvSpPr>
          <p:cNvPr id="9" name="TextBox 8">
            <a:extLst>
              <a:ext uri="{FF2B5EF4-FFF2-40B4-BE49-F238E27FC236}">
                <a16:creationId xmlns:a16="http://schemas.microsoft.com/office/drawing/2014/main" id="{784C3E37-2201-48BD-ABBA-BA09EB4BA59B}"/>
              </a:ext>
            </a:extLst>
          </p:cNvPr>
          <p:cNvSpPr txBox="1"/>
          <p:nvPr/>
        </p:nvSpPr>
        <p:spPr>
          <a:xfrm>
            <a:off x="478535" y="2487454"/>
            <a:ext cx="6096000" cy="1600438"/>
          </a:xfrm>
          <a:prstGeom prst="rect">
            <a:avLst/>
          </a:prstGeom>
          <a:noFill/>
        </p:spPr>
        <p:txBody>
          <a:bodyPr wrap="square">
            <a:spAutoFit/>
          </a:bodyPr>
          <a:lstStyle/>
          <a:p>
            <a:endParaRPr lang="en-US" sz="1400" dirty="0">
              <a:solidFill>
                <a:srgbClr val="000000"/>
              </a:solidFill>
              <a:latin typeface="Cascadia Mono" panose="020B0609020000020004" pitchFamily="49" charset="0"/>
            </a:endParaRPr>
          </a:p>
          <a:p>
            <a:r>
              <a:rPr lang="en-US" sz="1400" dirty="0">
                <a:solidFill>
                  <a:srgbClr val="808080"/>
                </a:solidFill>
                <a:latin typeface="Cascadia Mono" panose="020B0609020000020004" pitchFamily="49" charset="0"/>
              </a:rPr>
              <a:t>#include</a:t>
            </a:r>
            <a:r>
              <a:rPr lang="en-US" sz="1400" dirty="0">
                <a:solidFill>
                  <a:srgbClr val="000000"/>
                </a:solidFill>
                <a:latin typeface="Cascadia Mono" panose="020B0609020000020004" pitchFamily="49" charset="0"/>
              </a:rPr>
              <a:t> </a:t>
            </a:r>
            <a:r>
              <a:rPr lang="en-US" sz="1400" dirty="0">
                <a:solidFill>
                  <a:srgbClr val="A31515"/>
                </a:solidFill>
                <a:latin typeface="Cascadia Mono" panose="020B0609020000020004" pitchFamily="49" charset="0"/>
              </a:rPr>
              <a:t>&lt;iostream&gt;</a:t>
            </a:r>
            <a:endParaRPr lang="en-US" sz="1400" dirty="0">
              <a:solidFill>
                <a:srgbClr val="000000"/>
              </a:solidFill>
              <a:latin typeface="Cascadia Mono" panose="020B0609020000020004" pitchFamily="49" charset="0"/>
            </a:endParaRPr>
          </a:p>
          <a:p>
            <a:endParaRPr lang="en-US" sz="1400" dirty="0">
              <a:solidFill>
                <a:srgbClr val="000000"/>
              </a:solidFill>
              <a:latin typeface="Cascadia Mono" panose="020B0609020000020004" pitchFamily="49" charset="0"/>
            </a:endParaRPr>
          </a:p>
          <a:p>
            <a:r>
              <a:rPr lang="en-US" sz="1400" dirty="0">
                <a:solidFill>
                  <a:srgbClr val="0000FF"/>
                </a:solidFill>
                <a:latin typeface="Cascadia Mono" panose="020B0609020000020004" pitchFamily="49" charset="0"/>
              </a:rPr>
              <a:t>int</a:t>
            </a:r>
            <a:r>
              <a:rPr lang="en-US" sz="1400" dirty="0">
                <a:solidFill>
                  <a:srgbClr val="000000"/>
                </a:solidFill>
                <a:latin typeface="Cascadia Mono" panose="020B0609020000020004" pitchFamily="49" charset="0"/>
              </a:rPr>
              <a:t> main()</a:t>
            </a:r>
          </a:p>
          <a:p>
            <a:r>
              <a:rPr lang="en-US" sz="1400" dirty="0">
                <a:solidFill>
                  <a:srgbClr val="000000"/>
                </a:solidFill>
                <a:latin typeface="Cascadia Mono" panose="020B0609020000020004" pitchFamily="49" charset="0"/>
              </a:rPr>
              <a:t>{</a:t>
            </a:r>
          </a:p>
          <a:p>
            <a:r>
              <a:rPr lang="en-US" sz="1400" dirty="0">
                <a:solidFill>
                  <a:srgbClr val="000000"/>
                </a:solidFill>
                <a:latin typeface="Cascadia Mono" panose="020B0609020000020004" pitchFamily="49" charset="0"/>
              </a:rPr>
              <a:t>    std::</a:t>
            </a:r>
            <a:r>
              <a:rPr lang="en-US" sz="1400" dirty="0" err="1">
                <a:solidFill>
                  <a:srgbClr val="000000"/>
                </a:solidFill>
                <a:latin typeface="Cascadia Mono" panose="020B0609020000020004" pitchFamily="49" charset="0"/>
              </a:rPr>
              <a:t>cout</a:t>
            </a:r>
            <a:r>
              <a:rPr lang="en-US" sz="1400" dirty="0">
                <a:solidFill>
                  <a:srgbClr val="000000"/>
                </a:solidFill>
                <a:latin typeface="Cascadia Mono" panose="020B0609020000020004" pitchFamily="49" charset="0"/>
              </a:rPr>
              <a:t> </a:t>
            </a:r>
            <a:r>
              <a:rPr lang="en-US" sz="1400" dirty="0">
                <a:solidFill>
                  <a:srgbClr val="008080"/>
                </a:solidFill>
                <a:latin typeface="Cascadia Mono" panose="020B0609020000020004" pitchFamily="49" charset="0"/>
              </a:rPr>
              <a:t>&lt;&lt;</a:t>
            </a:r>
            <a:r>
              <a:rPr lang="en-US" sz="1400" dirty="0">
                <a:solidFill>
                  <a:srgbClr val="000000"/>
                </a:solidFill>
                <a:latin typeface="Cascadia Mono" panose="020B0609020000020004" pitchFamily="49" charset="0"/>
              </a:rPr>
              <a:t> </a:t>
            </a:r>
            <a:r>
              <a:rPr lang="en-US" sz="1400" dirty="0">
                <a:solidFill>
                  <a:srgbClr val="A31515"/>
                </a:solidFill>
                <a:latin typeface="Cascadia Mono" panose="020B0609020000020004" pitchFamily="49" charset="0"/>
              </a:rPr>
              <a:t>"Hello World!\n"</a:t>
            </a:r>
            <a:r>
              <a:rPr lang="en-US" sz="1400" dirty="0">
                <a:solidFill>
                  <a:srgbClr val="000000"/>
                </a:solidFill>
                <a:latin typeface="Cascadia Mono" panose="020B0609020000020004" pitchFamily="49" charset="0"/>
              </a:rPr>
              <a:t>;</a:t>
            </a:r>
          </a:p>
          <a:p>
            <a:r>
              <a:rPr lang="en-US" sz="1400" dirty="0">
                <a:solidFill>
                  <a:srgbClr val="000000"/>
                </a:solidFill>
                <a:latin typeface="Cascadia Mono" panose="020B0609020000020004" pitchFamily="49" charset="0"/>
              </a:rPr>
              <a:t>}</a:t>
            </a:r>
            <a:endParaRPr lang="en-US" sz="1400" dirty="0"/>
          </a:p>
        </p:txBody>
      </p:sp>
      <p:pic>
        <p:nvPicPr>
          <p:cNvPr id="4" name="Picture 3">
            <a:extLst>
              <a:ext uri="{FF2B5EF4-FFF2-40B4-BE49-F238E27FC236}">
                <a16:creationId xmlns:a16="http://schemas.microsoft.com/office/drawing/2014/main" id="{41C124BC-FC23-4F89-8072-56DBFE6A6CE1}"/>
              </a:ext>
            </a:extLst>
          </p:cNvPr>
          <p:cNvPicPr>
            <a:picLocks noChangeAspect="1"/>
          </p:cNvPicPr>
          <p:nvPr/>
        </p:nvPicPr>
        <p:blipFill>
          <a:blip r:embed="rId2"/>
          <a:stretch>
            <a:fillRect/>
          </a:stretch>
        </p:blipFill>
        <p:spPr>
          <a:xfrm>
            <a:off x="4908660" y="3150722"/>
            <a:ext cx="2057687" cy="733527"/>
          </a:xfrm>
          <a:prstGeom prst="rect">
            <a:avLst/>
          </a:prstGeom>
        </p:spPr>
      </p:pic>
      <p:pic>
        <p:nvPicPr>
          <p:cNvPr id="11" name="Picture 10">
            <a:extLst>
              <a:ext uri="{FF2B5EF4-FFF2-40B4-BE49-F238E27FC236}">
                <a16:creationId xmlns:a16="http://schemas.microsoft.com/office/drawing/2014/main" id="{832C3D96-6F83-410B-830E-D9143DE51CB0}"/>
              </a:ext>
            </a:extLst>
          </p:cNvPr>
          <p:cNvPicPr>
            <a:picLocks noChangeAspect="1"/>
          </p:cNvPicPr>
          <p:nvPr/>
        </p:nvPicPr>
        <p:blipFill>
          <a:blip r:embed="rId3"/>
          <a:stretch>
            <a:fillRect/>
          </a:stretch>
        </p:blipFill>
        <p:spPr>
          <a:xfrm>
            <a:off x="7940295" y="3169774"/>
            <a:ext cx="3639058" cy="714475"/>
          </a:xfrm>
          <a:prstGeom prst="rect">
            <a:avLst/>
          </a:prstGeom>
        </p:spPr>
      </p:pic>
      <p:cxnSp>
        <p:nvCxnSpPr>
          <p:cNvPr id="13" name="Straight Arrow Connector 12">
            <a:extLst>
              <a:ext uri="{FF2B5EF4-FFF2-40B4-BE49-F238E27FC236}">
                <a16:creationId xmlns:a16="http://schemas.microsoft.com/office/drawing/2014/main" id="{753F6975-93A8-48D0-A512-C4B322CA6FC6}"/>
              </a:ext>
            </a:extLst>
          </p:cNvPr>
          <p:cNvCxnSpPr/>
          <p:nvPr/>
        </p:nvCxnSpPr>
        <p:spPr>
          <a:xfrm>
            <a:off x="4194048" y="3517485"/>
            <a:ext cx="621792"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DB9E3B8-21C4-4FB7-9F61-D5778CCF97FF}"/>
              </a:ext>
            </a:extLst>
          </p:cNvPr>
          <p:cNvCxnSpPr/>
          <p:nvPr/>
        </p:nvCxnSpPr>
        <p:spPr>
          <a:xfrm>
            <a:off x="7168896" y="3527011"/>
            <a:ext cx="621792"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CFCAEE9-E159-4369-BF3E-A45BBBF66FCB}"/>
              </a:ext>
            </a:extLst>
          </p:cNvPr>
          <p:cNvSpPr txBox="1"/>
          <p:nvPr/>
        </p:nvSpPr>
        <p:spPr>
          <a:xfrm>
            <a:off x="4256318" y="3155849"/>
            <a:ext cx="497252" cy="369332"/>
          </a:xfrm>
          <a:prstGeom prst="rect">
            <a:avLst/>
          </a:prstGeom>
          <a:noFill/>
        </p:spPr>
        <p:txBody>
          <a:bodyPr wrap="none" rtlCol="0">
            <a:spAutoFit/>
          </a:bodyPr>
          <a:lstStyle/>
          <a:p>
            <a:r>
              <a:rPr lang="en-US" dirty="0">
                <a:solidFill>
                  <a:srgbClr val="FF0000"/>
                </a:solidFill>
              </a:rPr>
              <a:t>???</a:t>
            </a:r>
          </a:p>
        </p:txBody>
      </p:sp>
      <p:sp>
        <p:nvSpPr>
          <p:cNvPr id="16" name="TextBox 15">
            <a:extLst>
              <a:ext uri="{FF2B5EF4-FFF2-40B4-BE49-F238E27FC236}">
                <a16:creationId xmlns:a16="http://schemas.microsoft.com/office/drawing/2014/main" id="{E2A9E2C2-9701-4FB9-AE6D-2A4BE4E91BBE}"/>
              </a:ext>
            </a:extLst>
          </p:cNvPr>
          <p:cNvSpPr txBox="1"/>
          <p:nvPr/>
        </p:nvSpPr>
        <p:spPr>
          <a:xfrm>
            <a:off x="7231166" y="3146323"/>
            <a:ext cx="497252" cy="369332"/>
          </a:xfrm>
          <a:prstGeom prst="rect">
            <a:avLst/>
          </a:prstGeom>
          <a:noFill/>
        </p:spPr>
        <p:txBody>
          <a:bodyPr wrap="none" rtlCol="0">
            <a:spAutoFit/>
          </a:bodyPr>
          <a:lstStyle/>
          <a:p>
            <a:r>
              <a:rPr lang="en-US" dirty="0">
                <a:solidFill>
                  <a:srgbClr val="FF0000"/>
                </a:solidFill>
              </a:rPr>
              <a:t>???</a:t>
            </a:r>
          </a:p>
        </p:txBody>
      </p:sp>
    </p:spTree>
    <p:extLst>
      <p:ext uri="{BB962C8B-B14F-4D97-AF65-F5344CB8AC3E}">
        <p14:creationId xmlns:p14="http://schemas.microsoft.com/office/powerpoint/2010/main" val="34206380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ru-RU" dirty="0">
                <a:latin typeface="Segoe UI Light" panose="020B0502040204020203" pitchFamily="34" charset="0"/>
                <a:cs typeface="Segoe UI Light" panose="020B0502040204020203" pitchFamily="34" charset="0"/>
              </a:rPr>
              <a:t>Ассемблер</a:t>
            </a:r>
            <a:endParaRPr lang="en-US" dirty="0">
              <a:latin typeface="Segoe UI Light" panose="020B0502040204020203" pitchFamily="34" charset="0"/>
              <a:cs typeface="Segoe UI Light" panose="020B0502040204020203" pitchFamily="34" charset="0"/>
            </a:endParaRPr>
          </a:p>
        </p:txBody>
      </p:sp>
      <p:pic>
        <p:nvPicPr>
          <p:cNvPr id="3" name="Picture 2">
            <a:extLst>
              <a:ext uri="{FF2B5EF4-FFF2-40B4-BE49-F238E27FC236}">
                <a16:creationId xmlns:a16="http://schemas.microsoft.com/office/drawing/2014/main" id="{EF3957CF-1DFE-4B6C-AF5B-A927B19AE093}"/>
              </a:ext>
            </a:extLst>
          </p:cNvPr>
          <p:cNvPicPr>
            <a:picLocks noChangeAspect="1"/>
          </p:cNvPicPr>
          <p:nvPr/>
        </p:nvPicPr>
        <p:blipFill>
          <a:blip r:embed="rId2"/>
          <a:stretch>
            <a:fillRect/>
          </a:stretch>
        </p:blipFill>
        <p:spPr>
          <a:xfrm>
            <a:off x="521207" y="1475233"/>
            <a:ext cx="3786037" cy="4456176"/>
          </a:xfrm>
          <a:prstGeom prst="rect">
            <a:avLst/>
          </a:prstGeom>
        </p:spPr>
      </p:pic>
      <p:sp>
        <p:nvSpPr>
          <p:cNvPr id="12" name="Content Placeholder 17">
            <a:extLst>
              <a:ext uri="{FF2B5EF4-FFF2-40B4-BE49-F238E27FC236}">
                <a16:creationId xmlns:a16="http://schemas.microsoft.com/office/drawing/2014/main" id="{092736D6-1792-4065-910F-C9BF5480BCD6}"/>
              </a:ext>
            </a:extLst>
          </p:cNvPr>
          <p:cNvSpPr txBox="1">
            <a:spLocks/>
          </p:cNvSpPr>
          <p:nvPr/>
        </p:nvSpPr>
        <p:spPr>
          <a:xfrm>
            <a:off x="4747850" y="1372465"/>
            <a:ext cx="4365670" cy="254029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ru-RU" dirty="0">
                <a:latin typeface="Segoe UI" panose="020B0502040204020203" pitchFamily="34" charset="0"/>
                <a:cs typeface="Segoe UI" panose="020B0502040204020203" pitchFamily="34" charset="0"/>
              </a:rPr>
              <a:t>Язы́к ассе́мблера (англ. assembly language) — представление команд процессора в виде, доступном для чтения человеком.</a:t>
            </a:r>
            <a:r>
              <a:rPr lang="en-US" dirty="0">
                <a:latin typeface="Segoe UI" panose="020B0502040204020203" pitchFamily="34" charset="0"/>
                <a:cs typeface="Segoe UI" panose="020B0502040204020203" pitchFamily="34" charset="0"/>
              </a:rPr>
              <a:t> C. Wikipedia</a:t>
            </a:r>
            <a:endParaRPr lang="ru-RU" dirty="0">
              <a:latin typeface="Segoe UI" panose="020B0502040204020203" pitchFamily="34" charset="0"/>
              <a:cs typeface="Segoe UI" panose="020B0502040204020203" pitchFamily="34" charset="0"/>
            </a:endParaRPr>
          </a:p>
          <a:p>
            <a:pPr marL="0" lvl="0" indent="0">
              <a:spcAft>
                <a:spcPts val="600"/>
              </a:spcAft>
              <a:buNone/>
              <a:defRPr/>
            </a:pPr>
            <a:r>
              <a:rPr lang="ru-RU" dirty="0">
                <a:latin typeface="Segoe UI" panose="020B0502040204020203" pitchFamily="34" charset="0"/>
                <a:cs typeface="Segoe UI" panose="020B0502040204020203" pitchFamily="34" charset="0"/>
              </a:rPr>
              <a:t>В языке ассемблера все вычисления производятся в регистрах.</a:t>
            </a:r>
            <a:br>
              <a:rPr lang="ru-RU" dirty="0">
                <a:latin typeface="Segoe UI" panose="020B0502040204020203" pitchFamily="34" charset="0"/>
                <a:cs typeface="Segoe UI" panose="020B0502040204020203" pitchFamily="34" charset="0"/>
              </a:rPr>
            </a:br>
            <a:r>
              <a:rPr lang="ru-RU" dirty="0">
                <a:latin typeface="Segoe UI" panose="020B0502040204020203" pitchFamily="34" charset="0"/>
                <a:cs typeface="Segoe UI" panose="020B0502040204020203" pitchFamily="34" charset="0"/>
              </a:rPr>
              <a:t>Отдельный команды для записи из регистров в память и наоборот</a:t>
            </a:r>
            <a:r>
              <a:rPr lang="en-US" dirty="0">
                <a:latin typeface="Segoe UI" panose="020B0502040204020203" pitchFamily="34" charset="0"/>
                <a:cs typeface="Segoe UI" panose="020B0502040204020203" pitchFamily="34" charset="0"/>
              </a:rPr>
              <a:t> (Load store)</a:t>
            </a:r>
            <a:br>
              <a:rPr lang="en-US" dirty="0">
                <a:latin typeface="Segoe UI" panose="020B0502040204020203" pitchFamily="34" charset="0"/>
                <a:cs typeface="Segoe UI" panose="020B0502040204020203" pitchFamily="34" charset="0"/>
              </a:rPr>
            </a:br>
            <a:r>
              <a:rPr lang="ru-RU" dirty="0">
                <a:latin typeface="Segoe UI" panose="020B0502040204020203" pitchFamily="34" charset="0"/>
                <a:cs typeface="Segoe UI" panose="020B0502040204020203" pitchFamily="34" charset="0"/>
              </a:rPr>
              <a:t>Управление </a:t>
            </a:r>
            <a:r>
              <a:rPr lang="en-US" dirty="0">
                <a:latin typeface="Segoe UI" panose="020B0502040204020203" pitchFamily="34" charset="0"/>
                <a:cs typeface="Segoe UI" panose="020B0502040204020203" pitchFamily="34" charset="0"/>
              </a:rPr>
              <a:t>control flow </a:t>
            </a:r>
            <a:r>
              <a:rPr lang="ru-RU" dirty="0">
                <a:latin typeface="Segoe UI" panose="020B0502040204020203" pitchFamily="34" charset="0"/>
                <a:cs typeface="Segoe UI" panose="020B0502040204020203" pitchFamily="34" charset="0"/>
              </a:rPr>
              <a:t>черезразличные </a:t>
            </a:r>
            <a:r>
              <a:rPr lang="en-US" dirty="0">
                <a:latin typeface="Segoe UI" panose="020B0502040204020203" pitchFamily="34" charset="0"/>
                <a:cs typeface="Segoe UI" panose="020B0502040204020203" pitchFamily="34" charset="0"/>
              </a:rPr>
              <a:t>conditional jump</a:t>
            </a:r>
            <a:br>
              <a:rPr lang="en-US" dirty="0">
                <a:latin typeface="Segoe UI" panose="020B0502040204020203" pitchFamily="34" charset="0"/>
                <a:cs typeface="Segoe UI" panose="020B0502040204020203" pitchFamily="34" charset="0"/>
              </a:rPr>
            </a:br>
            <a:r>
              <a:rPr lang="ru-RU" dirty="0">
                <a:latin typeface="Segoe UI" panose="020B0502040204020203" pitchFamily="34" charset="0"/>
                <a:cs typeface="Segoe UI" panose="020B0502040204020203" pitchFamily="34" charset="0"/>
              </a:rPr>
              <a:t>Каждая команда ассемблера кодируется в несколько байт</a:t>
            </a:r>
            <a:endParaRPr lang="en-US" dirty="0">
              <a:latin typeface="Segoe UI" panose="020B0502040204020203" pitchFamily="34" charset="0"/>
              <a:cs typeface="Segoe UI" panose="020B0502040204020203" pitchFamily="34" charset="0"/>
            </a:endParaRPr>
          </a:p>
        </p:txBody>
      </p:sp>
      <p:pic>
        <p:nvPicPr>
          <p:cNvPr id="6" name="Picture 5">
            <a:extLst>
              <a:ext uri="{FF2B5EF4-FFF2-40B4-BE49-F238E27FC236}">
                <a16:creationId xmlns:a16="http://schemas.microsoft.com/office/drawing/2014/main" id="{FEDD34F8-C10F-4802-8618-F1273184EF05}"/>
              </a:ext>
            </a:extLst>
          </p:cNvPr>
          <p:cNvPicPr>
            <a:picLocks noChangeAspect="1"/>
          </p:cNvPicPr>
          <p:nvPr/>
        </p:nvPicPr>
        <p:blipFill>
          <a:blip r:embed="rId3"/>
          <a:stretch>
            <a:fillRect/>
          </a:stretch>
        </p:blipFill>
        <p:spPr>
          <a:xfrm>
            <a:off x="6547859" y="5804257"/>
            <a:ext cx="4418846" cy="605687"/>
          </a:xfrm>
          <a:prstGeom prst="rect">
            <a:avLst/>
          </a:prstGeom>
        </p:spPr>
      </p:pic>
      <p:sp>
        <p:nvSpPr>
          <p:cNvPr id="17" name="Content Placeholder 17">
            <a:extLst>
              <a:ext uri="{FF2B5EF4-FFF2-40B4-BE49-F238E27FC236}">
                <a16:creationId xmlns:a16="http://schemas.microsoft.com/office/drawing/2014/main" id="{99EAA4C6-25D6-46C8-B235-ED0ECAEDF3E5}"/>
              </a:ext>
            </a:extLst>
          </p:cNvPr>
          <p:cNvSpPr txBox="1">
            <a:spLocks/>
          </p:cNvSpPr>
          <p:nvPr/>
        </p:nvSpPr>
        <p:spPr>
          <a:xfrm>
            <a:off x="4747850" y="5931409"/>
            <a:ext cx="6078646" cy="1481886"/>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latin typeface="Segoe UI" panose="020B0502040204020203" pitchFamily="34" charset="0"/>
                <a:cs typeface="Segoe UI" panose="020B0502040204020203" pitchFamily="34" charset="0"/>
              </a:rPr>
              <a:t>add r0 r1 r2</a:t>
            </a:r>
            <a:endParaRPr lang="ru-RU" dirty="0">
              <a:latin typeface="Segoe UI" panose="020B0502040204020203" pitchFamily="34" charset="0"/>
              <a:cs typeface="Segoe UI" panose="020B0502040204020203" pitchFamily="34" charset="0"/>
            </a:endParaRPr>
          </a:p>
        </p:txBody>
      </p:sp>
      <p:cxnSp>
        <p:nvCxnSpPr>
          <p:cNvPr id="18" name="Straight Arrow Connector 17">
            <a:extLst>
              <a:ext uri="{FF2B5EF4-FFF2-40B4-BE49-F238E27FC236}">
                <a16:creationId xmlns:a16="http://schemas.microsoft.com/office/drawing/2014/main" id="{9EC964B2-C465-49B6-8285-0BB1FC095DF7}"/>
              </a:ext>
            </a:extLst>
          </p:cNvPr>
          <p:cNvCxnSpPr/>
          <p:nvPr/>
        </p:nvCxnSpPr>
        <p:spPr>
          <a:xfrm>
            <a:off x="5772912" y="6089997"/>
            <a:ext cx="621792"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DA511A12-2875-46B0-89BB-6D1D3CEDFBBE}"/>
              </a:ext>
            </a:extLst>
          </p:cNvPr>
          <p:cNvPicPr>
            <a:picLocks noChangeAspect="1"/>
          </p:cNvPicPr>
          <p:nvPr/>
        </p:nvPicPr>
        <p:blipFill>
          <a:blip r:embed="rId4"/>
          <a:stretch>
            <a:fillRect/>
          </a:stretch>
        </p:blipFill>
        <p:spPr>
          <a:xfrm>
            <a:off x="5937504" y="3912768"/>
            <a:ext cx="2477885" cy="1625201"/>
          </a:xfrm>
          <a:prstGeom prst="rect">
            <a:avLst/>
          </a:prstGeom>
        </p:spPr>
      </p:pic>
      <p:pic>
        <p:nvPicPr>
          <p:cNvPr id="22" name="Picture 21">
            <a:extLst>
              <a:ext uri="{FF2B5EF4-FFF2-40B4-BE49-F238E27FC236}">
                <a16:creationId xmlns:a16="http://schemas.microsoft.com/office/drawing/2014/main" id="{79D0BA7E-75C5-46D2-A102-BEDACB44FB3F}"/>
              </a:ext>
            </a:extLst>
          </p:cNvPr>
          <p:cNvPicPr>
            <a:picLocks noChangeAspect="1"/>
          </p:cNvPicPr>
          <p:nvPr/>
        </p:nvPicPr>
        <p:blipFill>
          <a:blip r:embed="rId5"/>
          <a:stretch>
            <a:fillRect/>
          </a:stretch>
        </p:blipFill>
        <p:spPr>
          <a:xfrm>
            <a:off x="9180654" y="2104806"/>
            <a:ext cx="2490139" cy="3497897"/>
          </a:xfrm>
          <a:prstGeom prst="rect">
            <a:avLst/>
          </a:prstGeom>
        </p:spPr>
      </p:pic>
      <p:cxnSp>
        <p:nvCxnSpPr>
          <p:cNvPr id="23" name="Straight Arrow Connector 22">
            <a:extLst>
              <a:ext uri="{FF2B5EF4-FFF2-40B4-BE49-F238E27FC236}">
                <a16:creationId xmlns:a16="http://schemas.microsoft.com/office/drawing/2014/main" id="{46DF0F76-A0A3-4D3D-933C-7AAB895999CC}"/>
              </a:ext>
            </a:extLst>
          </p:cNvPr>
          <p:cNvCxnSpPr/>
          <p:nvPr/>
        </p:nvCxnSpPr>
        <p:spPr>
          <a:xfrm>
            <a:off x="8491728" y="4731557"/>
            <a:ext cx="621792"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33814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ru-RU" dirty="0">
                <a:latin typeface="Segoe UI Light" panose="020B0502040204020203" pitchFamily="34" charset="0"/>
                <a:cs typeface="Segoe UI Light" panose="020B0502040204020203" pitchFamily="34" charset="0"/>
              </a:rPr>
              <a:t>А где же стек</a:t>
            </a:r>
            <a:r>
              <a:rPr lang="en-US" dirty="0">
                <a:latin typeface="Segoe UI Light" panose="020B0502040204020203" pitchFamily="34" charset="0"/>
                <a:cs typeface="Segoe UI Light" panose="020B0502040204020203" pitchFamily="34" charset="0"/>
              </a:rPr>
              <a:t> </a:t>
            </a:r>
            <a:r>
              <a:rPr lang="ru-RU" dirty="0">
                <a:latin typeface="Segoe UI Light" panose="020B0502040204020203" pitchFamily="34" charset="0"/>
                <a:cs typeface="Segoe UI Light" panose="020B0502040204020203" pitchFamily="34" charset="0"/>
              </a:rPr>
              <a:t>(</a:t>
            </a:r>
            <a:r>
              <a:rPr lang="en-US" dirty="0">
                <a:latin typeface="Segoe UI Light" panose="020B0502040204020203" pitchFamily="34" charset="0"/>
                <a:cs typeface="Segoe UI Light" panose="020B0502040204020203" pitchFamily="34" charset="0"/>
              </a:rPr>
              <a:t>stack</a:t>
            </a:r>
            <a:r>
              <a:rPr lang="ru-RU" dirty="0">
                <a:latin typeface="Segoe UI Light" panose="020B0502040204020203" pitchFamily="34" charset="0"/>
                <a:cs typeface="Segoe UI Light" panose="020B0502040204020203" pitchFamily="34" charset="0"/>
              </a:rPr>
              <a:t>)</a:t>
            </a:r>
            <a:r>
              <a:rPr lang="en-US" dirty="0">
                <a:latin typeface="Segoe UI Light" panose="020B0502040204020203" pitchFamily="34" charset="0"/>
                <a:cs typeface="Segoe UI Light" panose="020B0502040204020203" pitchFamily="34" charset="0"/>
              </a:rPr>
              <a:t> </a:t>
            </a:r>
            <a:r>
              <a:rPr lang="ru-RU" dirty="0">
                <a:latin typeface="Segoe UI Light" panose="020B0502040204020203" pitchFamily="34" charset="0"/>
                <a:cs typeface="Segoe UI Light" panose="020B0502040204020203" pitchFamily="34" charset="0"/>
              </a:rPr>
              <a:t>и куча </a:t>
            </a:r>
            <a:r>
              <a:rPr lang="en-US" dirty="0">
                <a:latin typeface="Segoe UI Light" panose="020B0502040204020203" pitchFamily="34" charset="0"/>
                <a:cs typeface="Segoe UI Light" panose="020B0502040204020203" pitchFamily="34" charset="0"/>
              </a:rPr>
              <a:t>(heap)?</a:t>
            </a:r>
          </a:p>
        </p:txBody>
      </p:sp>
      <p:pic>
        <p:nvPicPr>
          <p:cNvPr id="4" name="Picture 3">
            <a:extLst>
              <a:ext uri="{FF2B5EF4-FFF2-40B4-BE49-F238E27FC236}">
                <a16:creationId xmlns:a16="http://schemas.microsoft.com/office/drawing/2014/main" id="{99263784-3A52-4508-BC77-A18775DD824A}"/>
              </a:ext>
            </a:extLst>
          </p:cNvPr>
          <p:cNvPicPr>
            <a:picLocks noChangeAspect="1"/>
          </p:cNvPicPr>
          <p:nvPr/>
        </p:nvPicPr>
        <p:blipFill>
          <a:blip r:embed="rId2"/>
          <a:stretch>
            <a:fillRect/>
          </a:stretch>
        </p:blipFill>
        <p:spPr>
          <a:xfrm>
            <a:off x="976135" y="2302514"/>
            <a:ext cx="3918710" cy="2659630"/>
          </a:xfrm>
          <a:prstGeom prst="rect">
            <a:avLst/>
          </a:prstGeom>
        </p:spPr>
      </p:pic>
      <p:sp>
        <p:nvSpPr>
          <p:cNvPr id="14" name="Content Placeholder 17">
            <a:extLst>
              <a:ext uri="{FF2B5EF4-FFF2-40B4-BE49-F238E27FC236}">
                <a16:creationId xmlns:a16="http://schemas.microsoft.com/office/drawing/2014/main" id="{A171699B-FA44-4CCB-B6B2-6E099D4A410C}"/>
              </a:ext>
            </a:extLst>
          </p:cNvPr>
          <p:cNvSpPr txBox="1">
            <a:spLocks/>
          </p:cNvSpPr>
          <p:nvPr/>
        </p:nvSpPr>
        <p:spPr>
          <a:xfrm>
            <a:off x="5735402" y="1488291"/>
            <a:ext cx="4365670" cy="81422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latin typeface="Segoe UI" panose="020B0502040204020203" pitchFamily="34" charset="0"/>
                <a:cs typeface="Segoe UI" panose="020B0502040204020203" pitchFamily="34" charset="0"/>
              </a:rPr>
              <a:t>Stack </a:t>
            </a:r>
            <a:r>
              <a:rPr lang="ru-RU" dirty="0">
                <a:latin typeface="Segoe UI" panose="020B0502040204020203" pitchFamily="34" charset="0"/>
                <a:cs typeface="Segoe UI" panose="020B0502040204020203" pitchFamily="34" charset="0"/>
              </a:rPr>
              <a:t>используется очень часто поэтому современные </a:t>
            </a:r>
            <a:r>
              <a:rPr lang="en-US" dirty="0">
                <a:latin typeface="Segoe UI" panose="020B0502040204020203" pitchFamily="34" charset="0"/>
                <a:cs typeface="Segoe UI" panose="020B0502040204020203" pitchFamily="34" charset="0"/>
              </a:rPr>
              <a:t>ISA</a:t>
            </a:r>
            <a:r>
              <a:rPr lang="ru-RU" dirty="0">
                <a:latin typeface="Segoe UI" panose="020B0502040204020203" pitchFamily="34" charset="0"/>
                <a:cs typeface="Segoe UI" panose="020B0502040204020203" pitchFamily="34" charset="0"/>
              </a:rPr>
              <a:t> имеют специальные ассемблерные команды для работы со стеком</a:t>
            </a:r>
            <a:endParaRPr lang="en-US" dirty="0">
              <a:latin typeface="Segoe UI" panose="020B0502040204020203" pitchFamily="34" charset="0"/>
              <a:cs typeface="Segoe UI" panose="020B0502040204020203" pitchFamily="34" charset="0"/>
            </a:endParaRPr>
          </a:p>
        </p:txBody>
      </p:sp>
      <p:sp>
        <p:nvSpPr>
          <p:cNvPr id="15" name="Content Placeholder 17">
            <a:extLst>
              <a:ext uri="{FF2B5EF4-FFF2-40B4-BE49-F238E27FC236}">
                <a16:creationId xmlns:a16="http://schemas.microsoft.com/office/drawing/2014/main" id="{1B8F3CE4-43DE-4C2B-893E-3F10E5AE22C1}"/>
              </a:ext>
            </a:extLst>
          </p:cNvPr>
          <p:cNvSpPr txBox="1">
            <a:spLocks/>
          </p:cNvSpPr>
          <p:nvPr/>
        </p:nvSpPr>
        <p:spPr>
          <a:xfrm>
            <a:off x="5735402" y="2303381"/>
            <a:ext cx="4365670" cy="155538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latin typeface="Segoe UI" panose="020B0502040204020203" pitchFamily="34" charset="0"/>
                <a:cs typeface="Segoe UI" panose="020B0502040204020203" pitchFamily="34" charset="0"/>
              </a:rPr>
              <a:t>Stack </a:t>
            </a:r>
            <a:r>
              <a:rPr lang="ru-RU" dirty="0">
                <a:latin typeface="Segoe UI" panose="020B0502040204020203" pitchFamily="34" charset="0"/>
                <a:cs typeface="Segoe UI" panose="020B0502040204020203" pitchFamily="34" charset="0"/>
              </a:rPr>
              <a:t>это отдельная область памяти</a:t>
            </a:r>
          </a:p>
          <a:p>
            <a:pPr marL="0" lvl="0" indent="0">
              <a:spcAft>
                <a:spcPts val="600"/>
              </a:spcAft>
              <a:buNone/>
              <a:defRPr/>
            </a:pPr>
            <a:r>
              <a:rPr lang="en-US" dirty="0">
                <a:latin typeface="Segoe UI" panose="020B0502040204020203" pitchFamily="34" charset="0"/>
                <a:cs typeface="Segoe UI" panose="020B0502040204020203" pitchFamily="34" charset="0"/>
              </a:rPr>
              <a:t>Calling convection</a:t>
            </a:r>
          </a:p>
          <a:p>
            <a:pPr marL="0" lvl="0" indent="0">
              <a:spcAft>
                <a:spcPts val="600"/>
              </a:spcAft>
              <a:buNone/>
              <a:defRPr/>
            </a:pPr>
            <a:r>
              <a:rPr lang="en-US" dirty="0">
                <a:latin typeface="Segoe UI" panose="020B0502040204020203" pitchFamily="34" charset="0"/>
                <a:cs typeface="Segoe UI" panose="020B0502040204020203" pitchFamily="34" charset="0"/>
              </a:rPr>
              <a:t>Stack corruption</a:t>
            </a:r>
          </a:p>
        </p:txBody>
      </p:sp>
    </p:spTree>
    <p:extLst>
      <p:ext uri="{BB962C8B-B14F-4D97-AF65-F5344CB8AC3E}">
        <p14:creationId xmlns:p14="http://schemas.microsoft.com/office/powerpoint/2010/main" val="25718594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a:latin typeface="Segoe UI Light" panose="020B0502040204020203" pitchFamily="34" charset="0"/>
                <a:cs typeface="Segoe UI Light" panose="020B0502040204020203" pitchFamily="34" charset="0"/>
              </a:rPr>
              <a:t>Cache miss</a:t>
            </a:r>
          </a:p>
        </p:txBody>
      </p:sp>
      <p:sp>
        <p:nvSpPr>
          <p:cNvPr id="13" name="TextBox 12">
            <a:extLst>
              <a:ext uri="{FF2B5EF4-FFF2-40B4-BE49-F238E27FC236}">
                <a16:creationId xmlns:a16="http://schemas.microsoft.com/office/drawing/2014/main" id="{80C887FC-3621-4619-B685-CE20B7DAB9A6}"/>
              </a:ext>
            </a:extLst>
          </p:cNvPr>
          <p:cNvSpPr txBox="1"/>
          <p:nvPr/>
        </p:nvSpPr>
        <p:spPr>
          <a:xfrm>
            <a:off x="521207" y="5920478"/>
            <a:ext cx="10418064" cy="369332"/>
          </a:xfrm>
          <a:prstGeom prst="rect">
            <a:avLst/>
          </a:prstGeom>
          <a:noFill/>
        </p:spPr>
        <p:txBody>
          <a:bodyPr wrap="square">
            <a:spAutoFit/>
          </a:bodyPr>
          <a:lstStyle/>
          <a:p>
            <a:r>
              <a:rPr lang="en-US" dirty="0">
                <a:hlinkClick r:id="rId2"/>
              </a:rPr>
              <a:t>Sorting Algorithms: Speed Is Found In The Minds of People - Andrei </a:t>
            </a:r>
            <a:r>
              <a:rPr lang="en-US" dirty="0" err="1">
                <a:hlinkClick r:id="rId2"/>
              </a:rPr>
              <a:t>Alexandrescu</a:t>
            </a:r>
            <a:r>
              <a:rPr lang="en-US" dirty="0">
                <a:hlinkClick r:id="rId2"/>
              </a:rPr>
              <a:t> - </a:t>
            </a:r>
            <a:r>
              <a:rPr lang="en-US" dirty="0" err="1">
                <a:hlinkClick r:id="rId2"/>
              </a:rPr>
              <a:t>CppCon</a:t>
            </a:r>
            <a:r>
              <a:rPr lang="en-US" dirty="0">
                <a:hlinkClick r:id="rId2"/>
              </a:rPr>
              <a:t> 2019</a:t>
            </a:r>
            <a:r>
              <a:rPr lang="en-US" dirty="0"/>
              <a:t> </a:t>
            </a:r>
          </a:p>
        </p:txBody>
      </p:sp>
      <p:sp>
        <p:nvSpPr>
          <p:cNvPr id="15" name="Content Placeholder 17">
            <a:extLst>
              <a:ext uri="{FF2B5EF4-FFF2-40B4-BE49-F238E27FC236}">
                <a16:creationId xmlns:a16="http://schemas.microsoft.com/office/drawing/2014/main" id="{3EE69995-8A65-48E9-B14F-B6C47FA8180B}"/>
              </a:ext>
            </a:extLst>
          </p:cNvPr>
          <p:cNvSpPr txBox="1">
            <a:spLocks/>
          </p:cNvSpPr>
          <p:nvPr/>
        </p:nvSpPr>
        <p:spPr>
          <a:xfrm>
            <a:off x="657434" y="1396849"/>
            <a:ext cx="5505622" cy="254029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ru-RU" dirty="0">
                <a:latin typeface="Segoe UI" panose="020B0502040204020203" pitchFamily="34" charset="0"/>
                <a:cs typeface="Segoe UI" panose="020B0502040204020203" pitchFamily="34" charset="0"/>
              </a:rPr>
              <a:t>Чтение из памяти</a:t>
            </a:r>
            <a:r>
              <a:rPr lang="en-US" dirty="0">
                <a:latin typeface="Segoe UI" panose="020B0502040204020203" pitchFamily="34" charset="0"/>
                <a:cs typeface="Segoe UI" panose="020B0502040204020203" pitchFamily="34" charset="0"/>
              </a:rPr>
              <a:t> </a:t>
            </a:r>
            <a:r>
              <a:rPr lang="ru-RU" dirty="0">
                <a:latin typeface="Segoe UI" panose="020B0502040204020203" pitchFamily="34" charset="0"/>
                <a:cs typeface="Segoe UI" panose="020B0502040204020203" pitchFamily="34" charset="0"/>
              </a:rPr>
              <a:t>длится порядка сотни тактов процессора</a:t>
            </a:r>
          </a:p>
          <a:p>
            <a:pPr marL="0" lvl="0" indent="0">
              <a:spcAft>
                <a:spcPts val="600"/>
              </a:spcAft>
              <a:buNone/>
              <a:defRPr/>
            </a:pPr>
            <a:r>
              <a:rPr lang="en-US" dirty="0">
                <a:latin typeface="Segoe UI" panose="020B0502040204020203" pitchFamily="34" charset="0"/>
                <a:cs typeface="Segoe UI" panose="020B0502040204020203" pitchFamily="34" charset="0"/>
              </a:rPr>
              <a:t>Cache </a:t>
            </a:r>
            <a:r>
              <a:rPr lang="ru-RU" dirty="0">
                <a:latin typeface="Segoe UI" panose="020B0502040204020203" pitchFamily="34" charset="0"/>
                <a:cs typeface="Segoe UI" panose="020B0502040204020203" pitchFamily="34" charset="0"/>
              </a:rPr>
              <a:t>процессора строится на предположении что доступ к памяти программы будет локальным</a:t>
            </a:r>
            <a:endParaRPr lang="en-US"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55118DA5-F882-4ACB-9B2C-FC6B50272E8F}"/>
              </a:ext>
            </a:extLst>
          </p:cNvPr>
          <p:cNvPicPr>
            <a:picLocks noChangeAspect="1"/>
          </p:cNvPicPr>
          <p:nvPr/>
        </p:nvPicPr>
        <p:blipFill>
          <a:blip r:embed="rId3"/>
          <a:stretch>
            <a:fillRect/>
          </a:stretch>
        </p:blipFill>
        <p:spPr>
          <a:xfrm>
            <a:off x="1011601" y="2697933"/>
            <a:ext cx="3462864" cy="2088225"/>
          </a:xfrm>
          <a:prstGeom prst="rect">
            <a:avLst/>
          </a:prstGeom>
        </p:spPr>
      </p:pic>
      <p:sp>
        <p:nvSpPr>
          <p:cNvPr id="21" name="Content Placeholder 17">
            <a:extLst>
              <a:ext uri="{FF2B5EF4-FFF2-40B4-BE49-F238E27FC236}">
                <a16:creationId xmlns:a16="http://schemas.microsoft.com/office/drawing/2014/main" id="{E264219D-F4AC-4766-8F91-86D185A0C589}"/>
              </a:ext>
            </a:extLst>
          </p:cNvPr>
          <p:cNvSpPr txBox="1">
            <a:spLocks/>
          </p:cNvSpPr>
          <p:nvPr/>
        </p:nvSpPr>
        <p:spPr>
          <a:xfrm>
            <a:off x="5839034" y="1287121"/>
            <a:ext cx="5505622" cy="254029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ru-RU" dirty="0">
                <a:latin typeface="Segoe UI" panose="020B0502040204020203" pitchFamily="34" charset="0"/>
                <a:cs typeface="Segoe UI" panose="020B0502040204020203" pitchFamily="34" charset="0"/>
              </a:rPr>
              <a:t>Как работают кеши в многоядерном процессоре? (</a:t>
            </a:r>
            <a:r>
              <a:rPr lang="en-US" dirty="0">
                <a:latin typeface="Segoe UI" panose="020B0502040204020203" pitchFamily="34" charset="0"/>
                <a:cs typeface="Segoe UI" panose="020B0502040204020203" pitchFamily="34" charset="0"/>
              </a:rPr>
              <a:t>Cache coherence</a:t>
            </a:r>
            <a:r>
              <a:rPr lang="ru-RU" dirty="0">
                <a:latin typeface="Segoe UI" panose="020B0502040204020203" pitchFamily="34" charset="0"/>
                <a:cs typeface="Segoe UI" panose="020B0502040204020203" pitchFamily="34" charset="0"/>
              </a:rPr>
              <a:t>)</a:t>
            </a:r>
          </a:p>
        </p:txBody>
      </p:sp>
      <p:pic>
        <p:nvPicPr>
          <p:cNvPr id="11" name="Picture 10">
            <a:extLst>
              <a:ext uri="{FF2B5EF4-FFF2-40B4-BE49-F238E27FC236}">
                <a16:creationId xmlns:a16="http://schemas.microsoft.com/office/drawing/2014/main" id="{47873868-FBA9-4874-AC8D-CA62759C5E78}"/>
              </a:ext>
            </a:extLst>
          </p:cNvPr>
          <p:cNvPicPr>
            <a:picLocks noChangeAspect="1"/>
          </p:cNvPicPr>
          <p:nvPr/>
        </p:nvPicPr>
        <p:blipFill>
          <a:blip r:embed="rId4"/>
          <a:stretch>
            <a:fillRect/>
          </a:stretch>
        </p:blipFill>
        <p:spPr>
          <a:xfrm>
            <a:off x="5983074" y="1926439"/>
            <a:ext cx="4565107" cy="3346601"/>
          </a:xfrm>
          <a:prstGeom prst="rect">
            <a:avLst/>
          </a:prstGeom>
        </p:spPr>
      </p:pic>
    </p:spTree>
    <p:extLst>
      <p:ext uri="{BB962C8B-B14F-4D97-AF65-F5344CB8AC3E}">
        <p14:creationId xmlns:p14="http://schemas.microsoft.com/office/powerpoint/2010/main" val="1390825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a:latin typeface="Segoe UI Light" panose="020B0502040204020203" pitchFamily="34" charset="0"/>
                <a:cs typeface="Segoe UI Light" panose="020B0502040204020203" pitchFamily="34" charset="0"/>
              </a:rPr>
              <a:t>CPU</a:t>
            </a:r>
          </a:p>
        </p:txBody>
      </p:sp>
      <p:pic>
        <p:nvPicPr>
          <p:cNvPr id="4" name="Picture 3">
            <a:extLst>
              <a:ext uri="{FF2B5EF4-FFF2-40B4-BE49-F238E27FC236}">
                <a16:creationId xmlns:a16="http://schemas.microsoft.com/office/drawing/2014/main" id="{E6AF82EF-862D-4FA8-9CA1-2A487AFDE0BC}"/>
              </a:ext>
            </a:extLst>
          </p:cNvPr>
          <p:cNvPicPr>
            <a:picLocks noChangeAspect="1"/>
          </p:cNvPicPr>
          <p:nvPr/>
        </p:nvPicPr>
        <p:blipFill>
          <a:blip r:embed="rId2"/>
          <a:stretch>
            <a:fillRect/>
          </a:stretch>
        </p:blipFill>
        <p:spPr>
          <a:xfrm>
            <a:off x="5182841" y="1346986"/>
            <a:ext cx="6232868" cy="2504389"/>
          </a:xfrm>
          <a:prstGeom prst="rect">
            <a:avLst/>
          </a:prstGeom>
        </p:spPr>
      </p:pic>
      <p:pic>
        <p:nvPicPr>
          <p:cNvPr id="10" name="Picture 9">
            <a:extLst>
              <a:ext uri="{FF2B5EF4-FFF2-40B4-BE49-F238E27FC236}">
                <a16:creationId xmlns:a16="http://schemas.microsoft.com/office/drawing/2014/main" id="{B5900432-7A90-4FA1-95AE-6E4BB6B8BE7D}"/>
              </a:ext>
            </a:extLst>
          </p:cNvPr>
          <p:cNvPicPr>
            <a:picLocks noChangeAspect="1"/>
          </p:cNvPicPr>
          <p:nvPr/>
        </p:nvPicPr>
        <p:blipFill>
          <a:blip r:embed="rId3"/>
          <a:stretch>
            <a:fillRect/>
          </a:stretch>
        </p:blipFill>
        <p:spPr>
          <a:xfrm>
            <a:off x="569027" y="1329667"/>
            <a:ext cx="4162443" cy="2858611"/>
          </a:xfrm>
          <a:prstGeom prst="rect">
            <a:avLst/>
          </a:prstGeom>
        </p:spPr>
      </p:pic>
      <p:pic>
        <p:nvPicPr>
          <p:cNvPr id="13" name="Picture 12">
            <a:extLst>
              <a:ext uri="{FF2B5EF4-FFF2-40B4-BE49-F238E27FC236}">
                <a16:creationId xmlns:a16="http://schemas.microsoft.com/office/drawing/2014/main" id="{DBA5BD25-C84E-47D1-9449-0356F5560E8A}"/>
              </a:ext>
            </a:extLst>
          </p:cNvPr>
          <p:cNvPicPr>
            <a:picLocks noChangeAspect="1"/>
          </p:cNvPicPr>
          <p:nvPr/>
        </p:nvPicPr>
        <p:blipFill>
          <a:blip r:embed="rId4"/>
          <a:stretch>
            <a:fillRect/>
          </a:stretch>
        </p:blipFill>
        <p:spPr>
          <a:xfrm>
            <a:off x="1508999" y="4429809"/>
            <a:ext cx="1914762" cy="1716024"/>
          </a:xfrm>
          <a:prstGeom prst="rect">
            <a:avLst/>
          </a:prstGeom>
        </p:spPr>
      </p:pic>
      <p:sp>
        <p:nvSpPr>
          <p:cNvPr id="19" name="TextBox 18">
            <a:extLst>
              <a:ext uri="{FF2B5EF4-FFF2-40B4-BE49-F238E27FC236}">
                <a16:creationId xmlns:a16="http://schemas.microsoft.com/office/drawing/2014/main" id="{44F37708-7DB9-44AC-A337-CE7C6071E18D}"/>
              </a:ext>
            </a:extLst>
          </p:cNvPr>
          <p:cNvSpPr txBox="1"/>
          <p:nvPr/>
        </p:nvSpPr>
        <p:spPr>
          <a:xfrm>
            <a:off x="5319709" y="3835605"/>
            <a:ext cx="6096000" cy="369332"/>
          </a:xfrm>
          <a:prstGeom prst="rect">
            <a:avLst/>
          </a:prstGeom>
          <a:noFill/>
        </p:spPr>
        <p:txBody>
          <a:bodyPr wrap="square">
            <a:spAutoFit/>
          </a:bodyPr>
          <a:lstStyle/>
          <a:p>
            <a:r>
              <a:rPr lang="en-US" dirty="0">
                <a:hlinkClick r:id="rId5"/>
              </a:rPr>
              <a:t>Computer Architecture: A Quantitative Approach Book</a:t>
            </a:r>
            <a:r>
              <a:rPr lang="en-US" dirty="0"/>
              <a:t> </a:t>
            </a:r>
          </a:p>
        </p:txBody>
      </p:sp>
      <p:sp>
        <p:nvSpPr>
          <p:cNvPr id="16" name="Rectangle 15">
            <a:extLst>
              <a:ext uri="{FF2B5EF4-FFF2-40B4-BE49-F238E27FC236}">
                <a16:creationId xmlns:a16="http://schemas.microsoft.com/office/drawing/2014/main" id="{790C7675-81BB-4DC9-9995-A2CF147AE7B8}"/>
              </a:ext>
            </a:extLst>
          </p:cNvPr>
          <p:cNvSpPr/>
          <p:nvPr/>
        </p:nvSpPr>
        <p:spPr>
          <a:xfrm>
            <a:off x="5111824" y="4988509"/>
            <a:ext cx="1450848" cy="14214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App.exe</a:t>
            </a:r>
          </a:p>
        </p:txBody>
      </p:sp>
      <p:sp>
        <p:nvSpPr>
          <p:cNvPr id="24" name="Rectangle 23">
            <a:extLst>
              <a:ext uri="{FF2B5EF4-FFF2-40B4-BE49-F238E27FC236}">
                <a16:creationId xmlns:a16="http://schemas.microsoft.com/office/drawing/2014/main" id="{808C7387-0C61-47B5-B2E4-6F0B0BCF7A00}"/>
              </a:ext>
            </a:extLst>
          </p:cNvPr>
          <p:cNvSpPr/>
          <p:nvPr/>
        </p:nvSpPr>
        <p:spPr>
          <a:xfrm>
            <a:off x="7257616" y="4988510"/>
            <a:ext cx="1450848" cy="14214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OS</a:t>
            </a:r>
          </a:p>
        </p:txBody>
      </p:sp>
      <p:sp>
        <p:nvSpPr>
          <p:cNvPr id="25" name="Rectangle 24">
            <a:extLst>
              <a:ext uri="{FF2B5EF4-FFF2-40B4-BE49-F238E27FC236}">
                <a16:creationId xmlns:a16="http://schemas.microsoft.com/office/drawing/2014/main" id="{1F71B5A4-7EAA-4B69-9CC9-72E7643E0B6C}"/>
              </a:ext>
            </a:extLst>
          </p:cNvPr>
          <p:cNvSpPr/>
          <p:nvPr/>
        </p:nvSpPr>
        <p:spPr>
          <a:xfrm>
            <a:off x="9388496" y="4988510"/>
            <a:ext cx="1450848" cy="14214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CPU</a:t>
            </a:r>
          </a:p>
        </p:txBody>
      </p:sp>
      <p:cxnSp>
        <p:nvCxnSpPr>
          <p:cNvPr id="26" name="Straight Arrow Connector 25">
            <a:extLst>
              <a:ext uri="{FF2B5EF4-FFF2-40B4-BE49-F238E27FC236}">
                <a16:creationId xmlns:a16="http://schemas.microsoft.com/office/drawing/2014/main" id="{ECD1BC03-D8DE-499A-B219-1FDD28A6E62D}"/>
              </a:ext>
            </a:extLst>
          </p:cNvPr>
          <p:cNvCxnSpPr/>
          <p:nvPr/>
        </p:nvCxnSpPr>
        <p:spPr>
          <a:xfrm>
            <a:off x="6687312" y="5699227"/>
            <a:ext cx="469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A8FE857-E8E5-49A0-A04A-63B2E18DED53}"/>
              </a:ext>
            </a:extLst>
          </p:cNvPr>
          <p:cNvCxnSpPr/>
          <p:nvPr/>
        </p:nvCxnSpPr>
        <p:spPr>
          <a:xfrm>
            <a:off x="8833104" y="5699226"/>
            <a:ext cx="469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5BBC7956-95CD-47A8-9575-16467EDA762C}"/>
              </a:ext>
            </a:extLst>
          </p:cNvPr>
          <p:cNvSpPr txBox="1"/>
          <p:nvPr/>
        </p:nvSpPr>
        <p:spPr>
          <a:xfrm>
            <a:off x="5319709" y="4114647"/>
            <a:ext cx="6232868" cy="646331"/>
          </a:xfrm>
          <a:prstGeom prst="rect">
            <a:avLst/>
          </a:prstGeom>
          <a:noFill/>
        </p:spPr>
        <p:txBody>
          <a:bodyPr wrap="square">
            <a:spAutoFit/>
          </a:bodyPr>
          <a:lstStyle/>
          <a:p>
            <a:r>
              <a:rPr lang="en-US" dirty="0">
                <a:hlinkClick r:id="rId6"/>
              </a:rPr>
              <a:t>Computer Architecture - Lecture 1: Introduction and Basics (ETH Zürich, Fall 2020)</a:t>
            </a:r>
            <a:r>
              <a:rPr lang="en-US" dirty="0"/>
              <a:t> </a:t>
            </a:r>
          </a:p>
        </p:txBody>
      </p:sp>
    </p:spTree>
    <p:extLst>
      <p:ext uri="{BB962C8B-B14F-4D97-AF65-F5344CB8AC3E}">
        <p14:creationId xmlns:p14="http://schemas.microsoft.com/office/powerpoint/2010/main" val="15029108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a:latin typeface="Segoe UI Light" panose="020B0502040204020203" pitchFamily="34" charset="0"/>
                <a:cs typeface="Segoe UI Light" panose="020B0502040204020203" pitchFamily="34" charset="0"/>
              </a:rPr>
              <a:t>CPP</a:t>
            </a:r>
          </a:p>
        </p:txBody>
      </p:sp>
      <p:sp>
        <p:nvSpPr>
          <p:cNvPr id="20" name="Content Placeholder 17">
            <a:extLst>
              <a:ext uri="{FF2B5EF4-FFF2-40B4-BE49-F238E27FC236}">
                <a16:creationId xmlns:a16="http://schemas.microsoft.com/office/drawing/2014/main" id="{33911DE3-70FD-4E0C-9593-B44616D6E834}"/>
              </a:ext>
            </a:extLst>
          </p:cNvPr>
          <p:cNvSpPr txBox="1">
            <a:spLocks/>
          </p:cNvSpPr>
          <p:nvPr/>
        </p:nvSpPr>
        <p:spPr>
          <a:xfrm>
            <a:off x="645242" y="1409041"/>
            <a:ext cx="4365670" cy="194375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latin typeface="Segoe UI" panose="020B0502040204020203" pitchFamily="34" charset="0"/>
                <a:cs typeface="Segoe UI" panose="020B0502040204020203" pitchFamily="34" charset="0"/>
              </a:rPr>
              <a:t>C++/C </a:t>
            </a:r>
            <a:r>
              <a:rPr lang="ru-RU" dirty="0">
                <a:latin typeface="Segoe UI" panose="020B0502040204020203" pitchFamily="34" charset="0"/>
                <a:cs typeface="Segoe UI" panose="020B0502040204020203" pitchFamily="34" charset="0"/>
              </a:rPr>
              <a:t>может напрямую компилироваться в бинарный код и запускаться напрямую на </a:t>
            </a:r>
            <a:r>
              <a:rPr lang="en-US" dirty="0">
                <a:latin typeface="Segoe UI" panose="020B0502040204020203" pitchFamily="34" charset="0"/>
                <a:cs typeface="Segoe UI" panose="020B0502040204020203" pitchFamily="34" charset="0"/>
              </a:rPr>
              <a:t>embedded </a:t>
            </a:r>
            <a:r>
              <a:rPr lang="ru-RU" dirty="0">
                <a:latin typeface="Segoe UI" panose="020B0502040204020203" pitchFamily="34" charset="0"/>
                <a:cs typeface="Segoe UI" panose="020B0502040204020203" pitchFamily="34" charset="0"/>
              </a:rPr>
              <a:t>девайсах</a:t>
            </a:r>
          </a:p>
          <a:p>
            <a:pPr marL="0" lvl="0" indent="0">
              <a:spcAft>
                <a:spcPts val="600"/>
              </a:spcAft>
              <a:buNone/>
              <a:defRPr/>
            </a:pPr>
            <a:r>
              <a:rPr lang="ru-RU" dirty="0">
                <a:latin typeface="Segoe UI" panose="020B0502040204020203" pitchFamily="34" charset="0"/>
                <a:cs typeface="Segoe UI" panose="020B0502040204020203" pitchFamily="34" charset="0"/>
              </a:rPr>
              <a:t>С++ напрямую компилируется в бинарный исполняемые файлы </a:t>
            </a:r>
            <a:r>
              <a:rPr lang="en-US" dirty="0">
                <a:latin typeface="Segoe UI" panose="020B0502040204020203" pitchFamily="34" charset="0"/>
                <a:cs typeface="Segoe UI" panose="020B0502040204020203" pitchFamily="34" charset="0"/>
              </a:rPr>
              <a:t>OS</a:t>
            </a:r>
          </a:p>
          <a:p>
            <a:pPr marL="0" lvl="0" indent="0">
              <a:spcAft>
                <a:spcPts val="600"/>
              </a:spcAft>
              <a:buNone/>
              <a:defRPr/>
            </a:pPr>
            <a:endParaRPr lang="en-US" dirty="0">
              <a:latin typeface="Segoe UI" panose="020B0502040204020203" pitchFamily="34" charset="0"/>
              <a:cs typeface="Segoe UI" panose="020B0502040204020203" pitchFamily="34" charset="0"/>
            </a:endParaRPr>
          </a:p>
          <a:p>
            <a:pPr marL="0" lvl="0" indent="0">
              <a:spcAft>
                <a:spcPts val="600"/>
              </a:spcAft>
              <a:buNone/>
              <a:defRPr/>
            </a:pPr>
            <a:endParaRPr lang="ru-RU" dirty="0">
              <a:latin typeface="Segoe UI" panose="020B0502040204020203" pitchFamily="34" charset="0"/>
              <a:cs typeface="Segoe UI" panose="020B0502040204020203" pitchFamily="34" charset="0"/>
            </a:endParaRPr>
          </a:p>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pic>
        <p:nvPicPr>
          <p:cNvPr id="3" name="Picture 2">
            <a:extLst>
              <a:ext uri="{FF2B5EF4-FFF2-40B4-BE49-F238E27FC236}">
                <a16:creationId xmlns:a16="http://schemas.microsoft.com/office/drawing/2014/main" id="{26642DFF-B7FD-4DA2-98AC-450C810FEA0D}"/>
              </a:ext>
            </a:extLst>
          </p:cNvPr>
          <p:cNvPicPr>
            <a:picLocks noChangeAspect="1"/>
          </p:cNvPicPr>
          <p:nvPr/>
        </p:nvPicPr>
        <p:blipFill>
          <a:blip r:embed="rId2"/>
          <a:stretch>
            <a:fillRect/>
          </a:stretch>
        </p:blipFill>
        <p:spPr>
          <a:xfrm>
            <a:off x="5294960" y="1293217"/>
            <a:ext cx="1950966" cy="1455945"/>
          </a:xfrm>
          <a:prstGeom prst="rect">
            <a:avLst/>
          </a:prstGeom>
        </p:spPr>
      </p:pic>
      <p:pic>
        <p:nvPicPr>
          <p:cNvPr id="6" name="Picture 5">
            <a:extLst>
              <a:ext uri="{FF2B5EF4-FFF2-40B4-BE49-F238E27FC236}">
                <a16:creationId xmlns:a16="http://schemas.microsoft.com/office/drawing/2014/main" id="{83B58B49-5260-47EE-A883-B2754966852C}"/>
              </a:ext>
            </a:extLst>
          </p:cNvPr>
          <p:cNvPicPr>
            <a:picLocks noChangeAspect="1"/>
          </p:cNvPicPr>
          <p:nvPr/>
        </p:nvPicPr>
        <p:blipFill>
          <a:blip r:embed="rId3"/>
          <a:stretch>
            <a:fillRect/>
          </a:stretch>
        </p:blipFill>
        <p:spPr>
          <a:xfrm>
            <a:off x="694010" y="3569340"/>
            <a:ext cx="3210373" cy="828791"/>
          </a:xfrm>
          <a:prstGeom prst="rect">
            <a:avLst/>
          </a:prstGeom>
        </p:spPr>
      </p:pic>
      <p:sp>
        <p:nvSpPr>
          <p:cNvPr id="23" name="Content Placeholder 17">
            <a:extLst>
              <a:ext uri="{FF2B5EF4-FFF2-40B4-BE49-F238E27FC236}">
                <a16:creationId xmlns:a16="http://schemas.microsoft.com/office/drawing/2014/main" id="{2DD2DCE5-A2AC-4FE4-AE26-C8D11C6D60D2}"/>
              </a:ext>
            </a:extLst>
          </p:cNvPr>
          <p:cNvSpPr txBox="1">
            <a:spLocks/>
          </p:cNvSpPr>
          <p:nvPr/>
        </p:nvSpPr>
        <p:spPr>
          <a:xfrm>
            <a:off x="5294960" y="3136959"/>
            <a:ext cx="4365670" cy="194375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latin typeface="Segoe UI" panose="020B0502040204020203" pitchFamily="34" charset="0"/>
                <a:cs typeface="Segoe UI" panose="020B0502040204020203" pitchFamily="34" charset="0"/>
              </a:rPr>
              <a:t>C++/C </a:t>
            </a:r>
            <a:r>
              <a:rPr lang="ru-RU" dirty="0">
                <a:latin typeface="Segoe UI" panose="020B0502040204020203" pitchFamily="34" charset="0"/>
                <a:cs typeface="Segoe UI" panose="020B0502040204020203" pitchFamily="34" charset="0"/>
              </a:rPr>
              <a:t>может напрямую компилироваться в бинарный код и запускаться напрямую на </a:t>
            </a:r>
            <a:r>
              <a:rPr lang="en-US" dirty="0">
                <a:latin typeface="Segoe UI" panose="020B0502040204020203" pitchFamily="34" charset="0"/>
                <a:cs typeface="Segoe UI" panose="020B0502040204020203" pitchFamily="34" charset="0"/>
              </a:rPr>
              <a:t>embedded </a:t>
            </a:r>
            <a:r>
              <a:rPr lang="ru-RU" dirty="0">
                <a:latin typeface="Segoe UI" panose="020B0502040204020203" pitchFamily="34" charset="0"/>
                <a:cs typeface="Segoe UI" panose="020B0502040204020203" pitchFamily="34" charset="0"/>
              </a:rPr>
              <a:t>девайсах</a:t>
            </a:r>
          </a:p>
          <a:p>
            <a:pPr marL="0" lvl="0" indent="0">
              <a:spcAft>
                <a:spcPts val="600"/>
              </a:spcAft>
              <a:buNone/>
              <a:defRPr/>
            </a:pPr>
            <a:r>
              <a:rPr lang="ru-RU" dirty="0">
                <a:latin typeface="Segoe UI" panose="020B0502040204020203" pitchFamily="34" charset="0"/>
                <a:cs typeface="Segoe UI" panose="020B0502040204020203" pitchFamily="34" charset="0"/>
              </a:rPr>
              <a:t>С++ напрямую компилируется в бинарные исполняемые файлы </a:t>
            </a:r>
            <a:r>
              <a:rPr lang="en-US" dirty="0">
                <a:latin typeface="Segoe UI" panose="020B0502040204020203" pitchFamily="34" charset="0"/>
                <a:cs typeface="Segoe UI" panose="020B0502040204020203" pitchFamily="34" charset="0"/>
              </a:rPr>
              <a:t>OS</a:t>
            </a:r>
          </a:p>
          <a:p>
            <a:pPr marL="0" lvl="0" indent="0">
              <a:spcAft>
                <a:spcPts val="600"/>
              </a:spcAft>
              <a:buNone/>
              <a:defRPr/>
            </a:pPr>
            <a:endParaRPr lang="en-US" dirty="0">
              <a:latin typeface="Segoe UI" panose="020B0502040204020203" pitchFamily="34" charset="0"/>
              <a:cs typeface="Segoe UI" panose="020B0502040204020203" pitchFamily="34" charset="0"/>
            </a:endParaRPr>
          </a:p>
          <a:p>
            <a:pPr marL="0" lvl="0" indent="0">
              <a:spcAft>
                <a:spcPts val="600"/>
              </a:spcAft>
              <a:buNone/>
              <a:defRPr/>
            </a:pPr>
            <a:endParaRPr lang="ru-RU" dirty="0">
              <a:latin typeface="Segoe UI" panose="020B0502040204020203" pitchFamily="34" charset="0"/>
              <a:cs typeface="Segoe UI" panose="020B0502040204020203" pitchFamily="34" charset="0"/>
            </a:endParaRPr>
          </a:p>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pic>
        <p:nvPicPr>
          <p:cNvPr id="12" name="Picture 11">
            <a:extLst>
              <a:ext uri="{FF2B5EF4-FFF2-40B4-BE49-F238E27FC236}">
                <a16:creationId xmlns:a16="http://schemas.microsoft.com/office/drawing/2014/main" id="{5EBE094D-740B-4B71-B1BC-C440E746A41E}"/>
              </a:ext>
            </a:extLst>
          </p:cNvPr>
          <p:cNvPicPr>
            <a:picLocks noChangeAspect="1"/>
          </p:cNvPicPr>
          <p:nvPr/>
        </p:nvPicPr>
        <p:blipFill>
          <a:blip r:embed="rId4"/>
          <a:stretch>
            <a:fillRect/>
          </a:stretch>
        </p:blipFill>
        <p:spPr>
          <a:xfrm>
            <a:off x="694010" y="4771155"/>
            <a:ext cx="10553700" cy="619125"/>
          </a:xfrm>
          <a:prstGeom prst="rect">
            <a:avLst/>
          </a:prstGeom>
        </p:spPr>
      </p:pic>
      <p:cxnSp>
        <p:nvCxnSpPr>
          <p:cNvPr id="28" name="Straight Arrow Connector 27">
            <a:extLst>
              <a:ext uri="{FF2B5EF4-FFF2-40B4-BE49-F238E27FC236}">
                <a16:creationId xmlns:a16="http://schemas.microsoft.com/office/drawing/2014/main" id="{5A3072F0-4414-414F-8FC3-822571A4D39A}"/>
              </a:ext>
            </a:extLst>
          </p:cNvPr>
          <p:cNvCxnSpPr>
            <a:cxnSpLocks/>
          </p:cNvCxnSpPr>
          <p:nvPr/>
        </p:nvCxnSpPr>
        <p:spPr>
          <a:xfrm>
            <a:off x="4090416" y="4289011"/>
            <a:ext cx="1109472" cy="33785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0" name="Content Placeholder 17">
            <a:extLst>
              <a:ext uri="{FF2B5EF4-FFF2-40B4-BE49-F238E27FC236}">
                <a16:creationId xmlns:a16="http://schemas.microsoft.com/office/drawing/2014/main" id="{CF0677A6-347D-4DE6-BD85-03EAD8BD086E}"/>
              </a:ext>
            </a:extLst>
          </p:cNvPr>
          <p:cNvSpPr txBox="1">
            <a:spLocks/>
          </p:cNvSpPr>
          <p:nvPr/>
        </p:nvSpPr>
        <p:spPr>
          <a:xfrm>
            <a:off x="694010" y="5474014"/>
            <a:ext cx="7566070" cy="194375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latin typeface="Segoe UI" panose="020B0502040204020203" pitchFamily="34" charset="0"/>
                <a:cs typeface="Segoe UI" panose="020B0502040204020203" pitchFamily="34" charset="0"/>
              </a:rPr>
              <a:t>Python.exe </a:t>
            </a:r>
            <a:r>
              <a:rPr lang="ru-RU" dirty="0">
                <a:latin typeface="Segoe UI" panose="020B0502040204020203" pitchFamily="34" charset="0"/>
                <a:cs typeface="Segoe UI" panose="020B0502040204020203" pitchFamily="34" charset="0"/>
              </a:rPr>
              <a:t>написан на </a:t>
            </a:r>
            <a:r>
              <a:rPr lang="en-US" dirty="0">
                <a:latin typeface="Segoe UI" panose="020B0502040204020203" pitchFamily="34" charset="0"/>
                <a:cs typeface="Segoe UI" panose="020B0502040204020203" pitchFamily="34" charset="0"/>
              </a:rPr>
              <a:t>pure C</a:t>
            </a:r>
            <a:br>
              <a:rPr lang="en-US" dirty="0">
                <a:latin typeface="Segoe UI" panose="020B0502040204020203" pitchFamily="34" charset="0"/>
                <a:cs typeface="Segoe UI" panose="020B0502040204020203" pitchFamily="34" charset="0"/>
              </a:rPr>
            </a:br>
            <a:r>
              <a:rPr lang="ru-RU" dirty="0">
                <a:latin typeface="Segoe UI" panose="020B0502040204020203" pitchFamily="34" charset="0"/>
                <a:cs typeface="Segoe UI" panose="020B0502040204020203" pitchFamily="34" charset="0"/>
              </a:rPr>
              <a:t>Многие языки абстрагирую программиста от прямой работы с памятью</a:t>
            </a:r>
            <a:br>
              <a:rPr lang="ru-RU"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C/C++ </a:t>
            </a:r>
            <a:r>
              <a:rPr lang="ru-RU" dirty="0">
                <a:latin typeface="Segoe UI" panose="020B0502040204020203" pitchFamily="34" charset="0"/>
                <a:cs typeface="Segoe UI" panose="020B0502040204020203" pitchFamily="34" charset="0"/>
              </a:rPr>
              <a:t>не единственные языки которые поддерживают прямую компиляцию в бинарные файлы</a:t>
            </a:r>
            <a:endParaRPr lang="en-US" dirty="0">
              <a:latin typeface="Segoe UI" panose="020B0502040204020203" pitchFamily="34" charset="0"/>
              <a:cs typeface="Segoe UI" panose="020B0502040204020203" pitchFamily="34" charset="0"/>
            </a:endParaRPr>
          </a:p>
          <a:p>
            <a:pPr marL="0" lvl="0" indent="0">
              <a:spcAft>
                <a:spcPts val="600"/>
              </a:spcAft>
              <a:buNone/>
              <a:defRPr/>
            </a:pPr>
            <a:endParaRPr lang="en-US" dirty="0">
              <a:latin typeface="Segoe UI" panose="020B0502040204020203" pitchFamily="34" charset="0"/>
              <a:cs typeface="Segoe UI" panose="020B0502040204020203" pitchFamily="34" charset="0"/>
            </a:endParaRPr>
          </a:p>
          <a:p>
            <a:pPr marL="0" lvl="0" indent="0">
              <a:spcAft>
                <a:spcPts val="600"/>
              </a:spcAft>
              <a:buNone/>
              <a:defRPr/>
            </a:pPr>
            <a:endParaRPr lang="ru-RU" dirty="0">
              <a:latin typeface="Segoe UI" panose="020B0502040204020203" pitchFamily="34" charset="0"/>
              <a:cs typeface="Segoe UI" panose="020B0502040204020203" pitchFamily="34" charset="0"/>
            </a:endParaRPr>
          </a:p>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257160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ru-RU" dirty="0">
                <a:latin typeface="Segoe UI Light" panose="020B0502040204020203" pitchFamily="34" charset="0"/>
                <a:cs typeface="Segoe UI Light" panose="020B0502040204020203" pitchFamily="34" charset="0"/>
              </a:rPr>
              <a:t>Процесс компиляции</a:t>
            </a:r>
            <a:r>
              <a:rPr lang="en-US" dirty="0">
                <a:latin typeface="Segoe UI Light" panose="020B0502040204020203" pitchFamily="34" charset="0"/>
                <a:cs typeface="Segoe UI Light" panose="020B0502040204020203" pitchFamily="34" charset="0"/>
              </a:rPr>
              <a:t> CPP/C </a:t>
            </a:r>
            <a:r>
              <a:rPr lang="ru-RU" dirty="0">
                <a:latin typeface="Segoe UI Light" panose="020B0502040204020203" pitchFamily="34" charset="0"/>
                <a:cs typeface="Segoe UI Light" panose="020B0502040204020203" pitchFamily="34" charset="0"/>
              </a:rPr>
              <a:t>кода</a:t>
            </a:r>
            <a:endParaRPr lang="en-US" dirty="0">
              <a:latin typeface="Segoe UI Light" panose="020B0502040204020203" pitchFamily="34" charset="0"/>
              <a:cs typeface="Segoe UI Light" panose="020B0502040204020203" pitchFamily="34" charset="0"/>
            </a:endParaRPr>
          </a:p>
        </p:txBody>
      </p:sp>
      <p:sp>
        <p:nvSpPr>
          <p:cNvPr id="10" name="Rectangle 9">
            <a:extLst>
              <a:ext uri="{FF2B5EF4-FFF2-40B4-BE49-F238E27FC236}">
                <a16:creationId xmlns:a16="http://schemas.microsoft.com/office/drawing/2014/main" id="{9270B7F5-C19B-4311-9ED1-D857E4D87FB5}"/>
              </a:ext>
            </a:extLst>
          </p:cNvPr>
          <p:cNvSpPr/>
          <p:nvPr/>
        </p:nvSpPr>
        <p:spPr>
          <a:xfrm>
            <a:off x="1374976" y="1696669"/>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add10.cpp</a:t>
            </a:r>
          </a:p>
        </p:txBody>
      </p:sp>
      <p:sp>
        <p:nvSpPr>
          <p:cNvPr id="11" name="Rectangle 10">
            <a:extLst>
              <a:ext uri="{FF2B5EF4-FFF2-40B4-BE49-F238E27FC236}">
                <a16:creationId xmlns:a16="http://schemas.microsoft.com/office/drawing/2014/main" id="{7869AE5D-D803-4D55-A534-22F2350A8DC6}"/>
              </a:ext>
            </a:extLst>
          </p:cNvPr>
          <p:cNvSpPr/>
          <p:nvPr/>
        </p:nvSpPr>
        <p:spPr>
          <a:xfrm>
            <a:off x="1374976" y="2305202"/>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add5.cpp</a:t>
            </a:r>
          </a:p>
        </p:txBody>
      </p:sp>
      <p:sp>
        <p:nvSpPr>
          <p:cNvPr id="13" name="Rectangle 12">
            <a:extLst>
              <a:ext uri="{FF2B5EF4-FFF2-40B4-BE49-F238E27FC236}">
                <a16:creationId xmlns:a16="http://schemas.microsoft.com/office/drawing/2014/main" id="{C01E2C0E-8549-4112-8B3D-EDFC6154B269}"/>
              </a:ext>
            </a:extLst>
          </p:cNvPr>
          <p:cNvSpPr/>
          <p:nvPr/>
        </p:nvSpPr>
        <p:spPr>
          <a:xfrm>
            <a:off x="1374976" y="2886760"/>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main.cpp</a:t>
            </a:r>
          </a:p>
        </p:txBody>
      </p:sp>
      <p:cxnSp>
        <p:nvCxnSpPr>
          <p:cNvPr id="14" name="Straight Arrow Connector 13">
            <a:extLst>
              <a:ext uri="{FF2B5EF4-FFF2-40B4-BE49-F238E27FC236}">
                <a16:creationId xmlns:a16="http://schemas.microsoft.com/office/drawing/2014/main" id="{6A8FD559-853E-488D-9126-EAC61A84ABF2}"/>
              </a:ext>
            </a:extLst>
          </p:cNvPr>
          <p:cNvCxnSpPr/>
          <p:nvPr/>
        </p:nvCxnSpPr>
        <p:spPr>
          <a:xfrm>
            <a:off x="3023616" y="1913611"/>
            <a:ext cx="469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126C0C9C-2C63-4795-809B-C3AA5FAACABB}"/>
              </a:ext>
            </a:extLst>
          </p:cNvPr>
          <p:cNvSpPr/>
          <p:nvPr/>
        </p:nvSpPr>
        <p:spPr>
          <a:xfrm>
            <a:off x="3630496" y="1696669"/>
            <a:ext cx="1599872"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compile</a:t>
            </a:r>
          </a:p>
        </p:txBody>
      </p:sp>
      <p:cxnSp>
        <p:nvCxnSpPr>
          <p:cNvPr id="18" name="Straight Arrow Connector 17">
            <a:extLst>
              <a:ext uri="{FF2B5EF4-FFF2-40B4-BE49-F238E27FC236}">
                <a16:creationId xmlns:a16="http://schemas.microsoft.com/office/drawing/2014/main" id="{174B62A3-6B39-4806-B22A-B37C54BB2362}"/>
              </a:ext>
            </a:extLst>
          </p:cNvPr>
          <p:cNvCxnSpPr/>
          <p:nvPr/>
        </p:nvCxnSpPr>
        <p:spPr>
          <a:xfrm>
            <a:off x="3023616" y="2515515"/>
            <a:ext cx="469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02024339-D5EA-4593-A919-7817FBB36B7E}"/>
              </a:ext>
            </a:extLst>
          </p:cNvPr>
          <p:cNvSpPr/>
          <p:nvPr/>
        </p:nvSpPr>
        <p:spPr>
          <a:xfrm>
            <a:off x="3630496" y="2298573"/>
            <a:ext cx="1599872"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compile</a:t>
            </a:r>
          </a:p>
        </p:txBody>
      </p:sp>
      <p:cxnSp>
        <p:nvCxnSpPr>
          <p:cNvPr id="24" name="Straight Arrow Connector 23">
            <a:extLst>
              <a:ext uri="{FF2B5EF4-FFF2-40B4-BE49-F238E27FC236}">
                <a16:creationId xmlns:a16="http://schemas.microsoft.com/office/drawing/2014/main" id="{8F454EFA-5820-41A2-84E0-51FB5359029F}"/>
              </a:ext>
            </a:extLst>
          </p:cNvPr>
          <p:cNvCxnSpPr/>
          <p:nvPr/>
        </p:nvCxnSpPr>
        <p:spPr>
          <a:xfrm>
            <a:off x="3023616" y="3090444"/>
            <a:ext cx="469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8DF108B8-8239-4927-B043-315776952BA9}"/>
              </a:ext>
            </a:extLst>
          </p:cNvPr>
          <p:cNvSpPr/>
          <p:nvPr/>
        </p:nvSpPr>
        <p:spPr>
          <a:xfrm>
            <a:off x="3630496" y="2873502"/>
            <a:ext cx="1599872"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compile</a:t>
            </a:r>
          </a:p>
        </p:txBody>
      </p:sp>
      <p:sp>
        <p:nvSpPr>
          <p:cNvPr id="26" name="Rectangle 25">
            <a:extLst>
              <a:ext uri="{FF2B5EF4-FFF2-40B4-BE49-F238E27FC236}">
                <a16:creationId xmlns:a16="http://schemas.microsoft.com/office/drawing/2014/main" id="{CEDEB414-910B-490D-8C6F-3C578079FA1D}"/>
              </a:ext>
            </a:extLst>
          </p:cNvPr>
          <p:cNvSpPr/>
          <p:nvPr/>
        </p:nvSpPr>
        <p:spPr>
          <a:xfrm>
            <a:off x="5877200" y="1682953"/>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add10.o</a:t>
            </a:r>
          </a:p>
        </p:txBody>
      </p:sp>
      <p:cxnSp>
        <p:nvCxnSpPr>
          <p:cNvPr id="27" name="Straight Arrow Connector 26">
            <a:extLst>
              <a:ext uri="{FF2B5EF4-FFF2-40B4-BE49-F238E27FC236}">
                <a16:creationId xmlns:a16="http://schemas.microsoft.com/office/drawing/2014/main" id="{3A6D61BD-4F10-4E57-9515-B53074BCEED5}"/>
              </a:ext>
            </a:extLst>
          </p:cNvPr>
          <p:cNvCxnSpPr/>
          <p:nvPr/>
        </p:nvCxnSpPr>
        <p:spPr>
          <a:xfrm>
            <a:off x="5319088" y="1927326"/>
            <a:ext cx="469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02DDD834-209E-4E9E-A711-F1834D05F6C7}"/>
              </a:ext>
            </a:extLst>
          </p:cNvPr>
          <p:cNvSpPr/>
          <p:nvPr/>
        </p:nvSpPr>
        <p:spPr>
          <a:xfrm>
            <a:off x="5877200" y="2284857"/>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add5.o</a:t>
            </a:r>
          </a:p>
        </p:txBody>
      </p:sp>
      <p:cxnSp>
        <p:nvCxnSpPr>
          <p:cNvPr id="31" name="Straight Arrow Connector 30">
            <a:extLst>
              <a:ext uri="{FF2B5EF4-FFF2-40B4-BE49-F238E27FC236}">
                <a16:creationId xmlns:a16="http://schemas.microsoft.com/office/drawing/2014/main" id="{B6E18288-4184-4409-B301-7DB25E40D98A}"/>
              </a:ext>
            </a:extLst>
          </p:cNvPr>
          <p:cNvCxnSpPr/>
          <p:nvPr/>
        </p:nvCxnSpPr>
        <p:spPr>
          <a:xfrm>
            <a:off x="5319088" y="2529230"/>
            <a:ext cx="469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A278D6B3-0CEE-4A23-80FE-DB237DEACBE4}"/>
              </a:ext>
            </a:extLst>
          </p:cNvPr>
          <p:cNvSpPr/>
          <p:nvPr/>
        </p:nvSpPr>
        <p:spPr>
          <a:xfrm>
            <a:off x="5877200" y="2873502"/>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main.o</a:t>
            </a:r>
            <a:endParaRPr lang="en-US" dirty="0"/>
          </a:p>
        </p:txBody>
      </p:sp>
      <p:cxnSp>
        <p:nvCxnSpPr>
          <p:cNvPr id="33" name="Straight Arrow Connector 32">
            <a:extLst>
              <a:ext uri="{FF2B5EF4-FFF2-40B4-BE49-F238E27FC236}">
                <a16:creationId xmlns:a16="http://schemas.microsoft.com/office/drawing/2014/main" id="{BB835C04-1907-4671-8618-D58DD6477DA2}"/>
              </a:ext>
            </a:extLst>
          </p:cNvPr>
          <p:cNvCxnSpPr/>
          <p:nvPr/>
        </p:nvCxnSpPr>
        <p:spPr>
          <a:xfrm>
            <a:off x="5319088" y="3117875"/>
            <a:ext cx="469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6F581F79-45C3-4944-B519-CCE21B74A8D8}"/>
              </a:ext>
            </a:extLst>
          </p:cNvPr>
          <p:cNvSpPr/>
          <p:nvPr/>
        </p:nvSpPr>
        <p:spPr>
          <a:xfrm>
            <a:off x="7974880" y="2284857"/>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linker</a:t>
            </a:r>
          </a:p>
        </p:txBody>
      </p:sp>
      <p:cxnSp>
        <p:nvCxnSpPr>
          <p:cNvPr id="36" name="Straight Arrow Connector 35">
            <a:extLst>
              <a:ext uri="{FF2B5EF4-FFF2-40B4-BE49-F238E27FC236}">
                <a16:creationId xmlns:a16="http://schemas.microsoft.com/office/drawing/2014/main" id="{6D87DD65-471A-4454-AA67-3272DBAD0957}"/>
              </a:ext>
            </a:extLst>
          </p:cNvPr>
          <p:cNvCxnSpPr>
            <a:cxnSpLocks/>
          </p:cNvCxnSpPr>
          <p:nvPr/>
        </p:nvCxnSpPr>
        <p:spPr>
          <a:xfrm>
            <a:off x="7398326" y="1913610"/>
            <a:ext cx="469392" cy="2443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F740F11-7E5B-43F7-A28A-7F0521EE8DD3}"/>
              </a:ext>
            </a:extLst>
          </p:cNvPr>
          <p:cNvCxnSpPr/>
          <p:nvPr/>
        </p:nvCxnSpPr>
        <p:spPr>
          <a:xfrm>
            <a:off x="7398326" y="2508807"/>
            <a:ext cx="469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3E693FC-2943-40BF-9BB5-CC14A49454F1}"/>
              </a:ext>
            </a:extLst>
          </p:cNvPr>
          <p:cNvCxnSpPr>
            <a:cxnSpLocks/>
          </p:cNvCxnSpPr>
          <p:nvPr/>
        </p:nvCxnSpPr>
        <p:spPr>
          <a:xfrm flipV="1">
            <a:off x="7398326" y="2873502"/>
            <a:ext cx="469392" cy="2650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D4D23AC-CFD3-439B-A556-036F94647F6F}"/>
              </a:ext>
            </a:extLst>
          </p:cNvPr>
          <p:cNvCxnSpPr/>
          <p:nvPr/>
        </p:nvCxnSpPr>
        <p:spPr>
          <a:xfrm>
            <a:off x="9556310" y="2515514"/>
            <a:ext cx="469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D0099C56-0131-44F8-86F2-314BF621CA72}"/>
              </a:ext>
            </a:extLst>
          </p:cNvPr>
          <p:cNvSpPr/>
          <p:nvPr/>
        </p:nvSpPr>
        <p:spPr>
          <a:xfrm>
            <a:off x="10156284" y="2305202"/>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main.exe</a:t>
            </a:r>
          </a:p>
        </p:txBody>
      </p:sp>
      <p:sp>
        <p:nvSpPr>
          <p:cNvPr id="42" name="Rectangle 41">
            <a:extLst>
              <a:ext uri="{FF2B5EF4-FFF2-40B4-BE49-F238E27FC236}">
                <a16:creationId xmlns:a16="http://schemas.microsoft.com/office/drawing/2014/main" id="{EE489AB3-EA10-4148-BF67-27F82C7E6917}"/>
              </a:ext>
            </a:extLst>
          </p:cNvPr>
          <p:cNvSpPr/>
          <p:nvPr/>
        </p:nvSpPr>
        <p:spPr>
          <a:xfrm>
            <a:off x="1091512" y="1408108"/>
            <a:ext cx="4462272" cy="22555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Content Placeholder 17">
            <a:extLst>
              <a:ext uri="{FF2B5EF4-FFF2-40B4-BE49-F238E27FC236}">
                <a16:creationId xmlns:a16="http://schemas.microsoft.com/office/drawing/2014/main" id="{C7436D3F-076A-469E-A703-6101CD1EFC0B}"/>
              </a:ext>
            </a:extLst>
          </p:cNvPr>
          <p:cNvSpPr txBox="1">
            <a:spLocks/>
          </p:cNvSpPr>
          <p:nvPr/>
        </p:nvSpPr>
        <p:spPr>
          <a:xfrm>
            <a:off x="1447661" y="3715742"/>
            <a:ext cx="3514483" cy="51676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ru-RU" dirty="0">
                <a:latin typeface="Segoe UI" panose="020B0502040204020203" pitchFamily="34" charset="0"/>
                <a:cs typeface="Segoe UI" panose="020B0502040204020203" pitchFamily="34" charset="0"/>
              </a:rPr>
              <a:t>Компиляция может выполянться параллельно</a:t>
            </a:r>
            <a:endParaRPr lang="en-US" dirty="0">
              <a:latin typeface="Segoe UI" panose="020B0502040204020203" pitchFamily="34" charset="0"/>
              <a:cs typeface="Segoe UI" panose="020B0502040204020203" pitchFamily="34" charset="0"/>
            </a:endParaRPr>
          </a:p>
          <a:p>
            <a:pPr marL="0" lvl="0" indent="0">
              <a:spcAft>
                <a:spcPts val="600"/>
              </a:spcAft>
              <a:buNone/>
              <a:defRPr/>
            </a:pPr>
            <a:endParaRPr lang="en-US" dirty="0">
              <a:latin typeface="Segoe UI" panose="020B0502040204020203" pitchFamily="34" charset="0"/>
              <a:cs typeface="Segoe UI" panose="020B0502040204020203" pitchFamily="34" charset="0"/>
            </a:endParaRPr>
          </a:p>
          <a:p>
            <a:pPr marL="0" lvl="0" indent="0">
              <a:spcAft>
                <a:spcPts val="600"/>
              </a:spcAft>
              <a:buNone/>
              <a:defRPr/>
            </a:pPr>
            <a:endParaRPr lang="ru-RU" dirty="0">
              <a:latin typeface="Segoe UI" panose="020B0502040204020203" pitchFamily="34" charset="0"/>
              <a:cs typeface="Segoe UI" panose="020B0502040204020203" pitchFamily="34" charset="0"/>
            </a:endParaRPr>
          </a:p>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sp>
        <p:nvSpPr>
          <p:cNvPr id="46" name="TextBox 45">
            <a:extLst>
              <a:ext uri="{FF2B5EF4-FFF2-40B4-BE49-F238E27FC236}">
                <a16:creationId xmlns:a16="http://schemas.microsoft.com/office/drawing/2014/main" id="{314B038A-4D72-46DD-81CF-A0C05FF3AF13}"/>
              </a:ext>
            </a:extLst>
          </p:cNvPr>
          <p:cNvSpPr txBox="1"/>
          <p:nvPr/>
        </p:nvSpPr>
        <p:spPr>
          <a:xfrm>
            <a:off x="902864" y="4782885"/>
            <a:ext cx="2648384" cy="830997"/>
          </a:xfrm>
          <a:prstGeom prst="rect">
            <a:avLst/>
          </a:prstGeom>
          <a:noFill/>
        </p:spPr>
        <p:txBody>
          <a:bodyPr wrap="square">
            <a:spAutoFit/>
          </a:bodyPr>
          <a:lstStyle/>
          <a:p>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add10(</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x</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x</a:t>
            </a:r>
            <a:r>
              <a:rPr lang="en-US" sz="1200" dirty="0">
                <a:solidFill>
                  <a:srgbClr val="000000"/>
                </a:solidFill>
                <a:latin typeface="Cascadia Mono" panose="020B0609020000020004" pitchFamily="49" charset="0"/>
              </a:rPr>
              <a:t> + 10.0f;</a:t>
            </a:r>
          </a:p>
          <a:p>
            <a:r>
              <a:rPr lang="en-US" sz="1200" dirty="0">
                <a:solidFill>
                  <a:srgbClr val="000000"/>
                </a:solidFill>
                <a:latin typeface="Cascadia Mono" panose="020B0609020000020004" pitchFamily="49" charset="0"/>
              </a:rPr>
              <a:t>}</a:t>
            </a:r>
            <a:endParaRPr lang="en-US" sz="1200" dirty="0"/>
          </a:p>
        </p:txBody>
      </p:sp>
      <p:sp>
        <p:nvSpPr>
          <p:cNvPr id="48" name="TextBox 47">
            <a:extLst>
              <a:ext uri="{FF2B5EF4-FFF2-40B4-BE49-F238E27FC236}">
                <a16:creationId xmlns:a16="http://schemas.microsoft.com/office/drawing/2014/main" id="{3CE0BA1F-9F00-42AA-9F5F-F04EE94ABAAC}"/>
              </a:ext>
            </a:extLst>
          </p:cNvPr>
          <p:cNvSpPr txBox="1"/>
          <p:nvPr/>
        </p:nvSpPr>
        <p:spPr>
          <a:xfrm>
            <a:off x="3630496" y="4732335"/>
            <a:ext cx="2354396" cy="830997"/>
          </a:xfrm>
          <a:prstGeom prst="rect">
            <a:avLst/>
          </a:prstGeom>
          <a:noFill/>
        </p:spPr>
        <p:txBody>
          <a:bodyPr wrap="square">
            <a:spAutoFit/>
          </a:bodyPr>
          <a:lstStyle/>
          <a:p>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add5(</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x</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x</a:t>
            </a:r>
            <a:r>
              <a:rPr lang="en-US" sz="1200" dirty="0">
                <a:solidFill>
                  <a:srgbClr val="000000"/>
                </a:solidFill>
                <a:latin typeface="Cascadia Mono" panose="020B0609020000020004" pitchFamily="49" charset="0"/>
              </a:rPr>
              <a:t> + 5.0f;</a:t>
            </a:r>
          </a:p>
          <a:p>
            <a:r>
              <a:rPr lang="en-US" sz="1200" dirty="0">
                <a:solidFill>
                  <a:srgbClr val="000000"/>
                </a:solidFill>
                <a:latin typeface="Cascadia Mono" panose="020B0609020000020004" pitchFamily="49" charset="0"/>
              </a:rPr>
              <a:t>}</a:t>
            </a:r>
          </a:p>
        </p:txBody>
      </p:sp>
      <p:sp>
        <p:nvSpPr>
          <p:cNvPr id="50" name="TextBox 49">
            <a:extLst>
              <a:ext uri="{FF2B5EF4-FFF2-40B4-BE49-F238E27FC236}">
                <a16:creationId xmlns:a16="http://schemas.microsoft.com/office/drawing/2014/main" id="{9042AE9E-57FB-4FC3-B93C-7673178F7D85}"/>
              </a:ext>
            </a:extLst>
          </p:cNvPr>
          <p:cNvSpPr txBox="1"/>
          <p:nvPr/>
        </p:nvSpPr>
        <p:spPr>
          <a:xfrm>
            <a:off x="6443464" y="4706507"/>
            <a:ext cx="3346704" cy="1384995"/>
          </a:xfrm>
          <a:prstGeom prst="rect">
            <a:avLst/>
          </a:prstGeom>
          <a:noFill/>
        </p:spPr>
        <p:txBody>
          <a:bodyPr wrap="square">
            <a:spAutoFit/>
          </a:bodyPr>
          <a:lstStyle/>
          <a:p>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main()</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t = 0;</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cin</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&gt;&gt;</a:t>
            </a:r>
            <a:r>
              <a:rPr lang="en-US" sz="1200" dirty="0">
                <a:solidFill>
                  <a:srgbClr val="000000"/>
                </a:solidFill>
                <a:latin typeface="Cascadia Mono" panose="020B0609020000020004" pitchFamily="49" charset="0"/>
              </a:rPr>
              <a:t> t;</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add10(add5(t));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0;</a:t>
            </a:r>
          </a:p>
          <a:p>
            <a:r>
              <a:rPr lang="en-US" sz="1200" dirty="0">
                <a:solidFill>
                  <a:srgbClr val="000000"/>
                </a:solidFill>
                <a:latin typeface="Cascadia Mono" panose="020B0609020000020004" pitchFamily="49" charset="0"/>
              </a:rPr>
              <a:t>}</a:t>
            </a:r>
            <a:endParaRPr lang="en-US" sz="1200" dirty="0"/>
          </a:p>
        </p:txBody>
      </p:sp>
      <p:sp>
        <p:nvSpPr>
          <p:cNvPr id="51" name="Content Placeholder 17">
            <a:extLst>
              <a:ext uri="{FF2B5EF4-FFF2-40B4-BE49-F238E27FC236}">
                <a16:creationId xmlns:a16="http://schemas.microsoft.com/office/drawing/2014/main" id="{F03EC9C4-12EB-4C53-B369-936400C48CFE}"/>
              </a:ext>
            </a:extLst>
          </p:cNvPr>
          <p:cNvSpPr txBox="1">
            <a:spLocks/>
          </p:cNvSpPr>
          <p:nvPr/>
        </p:nvSpPr>
        <p:spPr>
          <a:xfrm>
            <a:off x="938502" y="4067957"/>
            <a:ext cx="5664122" cy="77226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ru-RU" dirty="0">
                <a:latin typeface="Segoe UI" panose="020B0502040204020203" pitchFamily="34" charset="0"/>
                <a:cs typeface="Segoe UI" panose="020B0502040204020203" pitchFamily="34" charset="0"/>
              </a:rPr>
              <a:t>Как компилятор узнает о </a:t>
            </a:r>
            <a:r>
              <a:rPr lang="en-US" dirty="0">
                <a:latin typeface="Segoe UI" panose="020B0502040204020203" pitchFamily="34" charset="0"/>
                <a:cs typeface="Segoe UI" panose="020B0502040204020203" pitchFamily="34" charset="0"/>
              </a:rPr>
              <a:t>add5 </a:t>
            </a:r>
            <a:r>
              <a:rPr lang="ru-RU" dirty="0">
                <a:latin typeface="Segoe UI" panose="020B0502040204020203" pitchFamily="34" charset="0"/>
                <a:cs typeface="Segoe UI" panose="020B0502040204020203" pitchFamily="34" charset="0"/>
              </a:rPr>
              <a:t>и </a:t>
            </a:r>
            <a:r>
              <a:rPr lang="en-US" dirty="0">
                <a:latin typeface="Segoe UI" panose="020B0502040204020203" pitchFamily="34" charset="0"/>
                <a:cs typeface="Segoe UI" panose="020B0502040204020203" pitchFamily="34" charset="0"/>
              </a:rPr>
              <a:t>add10 </a:t>
            </a:r>
            <a:r>
              <a:rPr lang="ru-RU" dirty="0">
                <a:latin typeface="Segoe UI" panose="020B0502040204020203" pitchFamily="34" charset="0"/>
                <a:cs typeface="Segoe UI" panose="020B0502040204020203" pitchFamily="34" charset="0"/>
              </a:rPr>
              <a:t>функциях если комплиляция происходит паралельно</a:t>
            </a:r>
            <a:r>
              <a:rPr lang="en-US" dirty="0">
                <a:latin typeface="Segoe UI" panose="020B0502040204020203" pitchFamily="34" charset="0"/>
                <a:cs typeface="Segoe UI" panose="020B0502040204020203" pitchFamily="34" charset="0"/>
              </a:rPr>
              <a:t>?</a:t>
            </a:r>
          </a:p>
          <a:p>
            <a:pPr marL="0" lvl="0" indent="0">
              <a:spcAft>
                <a:spcPts val="600"/>
              </a:spcAft>
              <a:buNone/>
              <a:defRPr/>
            </a:pPr>
            <a:endParaRPr lang="en-US" dirty="0">
              <a:latin typeface="Segoe UI" panose="020B0502040204020203" pitchFamily="34" charset="0"/>
              <a:cs typeface="Segoe UI" panose="020B0502040204020203" pitchFamily="34" charset="0"/>
            </a:endParaRPr>
          </a:p>
          <a:p>
            <a:pPr marL="0" lvl="0" indent="0">
              <a:spcAft>
                <a:spcPts val="600"/>
              </a:spcAft>
              <a:buNone/>
              <a:defRPr/>
            </a:pPr>
            <a:endParaRPr lang="ru-RU" dirty="0">
              <a:latin typeface="Segoe UI" panose="020B0502040204020203" pitchFamily="34" charset="0"/>
              <a:cs typeface="Segoe UI" panose="020B0502040204020203" pitchFamily="34" charset="0"/>
            </a:endParaRPr>
          </a:p>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sp>
        <p:nvSpPr>
          <p:cNvPr id="52" name="Rectangle 51">
            <a:extLst>
              <a:ext uri="{FF2B5EF4-FFF2-40B4-BE49-F238E27FC236}">
                <a16:creationId xmlns:a16="http://schemas.microsoft.com/office/drawing/2014/main" id="{E5513639-686B-468F-99AE-64B9E6C4EEE8}"/>
              </a:ext>
            </a:extLst>
          </p:cNvPr>
          <p:cNvSpPr/>
          <p:nvPr/>
        </p:nvSpPr>
        <p:spPr>
          <a:xfrm>
            <a:off x="5642178" y="1408108"/>
            <a:ext cx="4147990" cy="22555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Content Placeholder 17">
            <a:extLst>
              <a:ext uri="{FF2B5EF4-FFF2-40B4-BE49-F238E27FC236}">
                <a16:creationId xmlns:a16="http://schemas.microsoft.com/office/drawing/2014/main" id="{A41255DF-DF6A-4B74-8BC5-9FA426B9CCF5}"/>
              </a:ext>
            </a:extLst>
          </p:cNvPr>
          <p:cNvSpPr txBox="1">
            <a:spLocks/>
          </p:cNvSpPr>
          <p:nvPr/>
        </p:nvSpPr>
        <p:spPr>
          <a:xfrm>
            <a:off x="5958931" y="3660164"/>
            <a:ext cx="3514483" cy="51676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latin typeface="Segoe UI" panose="020B0502040204020203" pitchFamily="34" charset="0"/>
                <a:cs typeface="Segoe UI" panose="020B0502040204020203" pitchFamily="34" charset="0"/>
              </a:rPr>
              <a:t>Compile-time </a:t>
            </a:r>
            <a:r>
              <a:rPr lang="ru-RU" dirty="0">
                <a:latin typeface="Segoe UI" panose="020B0502040204020203" pitchFamily="34" charset="0"/>
                <a:cs typeface="Segoe UI" panose="020B0502040204020203" pitchFamily="34" charset="0"/>
              </a:rPr>
              <a:t>связывание или </a:t>
            </a:r>
            <a:r>
              <a:rPr lang="en-US" dirty="0">
                <a:latin typeface="Segoe UI" panose="020B0502040204020203" pitchFamily="34" charset="0"/>
                <a:cs typeface="Segoe UI" panose="020B0502040204020203" pitchFamily="34" charset="0"/>
              </a:rPr>
              <a:t>static linking</a:t>
            </a:r>
          </a:p>
          <a:p>
            <a:pPr marL="0" lvl="0" indent="0">
              <a:spcAft>
                <a:spcPts val="600"/>
              </a:spcAft>
              <a:buNone/>
              <a:defRPr/>
            </a:pPr>
            <a:endParaRPr lang="en-US" dirty="0">
              <a:latin typeface="Segoe UI" panose="020B0502040204020203" pitchFamily="34" charset="0"/>
              <a:cs typeface="Segoe UI" panose="020B0502040204020203" pitchFamily="34" charset="0"/>
            </a:endParaRPr>
          </a:p>
          <a:p>
            <a:pPr marL="0" lvl="0" indent="0">
              <a:spcAft>
                <a:spcPts val="600"/>
              </a:spcAft>
              <a:buNone/>
              <a:defRPr/>
            </a:pPr>
            <a:endParaRPr lang="ru-RU" dirty="0">
              <a:latin typeface="Segoe UI" panose="020B0502040204020203" pitchFamily="34" charset="0"/>
              <a:cs typeface="Segoe UI" panose="020B0502040204020203" pitchFamily="34" charset="0"/>
            </a:endParaRPr>
          </a:p>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783595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a:latin typeface="Segoe UI Light" panose="020B0502040204020203" pitchFamily="34" charset="0"/>
                <a:cs typeface="Segoe UI Light" panose="020B0502040204020203" pitchFamily="34" charset="0"/>
              </a:rPr>
              <a:t>Static library linking</a:t>
            </a:r>
          </a:p>
        </p:txBody>
      </p:sp>
      <p:sp>
        <p:nvSpPr>
          <p:cNvPr id="10" name="Rectangle 9">
            <a:extLst>
              <a:ext uri="{FF2B5EF4-FFF2-40B4-BE49-F238E27FC236}">
                <a16:creationId xmlns:a16="http://schemas.microsoft.com/office/drawing/2014/main" id="{9270B7F5-C19B-4311-9ED1-D857E4D87FB5}"/>
              </a:ext>
            </a:extLst>
          </p:cNvPr>
          <p:cNvSpPr/>
          <p:nvPr/>
        </p:nvSpPr>
        <p:spPr>
          <a:xfrm>
            <a:off x="1374976" y="1696669"/>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add10.cpp</a:t>
            </a:r>
          </a:p>
        </p:txBody>
      </p:sp>
      <p:sp>
        <p:nvSpPr>
          <p:cNvPr id="11" name="Rectangle 10">
            <a:extLst>
              <a:ext uri="{FF2B5EF4-FFF2-40B4-BE49-F238E27FC236}">
                <a16:creationId xmlns:a16="http://schemas.microsoft.com/office/drawing/2014/main" id="{7869AE5D-D803-4D55-A534-22F2350A8DC6}"/>
              </a:ext>
            </a:extLst>
          </p:cNvPr>
          <p:cNvSpPr/>
          <p:nvPr/>
        </p:nvSpPr>
        <p:spPr>
          <a:xfrm>
            <a:off x="1374976" y="2305202"/>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add5.cpp</a:t>
            </a:r>
          </a:p>
        </p:txBody>
      </p:sp>
      <p:cxnSp>
        <p:nvCxnSpPr>
          <p:cNvPr id="14" name="Straight Arrow Connector 13">
            <a:extLst>
              <a:ext uri="{FF2B5EF4-FFF2-40B4-BE49-F238E27FC236}">
                <a16:creationId xmlns:a16="http://schemas.microsoft.com/office/drawing/2014/main" id="{6A8FD559-853E-488D-9126-EAC61A84ABF2}"/>
              </a:ext>
            </a:extLst>
          </p:cNvPr>
          <p:cNvCxnSpPr/>
          <p:nvPr/>
        </p:nvCxnSpPr>
        <p:spPr>
          <a:xfrm>
            <a:off x="3023616" y="1913611"/>
            <a:ext cx="469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126C0C9C-2C63-4795-809B-C3AA5FAACABB}"/>
              </a:ext>
            </a:extLst>
          </p:cNvPr>
          <p:cNvSpPr/>
          <p:nvPr/>
        </p:nvSpPr>
        <p:spPr>
          <a:xfrm>
            <a:off x="3630496" y="1696669"/>
            <a:ext cx="1599872"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compile</a:t>
            </a:r>
          </a:p>
        </p:txBody>
      </p:sp>
      <p:cxnSp>
        <p:nvCxnSpPr>
          <p:cNvPr id="18" name="Straight Arrow Connector 17">
            <a:extLst>
              <a:ext uri="{FF2B5EF4-FFF2-40B4-BE49-F238E27FC236}">
                <a16:creationId xmlns:a16="http://schemas.microsoft.com/office/drawing/2014/main" id="{174B62A3-6B39-4806-B22A-B37C54BB2362}"/>
              </a:ext>
            </a:extLst>
          </p:cNvPr>
          <p:cNvCxnSpPr/>
          <p:nvPr/>
        </p:nvCxnSpPr>
        <p:spPr>
          <a:xfrm>
            <a:off x="3023616" y="2515515"/>
            <a:ext cx="469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02024339-D5EA-4593-A919-7817FBB36B7E}"/>
              </a:ext>
            </a:extLst>
          </p:cNvPr>
          <p:cNvSpPr/>
          <p:nvPr/>
        </p:nvSpPr>
        <p:spPr>
          <a:xfrm>
            <a:off x="3630496" y="2298573"/>
            <a:ext cx="1599872"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compile</a:t>
            </a:r>
          </a:p>
        </p:txBody>
      </p:sp>
      <p:sp>
        <p:nvSpPr>
          <p:cNvPr id="26" name="Rectangle 25">
            <a:extLst>
              <a:ext uri="{FF2B5EF4-FFF2-40B4-BE49-F238E27FC236}">
                <a16:creationId xmlns:a16="http://schemas.microsoft.com/office/drawing/2014/main" id="{CEDEB414-910B-490D-8C6F-3C578079FA1D}"/>
              </a:ext>
            </a:extLst>
          </p:cNvPr>
          <p:cNvSpPr/>
          <p:nvPr/>
        </p:nvSpPr>
        <p:spPr>
          <a:xfrm>
            <a:off x="5877200" y="1682953"/>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add10.o</a:t>
            </a:r>
          </a:p>
        </p:txBody>
      </p:sp>
      <p:cxnSp>
        <p:nvCxnSpPr>
          <p:cNvPr id="27" name="Straight Arrow Connector 26">
            <a:extLst>
              <a:ext uri="{FF2B5EF4-FFF2-40B4-BE49-F238E27FC236}">
                <a16:creationId xmlns:a16="http://schemas.microsoft.com/office/drawing/2014/main" id="{3A6D61BD-4F10-4E57-9515-B53074BCEED5}"/>
              </a:ext>
            </a:extLst>
          </p:cNvPr>
          <p:cNvCxnSpPr/>
          <p:nvPr/>
        </p:nvCxnSpPr>
        <p:spPr>
          <a:xfrm>
            <a:off x="5319088" y="1927326"/>
            <a:ext cx="469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02DDD834-209E-4E9E-A711-F1834D05F6C7}"/>
              </a:ext>
            </a:extLst>
          </p:cNvPr>
          <p:cNvSpPr/>
          <p:nvPr/>
        </p:nvSpPr>
        <p:spPr>
          <a:xfrm>
            <a:off x="5877200" y="2284857"/>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add5.o</a:t>
            </a:r>
          </a:p>
        </p:txBody>
      </p:sp>
      <p:cxnSp>
        <p:nvCxnSpPr>
          <p:cNvPr id="31" name="Straight Arrow Connector 30">
            <a:extLst>
              <a:ext uri="{FF2B5EF4-FFF2-40B4-BE49-F238E27FC236}">
                <a16:creationId xmlns:a16="http://schemas.microsoft.com/office/drawing/2014/main" id="{B6E18288-4184-4409-B301-7DB25E40D98A}"/>
              </a:ext>
            </a:extLst>
          </p:cNvPr>
          <p:cNvCxnSpPr/>
          <p:nvPr/>
        </p:nvCxnSpPr>
        <p:spPr>
          <a:xfrm>
            <a:off x="5319088" y="2529230"/>
            <a:ext cx="469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6F581F79-45C3-4944-B519-CCE21B74A8D8}"/>
              </a:ext>
            </a:extLst>
          </p:cNvPr>
          <p:cNvSpPr/>
          <p:nvPr/>
        </p:nvSpPr>
        <p:spPr>
          <a:xfrm>
            <a:off x="7974880" y="2284857"/>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linker</a:t>
            </a:r>
          </a:p>
        </p:txBody>
      </p:sp>
      <p:cxnSp>
        <p:nvCxnSpPr>
          <p:cNvPr id="36" name="Straight Arrow Connector 35">
            <a:extLst>
              <a:ext uri="{FF2B5EF4-FFF2-40B4-BE49-F238E27FC236}">
                <a16:creationId xmlns:a16="http://schemas.microsoft.com/office/drawing/2014/main" id="{6D87DD65-471A-4454-AA67-3272DBAD0957}"/>
              </a:ext>
            </a:extLst>
          </p:cNvPr>
          <p:cNvCxnSpPr>
            <a:cxnSpLocks/>
          </p:cNvCxnSpPr>
          <p:nvPr/>
        </p:nvCxnSpPr>
        <p:spPr>
          <a:xfrm>
            <a:off x="7398326" y="1913610"/>
            <a:ext cx="469392" cy="2443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F740F11-7E5B-43F7-A28A-7F0521EE8DD3}"/>
              </a:ext>
            </a:extLst>
          </p:cNvPr>
          <p:cNvCxnSpPr/>
          <p:nvPr/>
        </p:nvCxnSpPr>
        <p:spPr>
          <a:xfrm>
            <a:off x="7398326" y="2508807"/>
            <a:ext cx="469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D4D23AC-CFD3-439B-A556-036F94647F6F}"/>
              </a:ext>
            </a:extLst>
          </p:cNvPr>
          <p:cNvCxnSpPr/>
          <p:nvPr/>
        </p:nvCxnSpPr>
        <p:spPr>
          <a:xfrm>
            <a:off x="9556310" y="2515514"/>
            <a:ext cx="469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D0099C56-0131-44F8-86F2-314BF621CA72}"/>
              </a:ext>
            </a:extLst>
          </p:cNvPr>
          <p:cNvSpPr/>
          <p:nvPr/>
        </p:nvSpPr>
        <p:spPr>
          <a:xfrm>
            <a:off x="10156284" y="2305202"/>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add.lib</a:t>
            </a:r>
          </a:p>
        </p:txBody>
      </p:sp>
      <p:sp>
        <p:nvSpPr>
          <p:cNvPr id="42" name="Rectangle 41">
            <a:extLst>
              <a:ext uri="{FF2B5EF4-FFF2-40B4-BE49-F238E27FC236}">
                <a16:creationId xmlns:a16="http://schemas.microsoft.com/office/drawing/2014/main" id="{EE489AB3-EA10-4148-BF67-27F82C7E6917}"/>
              </a:ext>
            </a:extLst>
          </p:cNvPr>
          <p:cNvSpPr/>
          <p:nvPr/>
        </p:nvSpPr>
        <p:spPr>
          <a:xfrm>
            <a:off x="1091512" y="1408108"/>
            <a:ext cx="4462272" cy="15440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5513639-686B-468F-99AE-64B9E6C4EEE8}"/>
              </a:ext>
            </a:extLst>
          </p:cNvPr>
          <p:cNvSpPr/>
          <p:nvPr/>
        </p:nvSpPr>
        <p:spPr>
          <a:xfrm>
            <a:off x="5642178" y="1408108"/>
            <a:ext cx="4147990" cy="154400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840ACB1-7047-4E52-A612-965A5B285D3D}"/>
              </a:ext>
            </a:extLst>
          </p:cNvPr>
          <p:cNvSpPr txBox="1"/>
          <p:nvPr/>
        </p:nvSpPr>
        <p:spPr>
          <a:xfrm>
            <a:off x="1350264" y="3292547"/>
            <a:ext cx="3346704" cy="1384995"/>
          </a:xfrm>
          <a:prstGeom prst="rect">
            <a:avLst/>
          </a:prstGeom>
          <a:noFill/>
        </p:spPr>
        <p:txBody>
          <a:bodyPr wrap="square">
            <a:spAutoFit/>
          </a:bodyPr>
          <a:lstStyle/>
          <a:p>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main()</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t = 0;</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cin</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&gt;&gt;</a:t>
            </a:r>
            <a:r>
              <a:rPr lang="en-US" sz="1200" dirty="0">
                <a:solidFill>
                  <a:srgbClr val="000000"/>
                </a:solidFill>
                <a:latin typeface="Cascadia Mono" panose="020B0609020000020004" pitchFamily="49" charset="0"/>
              </a:rPr>
              <a:t> t;</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add10(add5(t));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0;</a:t>
            </a:r>
          </a:p>
          <a:p>
            <a:r>
              <a:rPr lang="en-US" sz="1200" dirty="0">
                <a:solidFill>
                  <a:srgbClr val="000000"/>
                </a:solidFill>
                <a:latin typeface="Cascadia Mono" panose="020B0609020000020004" pitchFamily="49" charset="0"/>
              </a:rPr>
              <a:t>}</a:t>
            </a:r>
            <a:endParaRPr lang="en-US" sz="1200" dirty="0"/>
          </a:p>
        </p:txBody>
      </p:sp>
      <p:sp>
        <p:nvSpPr>
          <p:cNvPr id="22" name="Rectangle 21">
            <a:extLst>
              <a:ext uri="{FF2B5EF4-FFF2-40B4-BE49-F238E27FC236}">
                <a16:creationId xmlns:a16="http://schemas.microsoft.com/office/drawing/2014/main" id="{A9D178A3-3F17-4370-9247-29697AC905D0}"/>
              </a:ext>
            </a:extLst>
          </p:cNvPr>
          <p:cNvSpPr/>
          <p:nvPr/>
        </p:nvSpPr>
        <p:spPr>
          <a:xfrm>
            <a:off x="6544740" y="4339525"/>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add.lib</a:t>
            </a:r>
          </a:p>
        </p:txBody>
      </p:sp>
      <p:sp>
        <p:nvSpPr>
          <p:cNvPr id="23" name="Rectangle 22">
            <a:extLst>
              <a:ext uri="{FF2B5EF4-FFF2-40B4-BE49-F238E27FC236}">
                <a16:creationId xmlns:a16="http://schemas.microsoft.com/office/drawing/2014/main" id="{BF1EC284-1EEC-4240-8A66-9DEDB067D9BE}"/>
              </a:ext>
            </a:extLst>
          </p:cNvPr>
          <p:cNvSpPr/>
          <p:nvPr/>
        </p:nvSpPr>
        <p:spPr>
          <a:xfrm>
            <a:off x="8574854" y="3754386"/>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main1.exe</a:t>
            </a:r>
          </a:p>
        </p:txBody>
      </p:sp>
      <p:sp>
        <p:nvSpPr>
          <p:cNvPr id="24" name="Rectangle 23">
            <a:extLst>
              <a:ext uri="{FF2B5EF4-FFF2-40B4-BE49-F238E27FC236}">
                <a16:creationId xmlns:a16="http://schemas.microsoft.com/office/drawing/2014/main" id="{78E16621-8267-4A2D-8B36-74623B21D379}"/>
              </a:ext>
            </a:extLst>
          </p:cNvPr>
          <p:cNvSpPr/>
          <p:nvPr/>
        </p:nvSpPr>
        <p:spPr>
          <a:xfrm>
            <a:off x="8574854" y="4800840"/>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main2.exe</a:t>
            </a:r>
          </a:p>
        </p:txBody>
      </p:sp>
      <p:cxnSp>
        <p:nvCxnSpPr>
          <p:cNvPr id="25" name="Straight Arrow Connector 24">
            <a:extLst>
              <a:ext uri="{FF2B5EF4-FFF2-40B4-BE49-F238E27FC236}">
                <a16:creationId xmlns:a16="http://schemas.microsoft.com/office/drawing/2014/main" id="{59DD2BA7-868A-49EB-B1B2-9DC64B293E0D}"/>
              </a:ext>
            </a:extLst>
          </p:cNvPr>
          <p:cNvCxnSpPr>
            <a:cxnSpLocks/>
          </p:cNvCxnSpPr>
          <p:nvPr/>
        </p:nvCxnSpPr>
        <p:spPr>
          <a:xfrm flipV="1">
            <a:off x="8044502" y="3985043"/>
            <a:ext cx="477706" cy="5481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1AA2A96-4729-435C-8A29-C06124ED4336}"/>
              </a:ext>
            </a:extLst>
          </p:cNvPr>
          <p:cNvCxnSpPr>
            <a:cxnSpLocks/>
          </p:cNvCxnSpPr>
          <p:nvPr/>
        </p:nvCxnSpPr>
        <p:spPr>
          <a:xfrm>
            <a:off x="8044502" y="4677542"/>
            <a:ext cx="435034" cy="340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66477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a:latin typeface="Segoe UI Light" panose="020B0502040204020203" pitchFamily="34" charset="0"/>
                <a:cs typeface="Segoe UI Light" panose="020B0502040204020203" pitchFamily="34" charset="0"/>
              </a:rPr>
              <a:t>Dynamic library linking</a:t>
            </a:r>
          </a:p>
        </p:txBody>
      </p:sp>
      <p:sp>
        <p:nvSpPr>
          <p:cNvPr id="10" name="Rectangle 9">
            <a:extLst>
              <a:ext uri="{FF2B5EF4-FFF2-40B4-BE49-F238E27FC236}">
                <a16:creationId xmlns:a16="http://schemas.microsoft.com/office/drawing/2014/main" id="{9270B7F5-C19B-4311-9ED1-D857E4D87FB5}"/>
              </a:ext>
            </a:extLst>
          </p:cNvPr>
          <p:cNvSpPr/>
          <p:nvPr/>
        </p:nvSpPr>
        <p:spPr>
          <a:xfrm>
            <a:off x="1374976" y="1696669"/>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add10.cpp</a:t>
            </a:r>
          </a:p>
        </p:txBody>
      </p:sp>
      <p:sp>
        <p:nvSpPr>
          <p:cNvPr id="11" name="Rectangle 10">
            <a:extLst>
              <a:ext uri="{FF2B5EF4-FFF2-40B4-BE49-F238E27FC236}">
                <a16:creationId xmlns:a16="http://schemas.microsoft.com/office/drawing/2014/main" id="{7869AE5D-D803-4D55-A534-22F2350A8DC6}"/>
              </a:ext>
            </a:extLst>
          </p:cNvPr>
          <p:cNvSpPr/>
          <p:nvPr/>
        </p:nvSpPr>
        <p:spPr>
          <a:xfrm>
            <a:off x="1374976" y="2305202"/>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add5.cpp</a:t>
            </a:r>
          </a:p>
        </p:txBody>
      </p:sp>
      <p:cxnSp>
        <p:nvCxnSpPr>
          <p:cNvPr id="14" name="Straight Arrow Connector 13">
            <a:extLst>
              <a:ext uri="{FF2B5EF4-FFF2-40B4-BE49-F238E27FC236}">
                <a16:creationId xmlns:a16="http://schemas.microsoft.com/office/drawing/2014/main" id="{6A8FD559-853E-488D-9126-EAC61A84ABF2}"/>
              </a:ext>
            </a:extLst>
          </p:cNvPr>
          <p:cNvCxnSpPr/>
          <p:nvPr/>
        </p:nvCxnSpPr>
        <p:spPr>
          <a:xfrm>
            <a:off x="3023616" y="1913611"/>
            <a:ext cx="469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126C0C9C-2C63-4795-809B-C3AA5FAACABB}"/>
              </a:ext>
            </a:extLst>
          </p:cNvPr>
          <p:cNvSpPr/>
          <p:nvPr/>
        </p:nvSpPr>
        <p:spPr>
          <a:xfrm>
            <a:off x="3630496" y="1696669"/>
            <a:ext cx="1599872"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compile</a:t>
            </a:r>
          </a:p>
        </p:txBody>
      </p:sp>
      <p:cxnSp>
        <p:nvCxnSpPr>
          <p:cNvPr id="18" name="Straight Arrow Connector 17">
            <a:extLst>
              <a:ext uri="{FF2B5EF4-FFF2-40B4-BE49-F238E27FC236}">
                <a16:creationId xmlns:a16="http://schemas.microsoft.com/office/drawing/2014/main" id="{174B62A3-6B39-4806-B22A-B37C54BB2362}"/>
              </a:ext>
            </a:extLst>
          </p:cNvPr>
          <p:cNvCxnSpPr/>
          <p:nvPr/>
        </p:nvCxnSpPr>
        <p:spPr>
          <a:xfrm>
            <a:off x="3023616" y="2515515"/>
            <a:ext cx="469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02024339-D5EA-4593-A919-7817FBB36B7E}"/>
              </a:ext>
            </a:extLst>
          </p:cNvPr>
          <p:cNvSpPr/>
          <p:nvPr/>
        </p:nvSpPr>
        <p:spPr>
          <a:xfrm>
            <a:off x="3630496" y="2298573"/>
            <a:ext cx="1599872"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compile</a:t>
            </a:r>
          </a:p>
        </p:txBody>
      </p:sp>
      <p:sp>
        <p:nvSpPr>
          <p:cNvPr id="26" name="Rectangle 25">
            <a:extLst>
              <a:ext uri="{FF2B5EF4-FFF2-40B4-BE49-F238E27FC236}">
                <a16:creationId xmlns:a16="http://schemas.microsoft.com/office/drawing/2014/main" id="{CEDEB414-910B-490D-8C6F-3C578079FA1D}"/>
              </a:ext>
            </a:extLst>
          </p:cNvPr>
          <p:cNvSpPr/>
          <p:nvPr/>
        </p:nvSpPr>
        <p:spPr>
          <a:xfrm>
            <a:off x="5877200" y="1682953"/>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add10.o</a:t>
            </a:r>
          </a:p>
        </p:txBody>
      </p:sp>
      <p:cxnSp>
        <p:nvCxnSpPr>
          <p:cNvPr id="27" name="Straight Arrow Connector 26">
            <a:extLst>
              <a:ext uri="{FF2B5EF4-FFF2-40B4-BE49-F238E27FC236}">
                <a16:creationId xmlns:a16="http://schemas.microsoft.com/office/drawing/2014/main" id="{3A6D61BD-4F10-4E57-9515-B53074BCEED5}"/>
              </a:ext>
            </a:extLst>
          </p:cNvPr>
          <p:cNvCxnSpPr/>
          <p:nvPr/>
        </p:nvCxnSpPr>
        <p:spPr>
          <a:xfrm>
            <a:off x="5319088" y="1927326"/>
            <a:ext cx="469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02DDD834-209E-4E9E-A711-F1834D05F6C7}"/>
              </a:ext>
            </a:extLst>
          </p:cNvPr>
          <p:cNvSpPr/>
          <p:nvPr/>
        </p:nvSpPr>
        <p:spPr>
          <a:xfrm>
            <a:off x="5877200" y="2284857"/>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add5.o</a:t>
            </a:r>
          </a:p>
        </p:txBody>
      </p:sp>
      <p:cxnSp>
        <p:nvCxnSpPr>
          <p:cNvPr id="31" name="Straight Arrow Connector 30">
            <a:extLst>
              <a:ext uri="{FF2B5EF4-FFF2-40B4-BE49-F238E27FC236}">
                <a16:creationId xmlns:a16="http://schemas.microsoft.com/office/drawing/2014/main" id="{B6E18288-4184-4409-B301-7DB25E40D98A}"/>
              </a:ext>
            </a:extLst>
          </p:cNvPr>
          <p:cNvCxnSpPr/>
          <p:nvPr/>
        </p:nvCxnSpPr>
        <p:spPr>
          <a:xfrm>
            <a:off x="5319088" y="2529230"/>
            <a:ext cx="469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6F581F79-45C3-4944-B519-CCE21B74A8D8}"/>
              </a:ext>
            </a:extLst>
          </p:cNvPr>
          <p:cNvSpPr/>
          <p:nvPr/>
        </p:nvSpPr>
        <p:spPr>
          <a:xfrm>
            <a:off x="7974880" y="2284857"/>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linker</a:t>
            </a:r>
          </a:p>
        </p:txBody>
      </p:sp>
      <p:cxnSp>
        <p:nvCxnSpPr>
          <p:cNvPr id="36" name="Straight Arrow Connector 35">
            <a:extLst>
              <a:ext uri="{FF2B5EF4-FFF2-40B4-BE49-F238E27FC236}">
                <a16:creationId xmlns:a16="http://schemas.microsoft.com/office/drawing/2014/main" id="{6D87DD65-471A-4454-AA67-3272DBAD0957}"/>
              </a:ext>
            </a:extLst>
          </p:cNvPr>
          <p:cNvCxnSpPr>
            <a:cxnSpLocks/>
          </p:cNvCxnSpPr>
          <p:nvPr/>
        </p:nvCxnSpPr>
        <p:spPr>
          <a:xfrm>
            <a:off x="7398326" y="1913610"/>
            <a:ext cx="469392" cy="2443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F740F11-7E5B-43F7-A28A-7F0521EE8DD3}"/>
              </a:ext>
            </a:extLst>
          </p:cNvPr>
          <p:cNvCxnSpPr/>
          <p:nvPr/>
        </p:nvCxnSpPr>
        <p:spPr>
          <a:xfrm>
            <a:off x="7398326" y="2508807"/>
            <a:ext cx="469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D4D23AC-CFD3-439B-A556-036F94647F6F}"/>
              </a:ext>
            </a:extLst>
          </p:cNvPr>
          <p:cNvCxnSpPr/>
          <p:nvPr/>
        </p:nvCxnSpPr>
        <p:spPr>
          <a:xfrm>
            <a:off x="9556310" y="2515514"/>
            <a:ext cx="469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D0099C56-0131-44F8-86F2-314BF621CA72}"/>
              </a:ext>
            </a:extLst>
          </p:cNvPr>
          <p:cNvSpPr/>
          <p:nvPr/>
        </p:nvSpPr>
        <p:spPr>
          <a:xfrm>
            <a:off x="10156284" y="2305202"/>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add.dll</a:t>
            </a:r>
          </a:p>
        </p:txBody>
      </p:sp>
      <p:sp>
        <p:nvSpPr>
          <p:cNvPr id="42" name="Rectangle 41">
            <a:extLst>
              <a:ext uri="{FF2B5EF4-FFF2-40B4-BE49-F238E27FC236}">
                <a16:creationId xmlns:a16="http://schemas.microsoft.com/office/drawing/2014/main" id="{EE489AB3-EA10-4148-BF67-27F82C7E6917}"/>
              </a:ext>
            </a:extLst>
          </p:cNvPr>
          <p:cNvSpPr/>
          <p:nvPr/>
        </p:nvSpPr>
        <p:spPr>
          <a:xfrm>
            <a:off x="1091512" y="1408108"/>
            <a:ext cx="4462272" cy="15440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5513639-686B-468F-99AE-64B9E6C4EEE8}"/>
              </a:ext>
            </a:extLst>
          </p:cNvPr>
          <p:cNvSpPr/>
          <p:nvPr/>
        </p:nvSpPr>
        <p:spPr>
          <a:xfrm>
            <a:off x="5642178" y="1408108"/>
            <a:ext cx="4147990" cy="154400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568A390F-3425-46F6-9AE7-805636773B4C}"/>
              </a:ext>
            </a:extLst>
          </p:cNvPr>
          <p:cNvSpPr txBox="1"/>
          <p:nvPr/>
        </p:nvSpPr>
        <p:spPr>
          <a:xfrm>
            <a:off x="1374976" y="3226956"/>
            <a:ext cx="6096000" cy="1200329"/>
          </a:xfrm>
          <a:prstGeom prst="rect">
            <a:avLst/>
          </a:prstGeom>
          <a:noFill/>
        </p:spPr>
        <p:txBody>
          <a:bodyPr wrap="square">
            <a:spAutoFit/>
          </a:bodyPr>
          <a:lstStyle/>
          <a:p>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main()</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HMODULE</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dynamic_lib</a:t>
            </a:r>
            <a:r>
              <a:rPr lang="en-US" sz="1200" dirty="0">
                <a:solidFill>
                  <a:srgbClr val="000000"/>
                </a:solidFill>
                <a:latin typeface="Cascadia Mono" panose="020B0609020000020004" pitchFamily="49" charset="0"/>
              </a:rPr>
              <a:t> = </a:t>
            </a:r>
            <a:r>
              <a:rPr lang="en-US" sz="1200" dirty="0" err="1">
                <a:solidFill>
                  <a:srgbClr val="000000"/>
                </a:solidFill>
                <a:latin typeface="Cascadia Mono" panose="020B0609020000020004" pitchFamily="49" charset="0"/>
              </a:rPr>
              <a:t>LoadLibraryW</a:t>
            </a:r>
            <a:r>
              <a:rPr lang="en-US" sz="1200" dirty="0">
                <a:solidFill>
                  <a:srgbClr val="000000"/>
                </a:solidFill>
                <a:latin typeface="Cascadia Mono" panose="020B0609020000020004" pitchFamily="49" charset="0"/>
              </a:rPr>
              <a:t>(</a:t>
            </a:r>
            <a:r>
              <a:rPr lang="en-US" sz="1200" dirty="0" err="1">
                <a:solidFill>
                  <a:srgbClr val="A31515"/>
                </a:solidFill>
                <a:latin typeface="Cascadia Mono" panose="020B0609020000020004" pitchFamily="49" charset="0"/>
              </a:rPr>
              <a:t>L"add.dll</a:t>
            </a:r>
            <a:r>
              <a:rPr lang="en-US" sz="1200" dirty="0">
                <a:solidFill>
                  <a:srgbClr val="A31515"/>
                </a:solidFill>
                <a:latin typeface="Cascadia Mono" panose="020B0609020000020004" pitchFamily="49" charset="0"/>
              </a:rPr>
              <a:t>"</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ptr</a:t>
            </a:r>
            <a:r>
              <a:rPr lang="en-US" sz="1200" dirty="0">
                <a:solidFill>
                  <a:srgbClr val="000000"/>
                </a:solidFill>
                <a:latin typeface="Cascadia Mono" panose="020B0609020000020004" pitchFamily="49" charset="0"/>
              </a:rPr>
              <a:t> = </a:t>
            </a:r>
            <a:r>
              <a:rPr lang="en-US" sz="1200" dirty="0" err="1">
                <a:solidFill>
                  <a:srgbClr val="000000"/>
                </a:solidFill>
                <a:latin typeface="Cascadia Mono" panose="020B0609020000020004" pitchFamily="49" charset="0"/>
              </a:rPr>
              <a:t>GetProcAddress</a:t>
            </a:r>
            <a:r>
              <a:rPr lang="en-US" sz="1200" dirty="0">
                <a:solidFill>
                  <a:srgbClr val="000000"/>
                </a:solidFill>
                <a:latin typeface="Cascadia Mono" panose="020B0609020000020004" pitchFamily="49" charset="0"/>
              </a:rPr>
              <a:t>(</a:t>
            </a:r>
            <a:r>
              <a:rPr lang="en-US" sz="1200" dirty="0" err="1">
                <a:solidFill>
                  <a:srgbClr val="000000"/>
                </a:solidFill>
                <a:latin typeface="Cascadia Mono" panose="020B0609020000020004" pitchFamily="49" charset="0"/>
              </a:rPr>
              <a:t>dynamic_lib</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"add10"</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endParaRPr lang="en-US" sz="1200" dirty="0"/>
          </a:p>
        </p:txBody>
      </p:sp>
      <p:sp>
        <p:nvSpPr>
          <p:cNvPr id="41" name="Rectangle 40">
            <a:extLst>
              <a:ext uri="{FF2B5EF4-FFF2-40B4-BE49-F238E27FC236}">
                <a16:creationId xmlns:a16="http://schemas.microsoft.com/office/drawing/2014/main" id="{5692249D-36E6-4E61-94AD-3C57EC09EE5D}"/>
              </a:ext>
            </a:extLst>
          </p:cNvPr>
          <p:cNvSpPr/>
          <p:nvPr/>
        </p:nvSpPr>
        <p:spPr>
          <a:xfrm>
            <a:off x="7716173" y="4140098"/>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add.dll</a:t>
            </a:r>
          </a:p>
        </p:txBody>
      </p:sp>
      <p:sp>
        <p:nvSpPr>
          <p:cNvPr id="44" name="Rectangle 43">
            <a:extLst>
              <a:ext uri="{FF2B5EF4-FFF2-40B4-BE49-F238E27FC236}">
                <a16:creationId xmlns:a16="http://schemas.microsoft.com/office/drawing/2014/main" id="{7DF1F785-4DD0-4743-9BEE-1654076DCC5C}"/>
              </a:ext>
            </a:extLst>
          </p:cNvPr>
          <p:cNvSpPr/>
          <p:nvPr/>
        </p:nvSpPr>
        <p:spPr>
          <a:xfrm>
            <a:off x="9726998" y="3622921"/>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main1.exe</a:t>
            </a:r>
          </a:p>
        </p:txBody>
      </p:sp>
      <p:sp>
        <p:nvSpPr>
          <p:cNvPr id="45" name="Rectangle 44">
            <a:extLst>
              <a:ext uri="{FF2B5EF4-FFF2-40B4-BE49-F238E27FC236}">
                <a16:creationId xmlns:a16="http://schemas.microsoft.com/office/drawing/2014/main" id="{C0C88A7E-0A04-475E-8DA1-14D0A683D96C}"/>
              </a:ext>
            </a:extLst>
          </p:cNvPr>
          <p:cNvSpPr/>
          <p:nvPr/>
        </p:nvSpPr>
        <p:spPr>
          <a:xfrm>
            <a:off x="9726998" y="4755046"/>
            <a:ext cx="1450848" cy="461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a:t>
            </a:r>
            <a:r>
              <a:rPr lang="ru-RU" dirty="0"/>
              <a:t>2</a:t>
            </a:r>
            <a:r>
              <a:rPr lang="en-US" dirty="0"/>
              <a:t>.exe</a:t>
            </a:r>
          </a:p>
        </p:txBody>
      </p:sp>
      <p:cxnSp>
        <p:nvCxnSpPr>
          <p:cNvPr id="47" name="Straight Arrow Connector 46">
            <a:extLst>
              <a:ext uri="{FF2B5EF4-FFF2-40B4-BE49-F238E27FC236}">
                <a16:creationId xmlns:a16="http://schemas.microsoft.com/office/drawing/2014/main" id="{6A723ADB-13BC-4EAD-AD10-9B93A8BF0A8A}"/>
              </a:ext>
            </a:extLst>
          </p:cNvPr>
          <p:cNvCxnSpPr>
            <a:cxnSpLocks/>
          </p:cNvCxnSpPr>
          <p:nvPr/>
        </p:nvCxnSpPr>
        <p:spPr>
          <a:xfrm flipV="1">
            <a:off x="9257606" y="3827120"/>
            <a:ext cx="392362" cy="5536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B575D91A-B168-471D-9BFA-B6E39F1FD15F}"/>
              </a:ext>
            </a:extLst>
          </p:cNvPr>
          <p:cNvCxnSpPr>
            <a:cxnSpLocks/>
          </p:cNvCxnSpPr>
          <p:nvPr/>
        </p:nvCxnSpPr>
        <p:spPr>
          <a:xfrm>
            <a:off x="9257606" y="4532000"/>
            <a:ext cx="392362" cy="453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09755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a:latin typeface="Segoe UI Light" panose="020B0502040204020203" pitchFamily="34" charset="0"/>
                <a:cs typeface="Segoe UI Light" panose="020B0502040204020203" pitchFamily="34" charset="0"/>
              </a:rPr>
              <a:t>Debug Symbols</a:t>
            </a:r>
          </a:p>
        </p:txBody>
      </p:sp>
      <p:pic>
        <p:nvPicPr>
          <p:cNvPr id="3" name="Picture 2">
            <a:extLst>
              <a:ext uri="{FF2B5EF4-FFF2-40B4-BE49-F238E27FC236}">
                <a16:creationId xmlns:a16="http://schemas.microsoft.com/office/drawing/2014/main" id="{B122125D-8361-4950-A844-F113F373FD22}"/>
              </a:ext>
            </a:extLst>
          </p:cNvPr>
          <p:cNvPicPr>
            <a:picLocks noChangeAspect="1"/>
          </p:cNvPicPr>
          <p:nvPr/>
        </p:nvPicPr>
        <p:blipFill>
          <a:blip r:embed="rId2"/>
          <a:stretch>
            <a:fillRect/>
          </a:stretch>
        </p:blipFill>
        <p:spPr>
          <a:xfrm>
            <a:off x="444473" y="1383791"/>
            <a:ext cx="5773447" cy="4300910"/>
          </a:xfrm>
          <a:prstGeom prst="rect">
            <a:avLst/>
          </a:prstGeom>
        </p:spPr>
      </p:pic>
      <p:pic>
        <p:nvPicPr>
          <p:cNvPr id="23" name="Picture 22">
            <a:extLst>
              <a:ext uri="{FF2B5EF4-FFF2-40B4-BE49-F238E27FC236}">
                <a16:creationId xmlns:a16="http://schemas.microsoft.com/office/drawing/2014/main" id="{28FFAFC7-3131-4700-9C03-3B5337456114}"/>
              </a:ext>
            </a:extLst>
          </p:cNvPr>
          <p:cNvPicPr>
            <a:picLocks noChangeAspect="1"/>
          </p:cNvPicPr>
          <p:nvPr/>
        </p:nvPicPr>
        <p:blipFill>
          <a:blip r:embed="rId3"/>
          <a:stretch>
            <a:fillRect/>
          </a:stretch>
        </p:blipFill>
        <p:spPr>
          <a:xfrm>
            <a:off x="9208085" y="1987381"/>
            <a:ext cx="2490139" cy="3497897"/>
          </a:xfrm>
          <a:prstGeom prst="rect">
            <a:avLst/>
          </a:prstGeom>
        </p:spPr>
      </p:pic>
      <p:pic>
        <p:nvPicPr>
          <p:cNvPr id="24" name="Picture 23">
            <a:extLst>
              <a:ext uri="{FF2B5EF4-FFF2-40B4-BE49-F238E27FC236}">
                <a16:creationId xmlns:a16="http://schemas.microsoft.com/office/drawing/2014/main" id="{861B8500-C39A-4528-91A6-DD0DDB7D28AD}"/>
              </a:ext>
            </a:extLst>
          </p:cNvPr>
          <p:cNvPicPr>
            <a:picLocks noChangeAspect="1"/>
          </p:cNvPicPr>
          <p:nvPr/>
        </p:nvPicPr>
        <p:blipFill>
          <a:blip r:embed="rId4"/>
          <a:stretch>
            <a:fillRect/>
          </a:stretch>
        </p:blipFill>
        <p:spPr>
          <a:xfrm>
            <a:off x="6346044" y="2923728"/>
            <a:ext cx="2477885" cy="1625201"/>
          </a:xfrm>
          <a:prstGeom prst="rect">
            <a:avLst/>
          </a:prstGeom>
        </p:spPr>
      </p:pic>
      <p:cxnSp>
        <p:nvCxnSpPr>
          <p:cNvPr id="25" name="Straight Arrow Connector 24">
            <a:extLst>
              <a:ext uri="{FF2B5EF4-FFF2-40B4-BE49-F238E27FC236}">
                <a16:creationId xmlns:a16="http://schemas.microsoft.com/office/drawing/2014/main" id="{77C1CDAE-3B33-4B7E-97BA-2DA88229449C}"/>
              </a:ext>
            </a:extLst>
          </p:cNvPr>
          <p:cNvCxnSpPr>
            <a:cxnSpLocks/>
          </p:cNvCxnSpPr>
          <p:nvPr/>
        </p:nvCxnSpPr>
        <p:spPr>
          <a:xfrm flipH="1">
            <a:off x="8894064" y="3736328"/>
            <a:ext cx="256032"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8" name="Content Placeholder 17">
            <a:extLst>
              <a:ext uri="{FF2B5EF4-FFF2-40B4-BE49-F238E27FC236}">
                <a16:creationId xmlns:a16="http://schemas.microsoft.com/office/drawing/2014/main" id="{EFBC04CB-1ABC-4C1F-A443-25E3C70DE535}"/>
              </a:ext>
            </a:extLst>
          </p:cNvPr>
          <p:cNvSpPr txBox="1">
            <a:spLocks/>
          </p:cNvSpPr>
          <p:nvPr/>
        </p:nvSpPr>
        <p:spPr>
          <a:xfrm>
            <a:off x="6559016" y="2349403"/>
            <a:ext cx="6352312" cy="77226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latin typeface="Segoe UI" panose="020B0502040204020203" pitchFamily="34" charset="0"/>
                <a:cs typeface="Segoe UI" panose="020B0502040204020203" pitchFamily="34" charset="0"/>
              </a:rPr>
              <a:t>.</a:t>
            </a:r>
            <a:r>
              <a:rPr lang="en-US" dirty="0" err="1">
                <a:latin typeface="Segoe UI" panose="020B0502040204020203" pitchFamily="34" charset="0"/>
                <a:cs typeface="Segoe UI" panose="020B0502040204020203" pitchFamily="34" charset="0"/>
              </a:rPr>
              <a:t>pdb</a:t>
            </a:r>
            <a:r>
              <a:rPr lang="en-US" dirty="0">
                <a:latin typeface="Segoe UI" panose="020B0502040204020203" pitchFamily="34" charset="0"/>
                <a:cs typeface="Segoe UI" panose="020B0502040204020203" pitchFamily="34" charset="0"/>
              </a:rPr>
              <a:t> –  </a:t>
            </a:r>
            <a:r>
              <a:rPr lang="ru-RU" dirty="0">
                <a:latin typeface="Segoe UI" panose="020B0502040204020203" pitchFamily="34" charset="0"/>
                <a:cs typeface="Segoe UI" panose="020B0502040204020203" pitchFamily="34" charset="0"/>
              </a:rPr>
              <a:t>файлы с </a:t>
            </a:r>
            <a:r>
              <a:rPr lang="en-US" dirty="0">
                <a:latin typeface="Segoe UI Light" panose="020B0502040204020203" pitchFamily="34" charset="0"/>
                <a:cs typeface="Segoe UI Light" panose="020B0502040204020203" pitchFamily="34" charset="0"/>
              </a:rPr>
              <a:t>Debug Symbols</a:t>
            </a:r>
            <a:endParaRPr lang="en-US" dirty="0">
              <a:latin typeface="Segoe UI" panose="020B0502040204020203" pitchFamily="34" charset="0"/>
              <a:cs typeface="Segoe UI" panose="020B0502040204020203" pitchFamily="34" charset="0"/>
            </a:endParaRPr>
          </a:p>
          <a:p>
            <a:pPr marL="0" lvl="0" indent="0">
              <a:spcAft>
                <a:spcPts val="600"/>
              </a:spcAft>
              <a:buNone/>
              <a:defRPr/>
            </a:pPr>
            <a:endParaRPr lang="en-US" dirty="0">
              <a:latin typeface="Segoe UI" panose="020B0502040204020203" pitchFamily="34" charset="0"/>
              <a:cs typeface="Segoe UI" panose="020B0502040204020203" pitchFamily="34" charset="0"/>
            </a:endParaRPr>
          </a:p>
          <a:p>
            <a:pPr marL="0" lvl="0" indent="0">
              <a:spcAft>
                <a:spcPts val="600"/>
              </a:spcAft>
              <a:buNone/>
              <a:defRPr/>
            </a:pPr>
            <a:endParaRPr lang="ru-RU" dirty="0">
              <a:latin typeface="Segoe UI" panose="020B0502040204020203" pitchFamily="34" charset="0"/>
              <a:cs typeface="Segoe UI" panose="020B0502040204020203" pitchFamily="34" charset="0"/>
            </a:endParaRPr>
          </a:p>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pic>
        <p:nvPicPr>
          <p:cNvPr id="6" name="Picture 5">
            <a:extLst>
              <a:ext uri="{FF2B5EF4-FFF2-40B4-BE49-F238E27FC236}">
                <a16:creationId xmlns:a16="http://schemas.microsoft.com/office/drawing/2014/main" id="{101E98DB-2FE3-4EB5-ADF5-96CCA347C37A}"/>
              </a:ext>
            </a:extLst>
          </p:cNvPr>
          <p:cNvPicPr>
            <a:picLocks noChangeAspect="1"/>
          </p:cNvPicPr>
          <p:nvPr/>
        </p:nvPicPr>
        <p:blipFill>
          <a:blip r:embed="rId5"/>
          <a:stretch>
            <a:fillRect/>
          </a:stretch>
        </p:blipFill>
        <p:spPr>
          <a:xfrm>
            <a:off x="6639852" y="1543375"/>
            <a:ext cx="2184077" cy="806028"/>
          </a:xfrm>
          <a:prstGeom prst="rect">
            <a:avLst/>
          </a:prstGeom>
        </p:spPr>
      </p:pic>
    </p:spTree>
    <p:extLst>
      <p:ext uri="{BB962C8B-B14F-4D97-AF65-F5344CB8AC3E}">
        <p14:creationId xmlns:p14="http://schemas.microsoft.com/office/powerpoint/2010/main" val="20522027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ru-RU" dirty="0">
                <a:latin typeface="Segoe UI Light" panose="020B0502040204020203" pitchFamily="34" charset="0"/>
                <a:cs typeface="Segoe UI Light" panose="020B0502040204020203" pitchFamily="34" charset="0"/>
              </a:rPr>
              <a:t>Отличие </a:t>
            </a:r>
            <a:r>
              <a:rPr lang="en-US" dirty="0">
                <a:latin typeface="Segoe UI Light" panose="020B0502040204020203" pitchFamily="34" charset="0"/>
                <a:cs typeface="Segoe UI Light" panose="020B0502040204020203" pitchFamily="34" charset="0"/>
              </a:rPr>
              <a:t>Debug, Release, </a:t>
            </a:r>
            <a:r>
              <a:rPr lang="en-US" dirty="0" err="1">
                <a:latin typeface="Segoe UI Light" panose="020B0502040204020203" pitchFamily="34" charset="0"/>
                <a:cs typeface="Segoe UI Light" panose="020B0502040204020203" pitchFamily="34" charset="0"/>
              </a:rPr>
              <a:t>RelWithDebInfo</a:t>
            </a:r>
            <a:r>
              <a:rPr lang="en-US" dirty="0">
                <a:latin typeface="Segoe UI Light" panose="020B0502040204020203" pitchFamily="34" charset="0"/>
                <a:cs typeface="Segoe UI Light" panose="020B0502040204020203" pitchFamily="34" charset="0"/>
              </a:rPr>
              <a:t>, </a:t>
            </a:r>
            <a:r>
              <a:rPr lang="ru-RU" dirty="0">
                <a:latin typeface="Segoe UI Light" panose="020B0502040204020203" pitchFamily="34" charset="0"/>
                <a:cs typeface="Segoe UI Light" panose="020B0502040204020203" pitchFamily="34" charset="0"/>
              </a:rPr>
              <a:t>сборок</a:t>
            </a:r>
            <a:r>
              <a:rPr lang="en-US" dirty="0">
                <a:latin typeface="Segoe UI Light" panose="020B0502040204020203" pitchFamily="34" charset="0"/>
                <a:cs typeface="Segoe UI Light" panose="020B0502040204020203" pitchFamily="34" charset="0"/>
              </a:rPr>
              <a:t> </a:t>
            </a:r>
          </a:p>
        </p:txBody>
      </p:sp>
      <p:sp>
        <p:nvSpPr>
          <p:cNvPr id="9" name="TextBox 8">
            <a:extLst>
              <a:ext uri="{FF2B5EF4-FFF2-40B4-BE49-F238E27FC236}">
                <a16:creationId xmlns:a16="http://schemas.microsoft.com/office/drawing/2014/main" id="{9B663BD8-F351-48A6-8B8C-9E51522C286A}"/>
              </a:ext>
            </a:extLst>
          </p:cNvPr>
          <p:cNvSpPr txBox="1"/>
          <p:nvPr/>
        </p:nvSpPr>
        <p:spPr>
          <a:xfrm>
            <a:off x="786384" y="2463814"/>
            <a:ext cx="2505456" cy="1569660"/>
          </a:xfrm>
          <a:prstGeom prst="rect">
            <a:avLst/>
          </a:prstGeom>
          <a:noFill/>
        </p:spPr>
        <p:txBody>
          <a:bodyPr wrap="square">
            <a:spAutoFit/>
          </a:bodyPr>
          <a:lstStyle/>
          <a:p>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add2(</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num</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num</a:t>
            </a:r>
            <a:r>
              <a:rPr lang="en-US" sz="1200" dirty="0">
                <a:solidFill>
                  <a:srgbClr val="000000"/>
                </a:solidFill>
                <a:latin typeface="Cascadia Mono" panose="020B0609020000020004" pitchFamily="49" charset="0"/>
              </a:rPr>
              <a:t> + 2;</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add2_t(</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num</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num</a:t>
            </a:r>
            <a:r>
              <a:rPr lang="en-US" sz="1200" dirty="0">
                <a:solidFill>
                  <a:srgbClr val="000000"/>
                </a:solidFill>
                <a:latin typeface="Cascadia Mono" panose="020B0609020000020004" pitchFamily="49" charset="0"/>
              </a:rPr>
              <a:t> = </a:t>
            </a:r>
            <a:r>
              <a:rPr lang="en-US" sz="1200" dirty="0">
                <a:solidFill>
                  <a:srgbClr val="808080"/>
                </a:solidFill>
                <a:latin typeface="Cascadia Mono" panose="020B0609020000020004" pitchFamily="49" charset="0"/>
              </a:rPr>
              <a:t>num</a:t>
            </a:r>
            <a:r>
              <a:rPr lang="en-US" sz="1200" dirty="0">
                <a:solidFill>
                  <a:srgbClr val="000000"/>
                </a:solidFill>
                <a:latin typeface="Cascadia Mono" panose="020B0609020000020004" pitchFamily="49" charset="0"/>
              </a:rPr>
              <a:t> + 2;</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num</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endParaRPr lang="en-US" sz="1200" dirty="0"/>
          </a:p>
        </p:txBody>
      </p:sp>
      <p:pic>
        <p:nvPicPr>
          <p:cNvPr id="5" name="Picture 4">
            <a:extLst>
              <a:ext uri="{FF2B5EF4-FFF2-40B4-BE49-F238E27FC236}">
                <a16:creationId xmlns:a16="http://schemas.microsoft.com/office/drawing/2014/main" id="{3A0C6852-C055-4128-A538-306180065F81}"/>
              </a:ext>
            </a:extLst>
          </p:cNvPr>
          <p:cNvPicPr>
            <a:picLocks noChangeAspect="1"/>
          </p:cNvPicPr>
          <p:nvPr/>
        </p:nvPicPr>
        <p:blipFill>
          <a:blip r:embed="rId2"/>
          <a:stretch>
            <a:fillRect/>
          </a:stretch>
        </p:blipFill>
        <p:spPr>
          <a:xfrm>
            <a:off x="3227454" y="2533929"/>
            <a:ext cx="4044060" cy="2611125"/>
          </a:xfrm>
          <a:prstGeom prst="rect">
            <a:avLst/>
          </a:prstGeom>
        </p:spPr>
      </p:pic>
      <p:sp>
        <p:nvSpPr>
          <p:cNvPr id="11" name="Content Placeholder 17">
            <a:extLst>
              <a:ext uri="{FF2B5EF4-FFF2-40B4-BE49-F238E27FC236}">
                <a16:creationId xmlns:a16="http://schemas.microsoft.com/office/drawing/2014/main" id="{65763090-0AFE-48D1-9E1C-8EEE12DE2138}"/>
              </a:ext>
            </a:extLst>
          </p:cNvPr>
          <p:cNvSpPr txBox="1">
            <a:spLocks/>
          </p:cNvSpPr>
          <p:nvPr/>
        </p:nvSpPr>
        <p:spPr>
          <a:xfrm>
            <a:off x="4338758" y="2121868"/>
            <a:ext cx="3514483" cy="51676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ru-RU" dirty="0">
                <a:latin typeface="Segoe UI" panose="020B0502040204020203" pitchFamily="34" charset="0"/>
                <a:cs typeface="Segoe UI" panose="020B0502040204020203" pitchFamily="34" charset="0"/>
              </a:rPr>
              <a:t>Без оптимизаций</a:t>
            </a:r>
            <a:endParaRPr lang="en-US" dirty="0">
              <a:latin typeface="Segoe UI" panose="020B0502040204020203" pitchFamily="34" charset="0"/>
              <a:cs typeface="Segoe UI" panose="020B0502040204020203" pitchFamily="34" charset="0"/>
            </a:endParaRPr>
          </a:p>
          <a:p>
            <a:pPr marL="0" lvl="0" indent="0">
              <a:spcAft>
                <a:spcPts val="600"/>
              </a:spcAft>
              <a:buNone/>
              <a:defRPr/>
            </a:pPr>
            <a:endParaRPr lang="en-US" dirty="0">
              <a:latin typeface="Segoe UI" panose="020B0502040204020203" pitchFamily="34" charset="0"/>
              <a:cs typeface="Segoe UI" panose="020B0502040204020203" pitchFamily="34" charset="0"/>
            </a:endParaRPr>
          </a:p>
          <a:p>
            <a:pPr marL="0" lvl="0" indent="0">
              <a:spcAft>
                <a:spcPts val="600"/>
              </a:spcAft>
              <a:buNone/>
              <a:defRPr/>
            </a:pPr>
            <a:endParaRPr lang="ru-RU" dirty="0">
              <a:latin typeface="Segoe UI" panose="020B0502040204020203" pitchFamily="34" charset="0"/>
              <a:cs typeface="Segoe UI" panose="020B0502040204020203" pitchFamily="34" charset="0"/>
            </a:endParaRPr>
          </a:p>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pic>
        <p:nvPicPr>
          <p:cNvPr id="7" name="Picture 6">
            <a:extLst>
              <a:ext uri="{FF2B5EF4-FFF2-40B4-BE49-F238E27FC236}">
                <a16:creationId xmlns:a16="http://schemas.microsoft.com/office/drawing/2014/main" id="{BF1D9A8B-AF56-4FFF-A743-4016EBDBD775}"/>
              </a:ext>
            </a:extLst>
          </p:cNvPr>
          <p:cNvPicPr>
            <a:picLocks noChangeAspect="1"/>
          </p:cNvPicPr>
          <p:nvPr/>
        </p:nvPicPr>
        <p:blipFill>
          <a:blip r:embed="rId3"/>
          <a:stretch>
            <a:fillRect/>
          </a:stretch>
        </p:blipFill>
        <p:spPr>
          <a:xfrm>
            <a:off x="7414062" y="2513682"/>
            <a:ext cx="4448753" cy="1830636"/>
          </a:xfrm>
          <a:prstGeom prst="rect">
            <a:avLst/>
          </a:prstGeom>
        </p:spPr>
      </p:pic>
      <p:sp>
        <p:nvSpPr>
          <p:cNvPr id="14" name="Content Placeholder 17">
            <a:extLst>
              <a:ext uri="{FF2B5EF4-FFF2-40B4-BE49-F238E27FC236}">
                <a16:creationId xmlns:a16="http://schemas.microsoft.com/office/drawing/2014/main" id="{3ED12750-DFC9-4221-9D33-482A1120037C}"/>
              </a:ext>
            </a:extLst>
          </p:cNvPr>
          <p:cNvSpPr txBox="1">
            <a:spLocks/>
          </p:cNvSpPr>
          <p:nvPr/>
        </p:nvSpPr>
        <p:spPr>
          <a:xfrm>
            <a:off x="8959526" y="2121868"/>
            <a:ext cx="3514483" cy="51676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ru-RU" dirty="0">
                <a:latin typeface="Segoe UI" panose="020B0502040204020203" pitchFamily="34" charset="0"/>
                <a:cs typeface="Segoe UI" panose="020B0502040204020203" pitchFamily="34" charset="0"/>
              </a:rPr>
              <a:t>С оптимизацией</a:t>
            </a:r>
            <a:endParaRPr lang="en-US" dirty="0">
              <a:latin typeface="Segoe UI" panose="020B0502040204020203" pitchFamily="34" charset="0"/>
              <a:cs typeface="Segoe UI" panose="020B0502040204020203" pitchFamily="34" charset="0"/>
            </a:endParaRPr>
          </a:p>
          <a:p>
            <a:pPr marL="0" lvl="0" indent="0">
              <a:spcAft>
                <a:spcPts val="600"/>
              </a:spcAft>
              <a:buNone/>
              <a:defRPr/>
            </a:pPr>
            <a:endParaRPr lang="en-US" dirty="0">
              <a:latin typeface="Segoe UI" panose="020B0502040204020203" pitchFamily="34" charset="0"/>
              <a:cs typeface="Segoe UI" panose="020B0502040204020203" pitchFamily="34" charset="0"/>
            </a:endParaRPr>
          </a:p>
          <a:p>
            <a:pPr marL="0" lvl="0" indent="0">
              <a:spcAft>
                <a:spcPts val="600"/>
              </a:spcAft>
              <a:buNone/>
              <a:defRPr/>
            </a:pPr>
            <a:endParaRPr lang="ru-RU" dirty="0">
              <a:latin typeface="Segoe UI" panose="020B0502040204020203" pitchFamily="34" charset="0"/>
              <a:cs typeface="Segoe UI" panose="020B0502040204020203" pitchFamily="34" charset="0"/>
            </a:endParaRPr>
          </a:p>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C43C8203-70CB-4B09-8F98-9D2ABE37334B}"/>
              </a:ext>
            </a:extLst>
          </p:cNvPr>
          <p:cNvSpPr txBox="1"/>
          <p:nvPr/>
        </p:nvSpPr>
        <p:spPr>
          <a:xfrm>
            <a:off x="728472" y="5658350"/>
            <a:ext cx="2362200" cy="369332"/>
          </a:xfrm>
          <a:prstGeom prst="rect">
            <a:avLst/>
          </a:prstGeom>
          <a:noFill/>
        </p:spPr>
        <p:txBody>
          <a:bodyPr wrap="square">
            <a:spAutoFit/>
          </a:bodyPr>
          <a:lstStyle/>
          <a:p>
            <a:r>
              <a:rPr lang="en-US" dirty="0">
                <a:hlinkClick r:id="rId4"/>
              </a:rPr>
              <a:t>https://godbolt.org/</a:t>
            </a:r>
            <a:r>
              <a:rPr lang="ru-RU" dirty="0"/>
              <a:t> </a:t>
            </a:r>
            <a:endParaRPr lang="en-US" dirty="0"/>
          </a:p>
        </p:txBody>
      </p:sp>
      <p:sp>
        <p:nvSpPr>
          <p:cNvPr id="17" name="Content Placeholder 17">
            <a:extLst>
              <a:ext uri="{FF2B5EF4-FFF2-40B4-BE49-F238E27FC236}">
                <a16:creationId xmlns:a16="http://schemas.microsoft.com/office/drawing/2014/main" id="{695645DD-F971-48BD-98B3-B5ACE8858363}"/>
              </a:ext>
            </a:extLst>
          </p:cNvPr>
          <p:cNvSpPr txBox="1">
            <a:spLocks/>
          </p:cNvSpPr>
          <p:nvPr/>
        </p:nvSpPr>
        <p:spPr>
          <a:xfrm>
            <a:off x="2998952" y="5719310"/>
            <a:ext cx="6352312" cy="77226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ru-RU" dirty="0">
                <a:latin typeface="Segoe UI" panose="020B0502040204020203" pitchFamily="34" charset="0"/>
                <a:cs typeface="Segoe UI" panose="020B0502040204020203" pitchFamily="34" charset="0"/>
              </a:rPr>
              <a:t>- Позволяет увидеть ассемблерный код различных компиляторов в читаемой форме</a:t>
            </a:r>
            <a:endParaRPr lang="en-US" dirty="0">
              <a:latin typeface="Segoe UI" panose="020B0502040204020203" pitchFamily="34" charset="0"/>
              <a:cs typeface="Segoe UI" panose="020B0502040204020203" pitchFamily="34" charset="0"/>
            </a:endParaRPr>
          </a:p>
          <a:p>
            <a:pPr marL="0" lvl="0" indent="0">
              <a:spcAft>
                <a:spcPts val="600"/>
              </a:spcAft>
              <a:buNone/>
              <a:defRPr/>
            </a:pPr>
            <a:endParaRPr lang="en-US" dirty="0">
              <a:latin typeface="Segoe UI" panose="020B0502040204020203" pitchFamily="34" charset="0"/>
              <a:cs typeface="Segoe UI" panose="020B0502040204020203" pitchFamily="34" charset="0"/>
            </a:endParaRPr>
          </a:p>
          <a:p>
            <a:pPr marL="0" lvl="0" indent="0">
              <a:spcAft>
                <a:spcPts val="600"/>
              </a:spcAft>
              <a:buNone/>
              <a:defRPr/>
            </a:pPr>
            <a:endParaRPr lang="ru-RU" dirty="0">
              <a:latin typeface="Segoe UI" panose="020B0502040204020203" pitchFamily="34" charset="0"/>
              <a:cs typeface="Segoe UI" panose="020B0502040204020203" pitchFamily="34" charset="0"/>
            </a:endParaRPr>
          </a:p>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3728158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a:latin typeface="Segoe UI Light" panose="020B0502040204020203" pitchFamily="34" charset="0"/>
                <a:cs typeface="Segoe UI Light" panose="020B0502040204020203" pitchFamily="34" charset="0"/>
              </a:rPr>
              <a:t>C++/C</a:t>
            </a:r>
          </a:p>
        </p:txBody>
      </p:sp>
      <p:sp>
        <p:nvSpPr>
          <p:cNvPr id="5" name="Content Placeholder 17">
            <a:extLst>
              <a:ext uri="{FF2B5EF4-FFF2-40B4-BE49-F238E27FC236}">
                <a16:creationId xmlns:a16="http://schemas.microsoft.com/office/drawing/2014/main" id="{5EDAE420-E33A-4860-A651-B1CC6748BB70}"/>
              </a:ext>
            </a:extLst>
          </p:cNvPr>
          <p:cNvSpPr txBox="1">
            <a:spLocks/>
          </p:cNvSpPr>
          <p:nvPr/>
        </p:nvSpPr>
        <p:spPr>
          <a:xfrm>
            <a:off x="597408" y="1496428"/>
            <a:ext cx="11095654" cy="386514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t>The purpose of a programming language is to help express ideas in code.</a:t>
            </a:r>
            <a:endParaRPr lang="ru-RU" dirty="0">
              <a:latin typeface="Segoe UI" panose="020B0502040204020203" pitchFamily="34" charset="0"/>
              <a:cs typeface="Segoe UI" panose="020B0502040204020203" pitchFamily="34" charset="0"/>
            </a:endParaRPr>
          </a:p>
          <a:p>
            <a:pPr marL="0" lvl="0" indent="0">
              <a:spcAft>
                <a:spcPts val="600"/>
              </a:spcAft>
              <a:buNone/>
              <a:defRPr/>
            </a:pPr>
            <a:r>
              <a:rPr lang="en-US" dirty="0"/>
              <a:t>In that, a programming language performs two related tasks: </a:t>
            </a:r>
            <a:br>
              <a:rPr lang="en-US" dirty="0"/>
            </a:br>
            <a:r>
              <a:rPr lang="en-US" dirty="0"/>
              <a:t>	it provides a vehicle for the programmer to specify actions to be executed by the machine, </a:t>
            </a:r>
            <a:br>
              <a:rPr lang="en-US" dirty="0"/>
            </a:br>
            <a:r>
              <a:rPr lang="en-US" dirty="0"/>
              <a:t>		 ‘‘close to the machine’’ </a:t>
            </a:r>
            <a:br>
              <a:rPr lang="en-US" dirty="0"/>
            </a:br>
            <a:r>
              <a:rPr lang="en-US" dirty="0"/>
              <a:t>		 direct mappings of built-in operations and types to hardware to provide efficient memory use and efficient low-level operations</a:t>
            </a:r>
            <a:br>
              <a:rPr lang="en-US" dirty="0"/>
            </a:br>
            <a:r>
              <a:rPr lang="en-US" dirty="0"/>
              <a:t>	it provides a set of concepts for the programmer to use when thinking about what can be done. </a:t>
            </a:r>
            <a:br>
              <a:rPr lang="en-US" dirty="0"/>
            </a:br>
            <a:r>
              <a:rPr lang="en-US" dirty="0"/>
              <a:t>		 ‘‘close to the problem to be solved’’ </a:t>
            </a:r>
            <a:br>
              <a:rPr lang="en-US" dirty="0"/>
            </a:br>
            <a:r>
              <a:rPr lang="en-US" dirty="0"/>
              <a:t>		 affordable and flexible abstraction mechanisms </a:t>
            </a:r>
          </a:p>
          <a:p>
            <a:pPr marL="0" lvl="0" indent="0">
              <a:spcAft>
                <a:spcPts val="600"/>
              </a:spcAft>
              <a:buNone/>
              <a:defRPr/>
            </a:pPr>
            <a:r>
              <a:rPr lang="en-US" dirty="0"/>
              <a:t>C++ is a language for developing and using elegant and efficient abstractions</a:t>
            </a:r>
          </a:p>
          <a:p>
            <a:pPr marL="0" lvl="0" indent="0">
              <a:spcAft>
                <a:spcPts val="600"/>
              </a:spcAft>
              <a:buNone/>
              <a:defRPr/>
            </a:pPr>
            <a:endParaRPr lang="en-US" dirty="0"/>
          </a:p>
        </p:txBody>
      </p:sp>
      <p:sp>
        <p:nvSpPr>
          <p:cNvPr id="7" name="TextBox 6">
            <a:extLst>
              <a:ext uri="{FF2B5EF4-FFF2-40B4-BE49-F238E27FC236}">
                <a16:creationId xmlns:a16="http://schemas.microsoft.com/office/drawing/2014/main" id="{2CB85D79-0E0F-47E9-830E-ADC3CDE5E77D}"/>
              </a:ext>
            </a:extLst>
          </p:cNvPr>
          <p:cNvSpPr txBox="1"/>
          <p:nvPr/>
        </p:nvSpPr>
        <p:spPr>
          <a:xfrm>
            <a:off x="597408" y="5891972"/>
            <a:ext cx="7577328" cy="369332"/>
          </a:xfrm>
          <a:prstGeom prst="rect">
            <a:avLst/>
          </a:prstGeom>
          <a:noFill/>
        </p:spPr>
        <p:txBody>
          <a:bodyPr wrap="square">
            <a:spAutoFit/>
          </a:bodyPr>
          <a:lstStyle/>
          <a:p>
            <a:r>
              <a:rPr lang="en-US" dirty="0">
                <a:hlinkClick r:id="rId2"/>
              </a:rPr>
              <a:t>The C++ Programming Language, 4th Edition, Bjarne </a:t>
            </a:r>
            <a:r>
              <a:rPr lang="en-US" dirty="0" err="1">
                <a:hlinkClick r:id="rId2"/>
              </a:rPr>
              <a:t>Stroustrup</a:t>
            </a:r>
            <a:r>
              <a:rPr lang="en-US" dirty="0">
                <a:hlinkClick r:id="rId2"/>
              </a:rPr>
              <a:t> Book</a:t>
            </a:r>
            <a:r>
              <a:rPr lang="en-US" dirty="0"/>
              <a:t> </a:t>
            </a:r>
          </a:p>
        </p:txBody>
      </p:sp>
    </p:spTree>
    <p:extLst>
      <p:ext uri="{BB962C8B-B14F-4D97-AF65-F5344CB8AC3E}">
        <p14:creationId xmlns:p14="http://schemas.microsoft.com/office/powerpoint/2010/main" val="14388366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a:latin typeface="Segoe UI Light" panose="020B0502040204020203" pitchFamily="34" charset="0"/>
                <a:cs typeface="Segoe UI Light" panose="020B0502040204020203" pitchFamily="34" charset="0"/>
              </a:rPr>
              <a:t>C++/C</a:t>
            </a:r>
          </a:p>
        </p:txBody>
      </p:sp>
      <p:sp>
        <p:nvSpPr>
          <p:cNvPr id="5" name="Content Placeholder 17">
            <a:extLst>
              <a:ext uri="{FF2B5EF4-FFF2-40B4-BE49-F238E27FC236}">
                <a16:creationId xmlns:a16="http://schemas.microsoft.com/office/drawing/2014/main" id="{5EDAE420-E33A-4860-A651-B1CC6748BB70}"/>
              </a:ext>
            </a:extLst>
          </p:cNvPr>
          <p:cNvSpPr txBox="1">
            <a:spLocks/>
          </p:cNvSpPr>
          <p:nvPr/>
        </p:nvSpPr>
        <p:spPr>
          <a:xfrm>
            <a:off x="615696" y="1493241"/>
            <a:ext cx="11095654" cy="386514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t>The general ideals for design and programming can be expressed simply:</a:t>
            </a:r>
            <a:br>
              <a:rPr lang="en-US" dirty="0"/>
            </a:br>
            <a:r>
              <a:rPr lang="en-US" dirty="0"/>
              <a:t>	Express ideas directly in code. </a:t>
            </a:r>
            <a:br>
              <a:rPr lang="en-US" dirty="0"/>
            </a:br>
            <a:r>
              <a:rPr lang="en-US" dirty="0"/>
              <a:t>	Express independent ideas independently in code. </a:t>
            </a:r>
            <a:br>
              <a:rPr lang="en-US" dirty="0"/>
            </a:br>
            <a:r>
              <a:rPr lang="en-US" dirty="0"/>
              <a:t>	Represent relationships among ideas directly in code. </a:t>
            </a:r>
            <a:br>
              <a:rPr lang="en-US" dirty="0"/>
            </a:br>
            <a:r>
              <a:rPr lang="en-US" dirty="0"/>
              <a:t>	Combine ideas expressed in code freely – where and only where combinations make sense. </a:t>
            </a:r>
            <a:br>
              <a:rPr lang="en-US" dirty="0"/>
            </a:br>
            <a:r>
              <a:rPr lang="en-US" dirty="0"/>
              <a:t>	Express simple ideas simply</a:t>
            </a:r>
          </a:p>
        </p:txBody>
      </p:sp>
      <p:sp>
        <p:nvSpPr>
          <p:cNvPr id="7" name="TextBox 6">
            <a:extLst>
              <a:ext uri="{FF2B5EF4-FFF2-40B4-BE49-F238E27FC236}">
                <a16:creationId xmlns:a16="http://schemas.microsoft.com/office/drawing/2014/main" id="{2CB85D79-0E0F-47E9-830E-ADC3CDE5E77D}"/>
              </a:ext>
            </a:extLst>
          </p:cNvPr>
          <p:cNvSpPr txBox="1"/>
          <p:nvPr/>
        </p:nvSpPr>
        <p:spPr>
          <a:xfrm>
            <a:off x="597408" y="5891972"/>
            <a:ext cx="7577328" cy="369332"/>
          </a:xfrm>
          <a:prstGeom prst="rect">
            <a:avLst/>
          </a:prstGeom>
          <a:noFill/>
        </p:spPr>
        <p:txBody>
          <a:bodyPr wrap="square">
            <a:spAutoFit/>
          </a:bodyPr>
          <a:lstStyle/>
          <a:p>
            <a:r>
              <a:rPr lang="en-US" dirty="0">
                <a:hlinkClick r:id="rId2"/>
              </a:rPr>
              <a:t>The C++ Programming Language, 4th Edition, Bjarne </a:t>
            </a:r>
            <a:r>
              <a:rPr lang="en-US" dirty="0" err="1">
                <a:hlinkClick r:id="rId2"/>
              </a:rPr>
              <a:t>Stroustrup</a:t>
            </a:r>
            <a:r>
              <a:rPr lang="en-US" dirty="0">
                <a:hlinkClick r:id="rId2"/>
              </a:rPr>
              <a:t> Book</a:t>
            </a:r>
            <a:r>
              <a:rPr lang="en-US" dirty="0"/>
              <a:t> </a:t>
            </a:r>
          </a:p>
        </p:txBody>
      </p:sp>
    </p:spTree>
    <p:extLst>
      <p:ext uri="{BB962C8B-B14F-4D97-AF65-F5344CB8AC3E}">
        <p14:creationId xmlns:p14="http://schemas.microsoft.com/office/powerpoint/2010/main" val="11166927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a:latin typeface="Segoe UI Light" panose="020B0502040204020203" pitchFamily="34" charset="0"/>
                <a:cs typeface="Segoe UI Light" panose="020B0502040204020203" pitchFamily="34" charset="0"/>
              </a:rPr>
              <a:t>C++/C</a:t>
            </a:r>
          </a:p>
        </p:txBody>
      </p:sp>
      <p:sp>
        <p:nvSpPr>
          <p:cNvPr id="5" name="Content Placeholder 17">
            <a:extLst>
              <a:ext uri="{FF2B5EF4-FFF2-40B4-BE49-F238E27FC236}">
                <a16:creationId xmlns:a16="http://schemas.microsoft.com/office/drawing/2014/main" id="{5EDAE420-E33A-4860-A651-B1CC6748BB70}"/>
              </a:ext>
            </a:extLst>
          </p:cNvPr>
          <p:cNvSpPr txBox="1">
            <a:spLocks/>
          </p:cNvSpPr>
          <p:nvPr/>
        </p:nvSpPr>
        <p:spPr>
          <a:xfrm>
            <a:off x="615696" y="1493241"/>
            <a:ext cx="11095654" cy="386514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t>The C++ language features most directly support four programming styles: </a:t>
            </a:r>
            <a:br>
              <a:rPr lang="en-US" dirty="0"/>
            </a:br>
            <a:r>
              <a:rPr lang="en-US" dirty="0"/>
              <a:t>	Procedural programming</a:t>
            </a:r>
            <a:br>
              <a:rPr lang="en-US" dirty="0"/>
            </a:br>
            <a:r>
              <a:rPr lang="en-US" dirty="0"/>
              <a:t>		This is programming focused on processing and the design of suitable data structures.</a:t>
            </a:r>
            <a:br>
              <a:rPr lang="en-US" dirty="0"/>
            </a:br>
            <a:r>
              <a:rPr lang="en-US" dirty="0"/>
              <a:t>		It is what C was designed to support</a:t>
            </a:r>
            <a:br>
              <a:rPr lang="en-US" dirty="0"/>
            </a:br>
            <a:r>
              <a:rPr lang="en-US" dirty="0"/>
              <a:t>	Data abstraction </a:t>
            </a:r>
            <a:br>
              <a:rPr lang="en-US" dirty="0"/>
            </a:br>
            <a:r>
              <a:rPr lang="en-US" dirty="0"/>
              <a:t>		This is programming focused on the design of interfaces, hiding implementation details in general and representations in particular.</a:t>
            </a:r>
            <a:br>
              <a:rPr lang="en-US" dirty="0"/>
            </a:br>
            <a:r>
              <a:rPr lang="en-US" dirty="0"/>
              <a:t>	Object-oriented programming</a:t>
            </a:r>
            <a:br>
              <a:rPr lang="en-US" dirty="0"/>
            </a:br>
            <a:r>
              <a:rPr lang="en-US" dirty="0"/>
              <a:t>		This is programming focused on the design, implementation, and use of class hierarchies.</a:t>
            </a:r>
            <a:br>
              <a:rPr lang="en-US" dirty="0"/>
            </a:br>
            <a:r>
              <a:rPr lang="en-US" dirty="0"/>
              <a:t>	Generic programming</a:t>
            </a:r>
            <a:br>
              <a:rPr lang="en-US" dirty="0"/>
            </a:br>
            <a:r>
              <a:rPr lang="en-US" dirty="0"/>
              <a:t>		This is programming focused on the design, implementation, and use of general algorithms. </a:t>
            </a:r>
            <a:br>
              <a:rPr lang="en-US" dirty="0"/>
            </a:br>
            <a:r>
              <a:rPr lang="en-US" dirty="0"/>
              <a:t>		Here, ‘‘general’’ means that an algorithm can be designed to accept a wide variety of types</a:t>
            </a:r>
          </a:p>
        </p:txBody>
      </p:sp>
      <p:sp>
        <p:nvSpPr>
          <p:cNvPr id="7" name="TextBox 6">
            <a:extLst>
              <a:ext uri="{FF2B5EF4-FFF2-40B4-BE49-F238E27FC236}">
                <a16:creationId xmlns:a16="http://schemas.microsoft.com/office/drawing/2014/main" id="{2CB85D79-0E0F-47E9-830E-ADC3CDE5E77D}"/>
              </a:ext>
            </a:extLst>
          </p:cNvPr>
          <p:cNvSpPr txBox="1"/>
          <p:nvPr/>
        </p:nvSpPr>
        <p:spPr>
          <a:xfrm>
            <a:off x="597408" y="5891972"/>
            <a:ext cx="7577328" cy="369332"/>
          </a:xfrm>
          <a:prstGeom prst="rect">
            <a:avLst/>
          </a:prstGeom>
          <a:noFill/>
        </p:spPr>
        <p:txBody>
          <a:bodyPr wrap="square">
            <a:spAutoFit/>
          </a:bodyPr>
          <a:lstStyle/>
          <a:p>
            <a:r>
              <a:rPr lang="en-US" dirty="0">
                <a:hlinkClick r:id="rId2"/>
              </a:rPr>
              <a:t>The C++ Programming Language, 4th Edition, Bjarne </a:t>
            </a:r>
            <a:r>
              <a:rPr lang="en-US" dirty="0" err="1">
                <a:hlinkClick r:id="rId2"/>
              </a:rPr>
              <a:t>Stroustrup</a:t>
            </a:r>
            <a:r>
              <a:rPr lang="en-US" dirty="0">
                <a:hlinkClick r:id="rId2"/>
              </a:rPr>
              <a:t> Book</a:t>
            </a:r>
            <a:r>
              <a:rPr lang="en-US" dirty="0"/>
              <a:t> </a:t>
            </a:r>
          </a:p>
        </p:txBody>
      </p:sp>
    </p:spTree>
    <p:extLst>
      <p:ext uri="{BB962C8B-B14F-4D97-AF65-F5344CB8AC3E}">
        <p14:creationId xmlns:p14="http://schemas.microsoft.com/office/powerpoint/2010/main" val="18337132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a:latin typeface="Segoe UI Light" panose="020B0502040204020203" pitchFamily="34" charset="0"/>
                <a:cs typeface="Segoe UI Light" panose="020B0502040204020203" pitchFamily="34" charset="0"/>
              </a:rPr>
              <a:t>C++/C</a:t>
            </a:r>
          </a:p>
        </p:txBody>
      </p:sp>
      <p:sp>
        <p:nvSpPr>
          <p:cNvPr id="5" name="Content Placeholder 17">
            <a:extLst>
              <a:ext uri="{FF2B5EF4-FFF2-40B4-BE49-F238E27FC236}">
                <a16:creationId xmlns:a16="http://schemas.microsoft.com/office/drawing/2014/main" id="{5EDAE420-E33A-4860-A651-B1CC6748BB70}"/>
              </a:ext>
            </a:extLst>
          </p:cNvPr>
          <p:cNvSpPr txBox="1">
            <a:spLocks/>
          </p:cNvSpPr>
          <p:nvPr/>
        </p:nvSpPr>
        <p:spPr>
          <a:xfrm>
            <a:off x="615696" y="1493242"/>
            <a:ext cx="11095654" cy="916806"/>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sz="4800" dirty="0"/>
              <a:t>Procedural programming</a:t>
            </a:r>
          </a:p>
          <a:p>
            <a:pPr marL="0" lvl="0" indent="0">
              <a:spcAft>
                <a:spcPts val="600"/>
              </a:spcAft>
              <a:buNone/>
              <a:defRPr/>
            </a:pPr>
            <a:r>
              <a:rPr lang="en-US" sz="4800" dirty="0"/>
              <a:t>	</a:t>
            </a:r>
            <a:r>
              <a:rPr lang="ru-RU" sz="4800" dirty="0"/>
              <a:t>Основной строительный блок – функции</a:t>
            </a:r>
            <a:br>
              <a:rPr lang="ru-RU" dirty="0"/>
            </a:br>
            <a:r>
              <a:rPr lang="ru-RU" dirty="0"/>
              <a:t>	</a:t>
            </a:r>
            <a:endParaRPr lang="en-US" dirty="0"/>
          </a:p>
          <a:p>
            <a:pPr marL="0" lvl="0" indent="0">
              <a:spcAft>
                <a:spcPts val="600"/>
              </a:spcAft>
              <a:buNone/>
              <a:defRPr/>
            </a:pPr>
            <a:r>
              <a:rPr lang="en-US" dirty="0"/>
              <a:t>	</a:t>
            </a:r>
          </a:p>
        </p:txBody>
      </p:sp>
      <p:sp>
        <p:nvSpPr>
          <p:cNvPr id="6" name="TextBox 5">
            <a:extLst>
              <a:ext uri="{FF2B5EF4-FFF2-40B4-BE49-F238E27FC236}">
                <a16:creationId xmlns:a16="http://schemas.microsoft.com/office/drawing/2014/main" id="{05BB6365-93E1-4CF9-9013-E6C505EFE4F9}"/>
              </a:ext>
            </a:extLst>
          </p:cNvPr>
          <p:cNvSpPr txBox="1"/>
          <p:nvPr/>
        </p:nvSpPr>
        <p:spPr>
          <a:xfrm>
            <a:off x="521207" y="6040612"/>
            <a:ext cx="6096000" cy="369332"/>
          </a:xfrm>
          <a:prstGeom prst="rect">
            <a:avLst/>
          </a:prstGeom>
          <a:noFill/>
        </p:spPr>
        <p:txBody>
          <a:bodyPr wrap="square">
            <a:spAutoFit/>
          </a:bodyPr>
          <a:lstStyle/>
          <a:p>
            <a:r>
              <a:rPr lang="en-US" dirty="0">
                <a:hlinkClick r:id="rId2"/>
              </a:rPr>
              <a:t>https://github.com/torvalds/linux</a:t>
            </a:r>
            <a:r>
              <a:rPr lang="en-US" dirty="0"/>
              <a:t> </a:t>
            </a:r>
          </a:p>
        </p:txBody>
      </p:sp>
      <p:sp>
        <p:nvSpPr>
          <p:cNvPr id="9" name="TextBox 8">
            <a:extLst>
              <a:ext uri="{FF2B5EF4-FFF2-40B4-BE49-F238E27FC236}">
                <a16:creationId xmlns:a16="http://schemas.microsoft.com/office/drawing/2014/main" id="{44E37405-EE3A-4F45-9518-336E66727226}"/>
              </a:ext>
            </a:extLst>
          </p:cNvPr>
          <p:cNvSpPr txBox="1"/>
          <p:nvPr/>
        </p:nvSpPr>
        <p:spPr>
          <a:xfrm>
            <a:off x="615696" y="2490367"/>
            <a:ext cx="6883802" cy="646331"/>
          </a:xfrm>
          <a:prstGeom prst="rect">
            <a:avLst/>
          </a:prstGeom>
          <a:noFill/>
        </p:spPr>
        <p:txBody>
          <a:bodyPr wrap="square">
            <a:spAutoFit/>
          </a:bodyPr>
          <a:lstStyle/>
          <a:p>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aes_expandkey</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crypto_aes_ctx</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ctx</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u8* </a:t>
            </a:r>
            <a:r>
              <a:rPr lang="en-US" sz="1200" dirty="0" err="1">
                <a:solidFill>
                  <a:srgbClr val="808080"/>
                </a:solidFill>
                <a:latin typeface="Cascadia Mono" panose="020B0609020000020004" pitchFamily="49" charset="0"/>
              </a:rPr>
              <a:t>in_key</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unsigned</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key_len</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endParaRPr lang="en-US" sz="1200" dirty="0"/>
          </a:p>
        </p:txBody>
      </p:sp>
    </p:spTree>
    <p:extLst>
      <p:ext uri="{BB962C8B-B14F-4D97-AF65-F5344CB8AC3E}">
        <p14:creationId xmlns:p14="http://schemas.microsoft.com/office/powerpoint/2010/main" val="22516920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a:latin typeface="Segoe UI Light" panose="020B0502040204020203" pitchFamily="34" charset="0"/>
                <a:cs typeface="Segoe UI Light" panose="020B0502040204020203" pitchFamily="34" charset="0"/>
              </a:rPr>
              <a:t>C++/C</a:t>
            </a:r>
          </a:p>
        </p:txBody>
      </p:sp>
      <p:sp>
        <p:nvSpPr>
          <p:cNvPr id="5" name="Content Placeholder 17">
            <a:extLst>
              <a:ext uri="{FF2B5EF4-FFF2-40B4-BE49-F238E27FC236}">
                <a16:creationId xmlns:a16="http://schemas.microsoft.com/office/drawing/2014/main" id="{5EDAE420-E33A-4860-A651-B1CC6748BB70}"/>
              </a:ext>
            </a:extLst>
          </p:cNvPr>
          <p:cNvSpPr txBox="1">
            <a:spLocks/>
          </p:cNvSpPr>
          <p:nvPr/>
        </p:nvSpPr>
        <p:spPr>
          <a:xfrm>
            <a:off x="615696" y="1493242"/>
            <a:ext cx="11095654" cy="916806"/>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sz="4800" dirty="0"/>
              <a:t>Object oriented programming</a:t>
            </a:r>
          </a:p>
          <a:p>
            <a:pPr marL="0" lvl="0" indent="0">
              <a:spcAft>
                <a:spcPts val="600"/>
              </a:spcAft>
              <a:buNone/>
              <a:defRPr/>
            </a:pPr>
            <a:r>
              <a:rPr lang="en-US" sz="4800" dirty="0"/>
              <a:t>	</a:t>
            </a:r>
            <a:r>
              <a:rPr lang="ru-RU" sz="4800" dirty="0"/>
              <a:t>Основной строительный блок – классы</a:t>
            </a:r>
            <a:br>
              <a:rPr lang="ru-RU" dirty="0"/>
            </a:br>
            <a:r>
              <a:rPr lang="ru-RU" dirty="0"/>
              <a:t>	</a:t>
            </a:r>
            <a:endParaRPr lang="en-US" dirty="0"/>
          </a:p>
          <a:p>
            <a:pPr marL="0" lvl="0" indent="0">
              <a:spcAft>
                <a:spcPts val="600"/>
              </a:spcAft>
              <a:buNone/>
              <a:defRPr/>
            </a:pPr>
            <a:r>
              <a:rPr lang="en-US" dirty="0"/>
              <a:t>	</a:t>
            </a:r>
          </a:p>
        </p:txBody>
      </p:sp>
      <p:sp>
        <p:nvSpPr>
          <p:cNvPr id="6" name="TextBox 5">
            <a:extLst>
              <a:ext uri="{FF2B5EF4-FFF2-40B4-BE49-F238E27FC236}">
                <a16:creationId xmlns:a16="http://schemas.microsoft.com/office/drawing/2014/main" id="{05BB6365-93E1-4CF9-9013-E6C505EFE4F9}"/>
              </a:ext>
            </a:extLst>
          </p:cNvPr>
          <p:cNvSpPr txBox="1"/>
          <p:nvPr/>
        </p:nvSpPr>
        <p:spPr>
          <a:xfrm>
            <a:off x="521207" y="6040612"/>
            <a:ext cx="6096000" cy="369332"/>
          </a:xfrm>
          <a:prstGeom prst="rect">
            <a:avLst/>
          </a:prstGeom>
          <a:noFill/>
        </p:spPr>
        <p:txBody>
          <a:bodyPr wrap="square">
            <a:spAutoFit/>
          </a:bodyPr>
          <a:lstStyle/>
          <a:p>
            <a:r>
              <a:rPr lang="en-US" dirty="0">
                <a:hlinkClick r:id="rId2"/>
              </a:rPr>
              <a:t>https://github.com/torvalds/linux</a:t>
            </a:r>
            <a:r>
              <a:rPr lang="en-US" dirty="0"/>
              <a:t> </a:t>
            </a:r>
          </a:p>
        </p:txBody>
      </p:sp>
      <p:sp>
        <p:nvSpPr>
          <p:cNvPr id="7" name="TextBox 6">
            <a:extLst>
              <a:ext uri="{FF2B5EF4-FFF2-40B4-BE49-F238E27FC236}">
                <a16:creationId xmlns:a16="http://schemas.microsoft.com/office/drawing/2014/main" id="{B26317F0-6F6B-4693-B606-3E469F3B6B5A}"/>
              </a:ext>
            </a:extLst>
          </p:cNvPr>
          <p:cNvSpPr txBox="1"/>
          <p:nvPr/>
        </p:nvSpPr>
        <p:spPr>
          <a:xfrm>
            <a:off x="6096000" y="1905506"/>
            <a:ext cx="6096000" cy="3046988"/>
          </a:xfrm>
          <a:prstGeom prst="rect">
            <a:avLst/>
          </a:prstGeom>
          <a:noFill/>
        </p:spPr>
        <p:txBody>
          <a:bodyPr wrap="square">
            <a:spAutoFit/>
          </a:bodyPr>
          <a:lstStyle/>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BlockAllocator</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FreeMemBlock</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uint64_t</a:t>
            </a:r>
            <a:r>
              <a:rPr lang="en-US" sz="1200" dirty="0">
                <a:solidFill>
                  <a:srgbClr val="000000"/>
                </a:solidFill>
                <a:latin typeface="Cascadia Mono" panose="020B0609020000020004" pitchFamily="49" charset="0"/>
              </a:rPr>
              <a:t> pos;</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uint64_t</a:t>
            </a:r>
            <a:r>
              <a:rPr lang="en-US" sz="1200" dirty="0">
                <a:solidFill>
                  <a:srgbClr val="000000"/>
                </a:solidFill>
                <a:latin typeface="Cascadia Mono" panose="020B0609020000020004" pitchFamily="49" charset="0"/>
              </a:rPr>
              <a:t> size;</a:t>
            </a:r>
          </a:p>
          <a:p>
            <a:r>
              <a:rPr lang="en-US" sz="1200" dirty="0">
                <a:solidFill>
                  <a:srgbClr val="000000"/>
                </a:solidFill>
                <a:latin typeface="Cascadia Mono" panose="020B0609020000020004" pitchFamily="49" charset="0"/>
              </a:rPr>
              <a:t>    };</a:t>
            </a:r>
          </a:p>
          <a:p>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BlockAllocator</a:t>
            </a:r>
            <a:r>
              <a:rPr lang="en-US" sz="1200" dirty="0">
                <a:solidFill>
                  <a:srgbClr val="000000"/>
                </a:solidFill>
                <a:latin typeface="Cascadia Mono" panose="020B0609020000020004" pitchFamily="49" charset="0"/>
              </a:rPr>
              <a:t>(</a:t>
            </a:r>
            <a:r>
              <a:rPr lang="en-US" sz="1200" dirty="0">
                <a:solidFill>
                  <a:srgbClr val="2B91AF"/>
                </a:solidFill>
                <a:latin typeface="Cascadia Mono" panose="020B0609020000020004" pitchFamily="49" charset="0"/>
              </a:rPr>
              <a:t>uint64_t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size</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bool</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AllocateBlocks</a:t>
            </a:r>
            <a:r>
              <a:rPr lang="en-US" sz="1200" dirty="0">
                <a:solidFill>
                  <a:srgbClr val="000000"/>
                </a:solidFill>
                <a:latin typeface="Cascadia Mono" panose="020B0609020000020004" pitchFamily="49" charset="0"/>
              </a:rPr>
              <a:t>(</a:t>
            </a:r>
            <a:r>
              <a:rPr lang="en-US" sz="1200" dirty="0">
                <a:solidFill>
                  <a:srgbClr val="2B91AF"/>
                </a:solidFill>
                <a:latin typeface="Cascadia Mono" panose="020B0609020000020004" pitchFamily="49" charset="0"/>
              </a:rPr>
              <a:t>uint64_t</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numOfBlocks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uint64_t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output</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FreeBlocks</a:t>
            </a:r>
            <a:r>
              <a:rPr lang="en-US" sz="1200" dirty="0">
                <a:solidFill>
                  <a:srgbClr val="000000"/>
                </a:solidFill>
                <a:latin typeface="Cascadia Mono" panose="020B0609020000020004" pitchFamily="49" charset="0"/>
              </a:rPr>
              <a:t>(</a:t>
            </a:r>
            <a:r>
              <a:rPr lang="en-US" sz="1200" dirty="0">
                <a:solidFill>
                  <a:srgbClr val="2B91AF"/>
                </a:solidFill>
                <a:latin typeface="Cascadia Mono" panose="020B0609020000020004" pitchFamily="49" charset="0"/>
              </a:rPr>
              <a:t>uint64_t</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blockStart</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uint64_t</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numOfBlocks</a:t>
            </a:r>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private</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a:solidFill>
                  <a:srgbClr val="2B91AF"/>
                </a:solidFill>
                <a:latin typeface="Cascadia Mono" panose="020B0609020000020004" pitchFamily="49" charset="0"/>
              </a:rPr>
              <a:t>deque</a:t>
            </a:r>
            <a:r>
              <a:rPr lang="en-US" sz="1200" dirty="0">
                <a:solidFill>
                  <a:srgbClr val="000000"/>
                </a:solidFill>
                <a:latin typeface="Cascadia Mono" panose="020B0609020000020004" pitchFamily="49" charset="0"/>
              </a:rPr>
              <a:t>&lt;</a:t>
            </a:r>
            <a:r>
              <a:rPr lang="en-US" sz="1200" dirty="0" err="1">
                <a:solidFill>
                  <a:srgbClr val="2B91AF"/>
                </a:solidFill>
                <a:latin typeface="Cascadia Mono" panose="020B0609020000020004" pitchFamily="49" charset="0"/>
              </a:rPr>
              <a:t>FreeMemBlock</a:t>
            </a:r>
            <a:r>
              <a:rPr lang="en-US" sz="1200" dirty="0">
                <a:solidFill>
                  <a:srgbClr val="000000"/>
                </a:solidFill>
                <a:latin typeface="Cascadia Mono" panose="020B0609020000020004" pitchFamily="49" charset="0"/>
              </a:rPr>
              <a:t>&gt; </a:t>
            </a:r>
            <a:r>
              <a:rPr lang="en-US" sz="1200" dirty="0" err="1">
                <a:solidFill>
                  <a:srgbClr val="000000"/>
                </a:solidFill>
                <a:latin typeface="Cascadia Mono" panose="020B0609020000020004" pitchFamily="49" charset="0"/>
              </a:rPr>
              <a:t>mFreeSpace</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endParaRPr lang="en-US" sz="1200" dirty="0"/>
          </a:p>
        </p:txBody>
      </p:sp>
      <p:sp>
        <p:nvSpPr>
          <p:cNvPr id="10" name="TextBox 9">
            <a:extLst>
              <a:ext uri="{FF2B5EF4-FFF2-40B4-BE49-F238E27FC236}">
                <a16:creationId xmlns:a16="http://schemas.microsoft.com/office/drawing/2014/main" id="{0C797BD5-F9AA-46FD-8B6B-FD6500C6EE27}"/>
              </a:ext>
            </a:extLst>
          </p:cNvPr>
          <p:cNvSpPr txBox="1"/>
          <p:nvPr/>
        </p:nvSpPr>
        <p:spPr>
          <a:xfrm>
            <a:off x="307848" y="2594877"/>
            <a:ext cx="6096000" cy="646331"/>
          </a:xfrm>
          <a:prstGeom prst="rect">
            <a:avLst/>
          </a:prstGeom>
          <a:noFill/>
        </p:spPr>
        <p:txBody>
          <a:bodyPr wrap="square">
            <a:spAutoFit/>
          </a:bodyPr>
          <a:lstStyle/>
          <a:p>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aes_expandkey</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crypto_aes_ctx</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ctx</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u8* </a:t>
            </a:r>
            <a:r>
              <a:rPr lang="en-US" sz="1200" dirty="0" err="1">
                <a:solidFill>
                  <a:srgbClr val="808080"/>
                </a:solidFill>
                <a:latin typeface="Cascadia Mono" panose="020B0609020000020004" pitchFamily="49" charset="0"/>
              </a:rPr>
              <a:t>in_key</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unsigned</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key_len</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endParaRPr lang="en-US" sz="1200" dirty="0"/>
          </a:p>
        </p:txBody>
      </p:sp>
    </p:spTree>
    <p:extLst>
      <p:ext uri="{BB962C8B-B14F-4D97-AF65-F5344CB8AC3E}">
        <p14:creationId xmlns:p14="http://schemas.microsoft.com/office/powerpoint/2010/main" val="34501807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a:latin typeface="Segoe UI Light" panose="020B0502040204020203" pitchFamily="34" charset="0"/>
                <a:cs typeface="Segoe UI Light" panose="020B0502040204020203" pitchFamily="34" charset="0"/>
              </a:rPr>
              <a:t>C++/C</a:t>
            </a:r>
          </a:p>
        </p:txBody>
      </p:sp>
      <p:sp>
        <p:nvSpPr>
          <p:cNvPr id="5" name="Content Placeholder 17">
            <a:extLst>
              <a:ext uri="{FF2B5EF4-FFF2-40B4-BE49-F238E27FC236}">
                <a16:creationId xmlns:a16="http://schemas.microsoft.com/office/drawing/2014/main" id="{5EDAE420-E33A-4860-A651-B1CC6748BB70}"/>
              </a:ext>
            </a:extLst>
          </p:cNvPr>
          <p:cNvSpPr txBox="1">
            <a:spLocks/>
          </p:cNvSpPr>
          <p:nvPr/>
        </p:nvSpPr>
        <p:spPr>
          <a:xfrm>
            <a:off x="615696" y="1493242"/>
            <a:ext cx="11095654" cy="916806"/>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sz="4800" dirty="0"/>
              <a:t>Generic programming</a:t>
            </a:r>
          </a:p>
          <a:p>
            <a:pPr marL="0" lvl="0" indent="0">
              <a:spcAft>
                <a:spcPts val="600"/>
              </a:spcAft>
              <a:buNone/>
              <a:defRPr/>
            </a:pPr>
            <a:r>
              <a:rPr lang="en-US" sz="4800" dirty="0"/>
              <a:t>	</a:t>
            </a:r>
            <a:r>
              <a:rPr lang="ru-RU" sz="4800" dirty="0"/>
              <a:t>Основной строительный блок – темплейты</a:t>
            </a:r>
            <a:br>
              <a:rPr lang="ru-RU" dirty="0"/>
            </a:br>
            <a:r>
              <a:rPr lang="ru-RU" dirty="0"/>
              <a:t>	</a:t>
            </a:r>
            <a:endParaRPr lang="en-US" dirty="0"/>
          </a:p>
          <a:p>
            <a:pPr marL="0" lvl="0" indent="0">
              <a:spcAft>
                <a:spcPts val="600"/>
              </a:spcAft>
              <a:buNone/>
              <a:defRPr/>
            </a:pPr>
            <a:r>
              <a:rPr lang="en-US" dirty="0"/>
              <a:t>	</a:t>
            </a:r>
          </a:p>
        </p:txBody>
      </p:sp>
      <p:sp>
        <p:nvSpPr>
          <p:cNvPr id="6" name="TextBox 5">
            <a:extLst>
              <a:ext uri="{FF2B5EF4-FFF2-40B4-BE49-F238E27FC236}">
                <a16:creationId xmlns:a16="http://schemas.microsoft.com/office/drawing/2014/main" id="{05BB6365-93E1-4CF9-9013-E6C505EFE4F9}"/>
              </a:ext>
            </a:extLst>
          </p:cNvPr>
          <p:cNvSpPr txBox="1"/>
          <p:nvPr/>
        </p:nvSpPr>
        <p:spPr>
          <a:xfrm>
            <a:off x="521207" y="6040612"/>
            <a:ext cx="6096000" cy="369332"/>
          </a:xfrm>
          <a:prstGeom prst="rect">
            <a:avLst/>
          </a:prstGeom>
          <a:noFill/>
        </p:spPr>
        <p:txBody>
          <a:bodyPr wrap="square">
            <a:spAutoFit/>
          </a:bodyPr>
          <a:lstStyle/>
          <a:p>
            <a:r>
              <a:rPr lang="en-US" dirty="0">
                <a:hlinkClick r:id="rId2"/>
              </a:rPr>
              <a:t>https://github.com/torvalds/linux</a:t>
            </a:r>
            <a:r>
              <a:rPr lang="en-US" dirty="0"/>
              <a:t> </a:t>
            </a:r>
          </a:p>
        </p:txBody>
      </p:sp>
      <p:sp>
        <p:nvSpPr>
          <p:cNvPr id="9" name="TextBox 8">
            <a:extLst>
              <a:ext uri="{FF2B5EF4-FFF2-40B4-BE49-F238E27FC236}">
                <a16:creationId xmlns:a16="http://schemas.microsoft.com/office/drawing/2014/main" id="{CC43F524-4ABD-46DC-BE25-F3A43975947C}"/>
              </a:ext>
            </a:extLst>
          </p:cNvPr>
          <p:cNvSpPr txBox="1"/>
          <p:nvPr/>
        </p:nvSpPr>
        <p:spPr>
          <a:xfrm>
            <a:off x="907311" y="2626418"/>
            <a:ext cx="9569303" cy="276999"/>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qsort</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ptr</a:t>
            </a:r>
            <a:r>
              <a:rPr lang="en-US" sz="1200" dirty="0">
                <a:solidFill>
                  <a:srgbClr val="000000"/>
                </a:solidFill>
                <a:latin typeface="Cascadia Mono" panose="020B0609020000020004" pitchFamily="49" charset="0"/>
              </a:rPr>
              <a:t>, std::</a:t>
            </a:r>
            <a:r>
              <a:rPr lang="en-US" sz="1200" dirty="0" err="1">
                <a:solidFill>
                  <a:srgbClr val="2B91AF"/>
                </a:solidFill>
                <a:latin typeface="Cascadia Mono" panose="020B0609020000020004" pitchFamily="49" charset="0"/>
              </a:rPr>
              <a:t>size_t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count</a:t>
            </a:r>
            <a:r>
              <a:rPr lang="en-US" sz="1200" dirty="0">
                <a:solidFill>
                  <a:srgbClr val="000000"/>
                </a:solidFill>
                <a:latin typeface="Cascadia Mono" panose="020B0609020000020004" pitchFamily="49" charset="0"/>
              </a:rPr>
              <a:t>, std::</a:t>
            </a:r>
            <a:r>
              <a:rPr lang="en-US" sz="1200" dirty="0" err="1">
                <a:solidFill>
                  <a:srgbClr val="2B91AF"/>
                </a:solidFill>
                <a:latin typeface="Cascadia Mono" panose="020B0609020000020004" pitchFamily="49" charset="0"/>
              </a:rPr>
              <a:t>size_t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size</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compar</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a:t>
            </a:r>
            <a:endParaRPr lang="en-US" sz="1200" dirty="0"/>
          </a:p>
        </p:txBody>
      </p:sp>
      <p:sp>
        <p:nvSpPr>
          <p:cNvPr id="10" name="TextBox 9">
            <a:extLst>
              <a:ext uri="{FF2B5EF4-FFF2-40B4-BE49-F238E27FC236}">
                <a16:creationId xmlns:a16="http://schemas.microsoft.com/office/drawing/2014/main" id="{7E484A38-95B2-4930-937D-18803678790D}"/>
              </a:ext>
            </a:extLst>
          </p:cNvPr>
          <p:cNvSpPr txBox="1"/>
          <p:nvPr/>
        </p:nvSpPr>
        <p:spPr>
          <a:xfrm>
            <a:off x="907311" y="2919270"/>
            <a:ext cx="6096000" cy="461665"/>
          </a:xfrm>
          <a:prstGeom prst="rect">
            <a:avLst/>
          </a:prstGeom>
          <a:noFill/>
        </p:spPr>
        <p:txBody>
          <a:bodyPr wrap="square">
            <a:spAutoFit/>
          </a:bodyPr>
          <a:lstStyle/>
          <a:p>
            <a:r>
              <a:rPr lang="en-US" sz="1200" dirty="0">
                <a:solidFill>
                  <a:srgbClr val="000000"/>
                </a:solidFill>
                <a:latin typeface="Cascadia Mono" panose="020B0609020000020004" pitchFamily="49" charset="0"/>
              </a:rPr>
              <a:t>std::</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uint64_t</a:t>
            </a:r>
            <a:r>
              <a:rPr lang="en-US" sz="1200" dirty="0">
                <a:solidFill>
                  <a:srgbClr val="000000"/>
                </a:solidFill>
                <a:latin typeface="Cascadia Mono" panose="020B0609020000020004" pitchFamily="49" charset="0"/>
              </a:rPr>
              <a:t>&gt; v1;</a:t>
            </a:r>
            <a:endParaRPr lang="ru-RU"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Std::array&lt;uint64_t, 5&gt; g;</a:t>
            </a:r>
            <a:endParaRPr lang="en-US" sz="1200" dirty="0"/>
          </a:p>
        </p:txBody>
      </p:sp>
      <p:sp>
        <p:nvSpPr>
          <p:cNvPr id="11" name="TextBox 10">
            <a:extLst>
              <a:ext uri="{FF2B5EF4-FFF2-40B4-BE49-F238E27FC236}">
                <a16:creationId xmlns:a16="http://schemas.microsoft.com/office/drawing/2014/main" id="{60C1546A-085A-443E-AE59-811C5B7A4BEF}"/>
              </a:ext>
            </a:extLst>
          </p:cNvPr>
          <p:cNvSpPr txBox="1"/>
          <p:nvPr/>
        </p:nvSpPr>
        <p:spPr>
          <a:xfrm>
            <a:off x="907311" y="3332314"/>
            <a:ext cx="6096000" cy="830997"/>
          </a:xfrm>
          <a:prstGeom prst="rect">
            <a:avLst/>
          </a:prstGeom>
          <a:noFill/>
        </p:spPr>
        <p:txBody>
          <a:bodyPr wrap="square">
            <a:spAutoFit/>
          </a:bodyPr>
          <a:lstStyle/>
          <a:p>
            <a:r>
              <a:rPr lang="en-US" sz="1200" dirty="0">
                <a:solidFill>
                  <a:srgbClr val="6F008A"/>
                </a:solidFill>
                <a:latin typeface="Cascadia Mono" panose="020B0609020000020004" pitchFamily="49" charset="0"/>
              </a:rPr>
              <a:t>_EXPORT_STD</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template</a:t>
            </a:r>
            <a:r>
              <a:rPr lang="en-US" sz="1200" dirty="0">
                <a:solidFill>
                  <a:srgbClr val="000000"/>
                </a:solidFill>
                <a:latin typeface="Cascadia Mono" panose="020B0609020000020004" pitchFamily="49" charset="0"/>
              </a:rPr>
              <a:t> &lt;</a:t>
            </a:r>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_Ty</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_</a:t>
            </a:r>
            <a:r>
              <a:rPr lang="en-US" sz="1200" dirty="0" err="1">
                <a:solidFill>
                  <a:srgbClr val="2B91AF"/>
                </a:solidFill>
                <a:latin typeface="Cascadia Mono" panose="020B0609020000020004" pitchFamily="49" charset="0"/>
              </a:rPr>
              <a:t>Alloc</a:t>
            </a:r>
            <a:r>
              <a:rPr lang="en-US" sz="1200" dirty="0">
                <a:solidFill>
                  <a:srgbClr val="000000"/>
                </a:solidFill>
                <a:latin typeface="Cascadia Mono" panose="020B0609020000020004" pitchFamily="49" charset="0"/>
              </a:rPr>
              <a:t> = </a:t>
            </a:r>
            <a:r>
              <a:rPr lang="en-US" sz="1200" dirty="0">
                <a:solidFill>
                  <a:srgbClr val="2B91AF"/>
                </a:solidFill>
                <a:latin typeface="Cascadia Mono" panose="020B0609020000020004" pitchFamily="49" charset="0"/>
              </a:rPr>
              <a:t>allocator</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_Ty</a:t>
            </a:r>
            <a:r>
              <a:rPr lang="en-US" sz="1200" dirty="0">
                <a:solidFill>
                  <a:srgbClr val="000000"/>
                </a:solidFill>
                <a:latin typeface="Cascadia Mono" panose="020B0609020000020004" pitchFamily="49" charset="0"/>
              </a:rPr>
              <a:t>&gt;&gt;</a:t>
            </a:r>
          </a:p>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 { </a:t>
            </a:r>
            <a:r>
              <a:rPr lang="en-US" sz="1200" dirty="0">
                <a:solidFill>
                  <a:srgbClr val="008000"/>
                </a:solidFill>
                <a:latin typeface="Cascadia Mono" panose="020B0609020000020004" pitchFamily="49" charset="0"/>
              </a:rPr>
              <a:t>// varying size array of values</a:t>
            </a:r>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private</a:t>
            </a:r>
            <a:r>
              <a:rPr lang="en-US" sz="1200" dirty="0">
                <a:solidFill>
                  <a:srgbClr val="000000"/>
                </a:solidFill>
                <a:latin typeface="Cascadia Mono" panose="020B0609020000020004" pitchFamily="49" charset="0"/>
              </a:rPr>
              <a:t>:</a:t>
            </a:r>
          </a:p>
          <a:p>
            <a:r>
              <a:rPr lang="en-US" sz="1200" dirty="0" err="1">
                <a:solidFill>
                  <a:srgbClr val="000000"/>
                </a:solidFill>
                <a:latin typeface="Cascadia Mono" panose="020B0609020000020004" pitchFamily="49" charset="0"/>
              </a:rPr>
              <a:t>Constexpr</a:t>
            </a:r>
            <a:r>
              <a:rPr lang="en-US" sz="1200" dirty="0">
                <a:solidFill>
                  <a:srgbClr val="000000"/>
                </a:solidFill>
                <a:latin typeface="Cascadia Mono" panose="020B0609020000020004" pitchFamily="49" charset="0"/>
              </a:rPr>
              <a:t> </a:t>
            </a:r>
            <a:endParaRPr lang="en-US" sz="1200" dirty="0"/>
          </a:p>
        </p:txBody>
      </p:sp>
    </p:spTree>
    <p:extLst>
      <p:ext uri="{BB962C8B-B14F-4D97-AF65-F5344CB8AC3E}">
        <p14:creationId xmlns:p14="http://schemas.microsoft.com/office/powerpoint/2010/main" val="39454480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static vs extern</a:t>
            </a:r>
          </a:p>
        </p:txBody>
      </p:sp>
      <p:sp>
        <p:nvSpPr>
          <p:cNvPr id="13" name="TextBox 12">
            <a:extLst>
              <a:ext uri="{FF2B5EF4-FFF2-40B4-BE49-F238E27FC236}">
                <a16:creationId xmlns:a16="http://schemas.microsoft.com/office/drawing/2014/main" id="{219E43E5-3E1C-48C3-9B5D-BF016E7F8AE9}"/>
              </a:ext>
            </a:extLst>
          </p:cNvPr>
          <p:cNvSpPr txBox="1"/>
          <p:nvPr/>
        </p:nvSpPr>
        <p:spPr>
          <a:xfrm>
            <a:off x="521207" y="1620107"/>
            <a:ext cx="6096000" cy="3139321"/>
          </a:xfrm>
          <a:prstGeom prst="rect">
            <a:avLst/>
          </a:prstGeom>
          <a:noFill/>
        </p:spPr>
        <p:txBody>
          <a:bodyPr wrap="square">
            <a:spAutoFit/>
          </a:bodyPr>
          <a:lstStyle/>
          <a:p>
            <a:r>
              <a:rPr lang="en-US" sz="1800" dirty="0">
                <a:solidFill>
                  <a:srgbClr val="0000FF"/>
                </a:solidFill>
                <a:latin typeface="Cascadia Mono" panose="020B0609020000020004" pitchFamily="49" charset="0"/>
              </a:rPr>
              <a:t>extern</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float</a:t>
            </a:r>
            <a:r>
              <a:rPr lang="en-US" sz="1800" dirty="0">
                <a:solidFill>
                  <a:srgbClr val="000000"/>
                </a:solidFill>
                <a:latin typeface="Cascadia Mono" panose="020B0609020000020004" pitchFamily="49" charset="0"/>
              </a:rPr>
              <a:t> add2_e(</a:t>
            </a:r>
            <a:r>
              <a:rPr lang="en-US" sz="1800" dirty="0">
                <a:solidFill>
                  <a:srgbClr val="0000FF"/>
                </a:solidFill>
                <a:latin typeface="Cascadia Mono" panose="020B0609020000020004" pitchFamily="49" charset="0"/>
              </a:rPr>
              <a:t>float</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num</a:t>
            </a:r>
            <a:r>
              <a:rPr lang="en-US" sz="1800" dirty="0">
                <a:solidFill>
                  <a:srgbClr val="000000"/>
                </a:solidFill>
                <a:latin typeface="Cascadia Mono" panose="020B0609020000020004" pitchFamily="49" charset="0"/>
              </a:rPr>
              <a:t>) {</a:t>
            </a:r>
          </a:p>
          <a:p>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return</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num</a:t>
            </a:r>
            <a:r>
              <a:rPr lang="en-US" sz="1800" dirty="0">
                <a:solidFill>
                  <a:srgbClr val="000000"/>
                </a:solidFill>
                <a:latin typeface="Cascadia Mono" panose="020B0609020000020004" pitchFamily="49" charset="0"/>
              </a:rPr>
              <a:t> + 2;</a:t>
            </a:r>
          </a:p>
          <a:p>
            <a:r>
              <a:rPr lang="en-US" sz="1800" dirty="0">
                <a:solidFill>
                  <a:srgbClr val="000000"/>
                </a:solidFill>
                <a:latin typeface="Cascadia Mono" panose="020B0609020000020004" pitchFamily="49" charset="0"/>
              </a:rPr>
              <a:t>}</a:t>
            </a:r>
          </a:p>
          <a:p>
            <a:endParaRPr lang="en-US" sz="1800" dirty="0">
              <a:solidFill>
                <a:srgbClr val="000000"/>
              </a:solidFill>
              <a:latin typeface="Cascadia Mono" panose="020B0609020000020004" pitchFamily="49" charset="0"/>
            </a:endParaRPr>
          </a:p>
          <a:p>
            <a:r>
              <a:rPr lang="en-US" sz="1800" dirty="0">
                <a:solidFill>
                  <a:srgbClr val="0000FF"/>
                </a:solidFill>
                <a:latin typeface="Cascadia Mono" panose="020B0609020000020004" pitchFamily="49" charset="0"/>
              </a:rPr>
              <a:t>static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float</a:t>
            </a:r>
            <a:r>
              <a:rPr lang="en-US" sz="1800" dirty="0">
                <a:solidFill>
                  <a:srgbClr val="000000"/>
                </a:solidFill>
                <a:latin typeface="Cascadia Mono" panose="020B0609020000020004" pitchFamily="49" charset="0"/>
              </a:rPr>
              <a:t> add2_s(</a:t>
            </a:r>
            <a:r>
              <a:rPr lang="en-US" sz="1800" dirty="0">
                <a:solidFill>
                  <a:srgbClr val="0000FF"/>
                </a:solidFill>
                <a:latin typeface="Cascadia Mono" panose="020B0609020000020004" pitchFamily="49" charset="0"/>
              </a:rPr>
              <a:t>float</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num</a:t>
            </a:r>
            <a:r>
              <a:rPr lang="en-US" sz="1800" dirty="0">
                <a:solidFill>
                  <a:srgbClr val="000000"/>
                </a:solidFill>
                <a:latin typeface="Cascadia Mono" panose="020B0609020000020004" pitchFamily="49" charset="0"/>
              </a:rPr>
              <a:t>) {</a:t>
            </a:r>
          </a:p>
          <a:p>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return</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num</a:t>
            </a:r>
            <a:r>
              <a:rPr lang="en-US" sz="1800" dirty="0">
                <a:solidFill>
                  <a:srgbClr val="000000"/>
                </a:solidFill>
                <a:latin typeface="Cascadia Mono" panose="020B0609020000020004" pitchFamily="49" charset="0"/>
              </a:rPr>
              <a:t> + 2;</a:t>
            </a:r>
          </a:p>
          <a:p>
            <a:r>
              <a:rPr lang="en-US" sz="1800" dirty="0">
                <a:solidFill>
                  <a:srgbClr val="000000"/>
                </a:solidFill>
                <a:latin typeface="Cascadia Mono" panose="020B0609020000020004" pitchFamily="49" charset="0"/>
              </a:rPr>
              <a:t>}</a:t>
            </a:r>
          </a:p>
          <a:p>
            <a:endParaRPr lang="en-US" sz="1800" dirty="0">
              <a:solidFill>
                <a:srgbClr val="000000"/>
              </a:solidFill>
              <a:latin typeface="Cascadia Mono" panose="020B0609020000020004" pitchFamily="49" charset="0"/>
            </a:endParaRPr>
          </a:p>
          <a:p>
            <a:r>
              <a:rPr lang="en-US" sz="1800" dirty="0">
                <a:solidFill>
                  <a:srgbClr val="0000FF"/>
                </a:solidFill>
                <a:latin typeface="Cascadia Mono" panose="020B0609020000020004" pitchFamily="49" charset="0"/>
              </a:rPr>
              <a:t>float</a:t>
            </a:r>
            <a:r>
              <a:rPr lang="en-US" sz="1800" dirty="0">
                <a:solidFill>
                  <a:srgbClr val="000000"/>
                </a:solidFill>
                <a:latin typeface="Cascadia Mono" panose="020B0609020000020004" pitchFamily="49" charset="0"/>
              </a:rPr>
              <a:t> add2(</a:t>
            </a:r>
            <a:r>
              <a:rPr lang="en-US" sz="1800" dirty="0">
                <a:solidFill>
                  <a:srgbClr val="0000FF"/>
                </a:solidFill>
                <a:latin typeface="Cascadia Mono" panose="020B0609020000020004" pitchFamily="49" charset="0"/>
              </a:rPr>
              <a:t>float</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num</a:t>
            </a:r>
            <a:r>
              <a:rPr lang="en-US" sz="1800" dirty="0">
                <a:solidFill>
                  <a:srgbClr val="000000"/>
                </a:solidFill>
                <a:latin typeface="Cascadia Mono" panose="020B0609020000020004" pitchFamily="49" charset="0"/>
              </a:rPr>
              <a:t>) {</a:t>
            </a:r>
          </a:p>
          <a:p>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return</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num</a:t>
            </a:r>
            <a:r>
              <a:rPr lang="en-US" sz="1800" dirty="0">
                <a:solidFill>
                  <a:srgbClr val="000000"/>
                </a:solidFill>
                <a:latin typeface="Cascadia Mono" panose="020B0609020000020004" pitchFamily="49" charset="0"/>
              </a:rPr>
              <a:t> + 2;</a:t>
            </a:r>
          </a:p>
          <a:p>
            <a:r>
              <a:rPr lang="en-US" sz="1800" dirty="0">
                <a:solidFill>
                  <a:srgbClr val="000000"/>
                </a:solidFill>
                <a:latin typeface="Cascadia Mono" panose="020B0609020000020004" pitchFamily="49" charset="0"/>
              </a:rPr>
              <a:t>}</a:t>
            </a:r>
            <a:endParaRPr lang="en-US" dirty="0"/>
          </a:p>
        </p:txBody>
      </p:sp>
      <p:sp>
        <p:nvSpPr>
          <p:cNvPr id="15" name="Content Placeholder 17">
            <a:extLst>
              <a:ext uri="{FF2B5EF4-FFF2-40B4-BE49-F238E27FC236}">
                <a16:creationId xmlns:a16="http://schemas.microsoft.com/office/drawing/2014/main" id="{22C562A9-2E6B-4E48-AEDC-9F813A13DBDB}"/>
              </a:ext>
            </a:extLst>
          </p:cNvPr>
          <p:cNvSpPr txBox="1">
            <a:spLocks/>
          </p:cNvSpPr>
          <p:nvPr/>
        </p:nvSpPr>
        <p:spPr>
          <a:xfrm>
            <a:off x="5387363" y="1620107"/>
            <a:ext cx="4365670" cy="194375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latin typeface="Segoe UI" panose="020B0502040204020203" pitchFamily="34" charset="0"/>
                <a:cs typeface="Segoe UI" panose="020B0502040204020203" pitchFamily="34" charset="0"/>
              </a:rPr>
              <a:t>static - internal linkage </a:t>
            </a:r>
          </a:p>
          <a:p>
            <a:pPr marL="0" lvl="0" indent="0">
              <a:spcAft>
                <a:spcPts val="600"/>
              </a:spcAft>
              <a:buNone/>
              <a:defRPr/>
            </a:pPr>
            <a:r>
              <a:rPr lang="en-US" dirty="0">
                <a:latin typeface="Segoe UI" panose="020B0502040204020203" pitchFamily="34" charset="0"/>
                <a:cs typeface="Segoe UI" panose="020B0502040204020203" pitchFamily="34" charset="0"/>
              </a:rPr>
              <a:t>extern - external linkage.</a:t>
            </a:r>
          </a:p>
          <a:p>
            <a:pPr marL="0" lvl="0" indent="0">
              <a:spcAft>
                <a:spcPts val="600"/>
              </a:spcAft>
              <a:buNone/>
              <a:defRPr/>
            </a:pPr>
            <a:endParaRPr lang="ru-RU" dirty="0">
              <a:latin typeface="Segoe UI" panose="020B0502040204020203" pitchFamily="34" charset="0"/>
              <a:cs typeface="Segoe UI" panose="020B0502040204020203" pitchFamily="34" charset="0"/>
            </a:endParaRPr>
          </a:p>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1761535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ru-RU" dirty="0">
                <a:latin typeface="Segoe UI Light" panose="020B0502040204020203" pitchFamily="34" charset="0"/>
                <a:cs typeface="Segoe UI Light" panose="020B0502040204020203" pitchFamily="34" charset="0"/>
              </a:rPr>
              <a:t>Перегрузка функций в С++</a:t>
            </a:r>
            <a:endParaRPr lang="en-US" dirty="0">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C4F96F23-6183-4B2C-9249-EE5D54F17726}"/>
              </a:ext>
            </a:extLst>
          </p:cNvPr>
          <p:cNvSpPr txBox="1"/>
          <p:nvPr/>
        </p:nvSpPr>
        <p:spPr>
          <a:xfrm>
            <a:off x="6096000" y="1424900"/>
            <a:ext cx="4451499" cy="3231654"/>
          </a:xfrm>
          <a:prstGeom prst="rect">
            <a:avLst/>
          </a:prstGeom>
          <a:noFill/>
        </p:spPr>
        <p:txBody>
          <a:bodyPr wrap="square">
            <a:spAutoFit/>
          </a:bodyPr>
          <a:lstStyle/>
          <a:p>
            <a:r>
              <a:rPr lang="fr-FR" sz="1200" dirty="0" err="1">
                <a:solidFill>
                  <a:srgbClr val="0000FF"/>
                </a:solidFill>
                <a:latin typeface="Cascadia Mono" panose="020B0609020000020004" pitchFamily="49" charset="0"/>
              </a:rPr>
              <a:t>int</a:t>
            </a:r>
            <a:r>
              <a:rPr lang="fr-FR" sz="1200" dirty="0">
                <a:solidFill>
                  <a:srgbClr val="000000"/>
                </a:solidFill>
                <a:latin typeface="Cascadia Mono" panose="020B0609020000020004" pitchFamily="49" charset="0"/>
              </a:rPr>
              <a:t> add2(</a:t>
            </a:r>
            <a:r>
              <a:rPr lang="fr-FR" sz="1200" dirty="0">
                <a:solidFill>
                  <a:srgbClr val="2B91AF"/>
                </a:solidFill>
                <a:latin typeface="Cascadia Mono" panose="020B0609020000020004" pitchFamily="49" charset="0"/>
              </a:rPr>
              <a:t>uint64_t</a:t>
            </a:r>
            <a:r>
              <a:rPr lang="fr-FR" sz="1200" dirty="0">
                <a:solidFill>
                  <a:srgbClr val="000000"/>
                </a:solidFill>
                <a:latin typeface="Cascadia Mono" panose="020B0609020000020004" pitchFamily="49" charset="0"/>
              </a:rPr>
              <a:t> </a:t>
            </a:r>
            <a:r>
              <a:rPr lang="fr-FR" sz="1200" dirty="0">
                <a:solidFill>
                  <a:srgbClr val="808080"/>
                </a:solidFill>
                <a:latin typeface="Cascadia Mono" panose="020B0609020000020004" pitchFamily="49" charset="0"/>
              </a:rPr>
              <a:t>t</a:t>
            </a:r>
            <a:r>
              <a:rPr lang="fr-FR"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"call add2 uint64_t\n"</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t</a:t>
            </a:r>
            <a:r>
              <a:rPr lang="en-US" sz="1200" dirty="0">
                <a:solidFill>
                  <a:srgbClr val="000000"/>
                </a:solidFill>
                <a:latin typeface="Cascadia Mono" panose="020B0609020000020004" pitchFamily="49" charset="0"/>
              </a:rPr>
              <a:t> + 2;</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add2(</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t</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"call add2 float\n"</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t</a:t>
            </a:r>
            <a:r>
              <a:rPr lang="en-US" sz="1200" dirty="0">
                <a:solidFill>
                  <a:srgbClr val="000000"/>
                </a:solidFill>
                <a:latin typeface="Cascadia Mono" panose="020B0609020000020004" pitchFamily="49" charset="0"/>
              </a:rPr>
              <a:t> + 2;</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main()</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uint64_t</a:t>
            </a:r>
            <a:r>
              <a:rPr lang="en-US" sz="1200" dirty="0">
                <a:solidFill>
                  <a:srgbClr val="000000"/>
                </a:solidFill>
                <a:latin typeface="Cascadia Mono" panose="020B0609020000020004" pitchFamily="49" charset="0"/>
              </a:rPr>
              <a:t> t = 45;</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add2(2.0f)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 "</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add2(t);</a:t>
            </a:r>
          </a:p>
          <a:p>
            <a:r>
              <a:rPr lang="en-US" sz="1200" dirty="0">
                <a:solidFill>
                  <a:srgbClr val="000000"/>
                </a:solidFill>
                <a:latin typeface="Cascadia Mono" panose="020B0609020000020004" pitchFamily="49" charset="0"/>
              </a:rPr>
              <a:t>}</a:t>
            </a:r>
            <a:endParaRPr lang="en-US" sz="1200" dirty="0"/>
          </a:p>
        </p:txBody>
      </p:sp>
      <p:sp>
        <p:nvSpPr>
          <p:cNvPr id="9" name="TextBox 8">
            <a:extLst>
              <a:ext uri="{FF2B5EF4-FFF2-40B4-BE49-F238E27FC236}">
                <a16:creationId xmlns:a16="http://schemas.microsoft.com/office/drawing/2014/main" id="{E967B83D-E509-46D4-8647-5EE3F618336A}"/>
              </a:ext>
            </a:extLst>
          </p:cNvPr>
          <p:cNvSpPr txBox="1"/>
          <p:nvPr/>
        </p:nvSpPr>
        <p:spPr>
          <a:xfrm>
            <a:off x="666307" y="1424900"/>
            <a:ext cx="5025656" cy="2123658"/>
          </a:xfrm>
          <a:prstGeom prst="rect">
            <a:avLst/>
          </a:prstGeom>
          <a:noFill/>
        </p:spPr>
        <p:txBody>
          <a:bodyPr wrap="square">
            <a:spAutoFit/>
          </a:bodyPr>
          <a:lstStyle/>
          <a:p>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add2(</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t</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"call add2 float\n"</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t</a:t>
            </a:r>
            <a:r>
              <a:rPr lang="en-US" sz="1200" dirty="0">
                <a:solidFill>
                  <a:srgbClr val="000000"/>
                </a:solidFill>
                <a:latin typeface="Cascadia Mono" panose="020B0609020000020004" pitchFamily="49" charset="0"/>
              </a:rPr>
              <a:t> + 2;</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main()</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uint64_t</a:t>
            </a:r>
            <a:r>
              <a:rPr lang="en-US" sz="1200" dirty="0">
                <a:solidFill>
                  <a:srgbClr val="000000"/>
                </a:solidFill>
                <a:latin typeface="Cascadia Mono" panose="020B0609020000020004" pitchFamily="49" charset="0"/>
              </a:rPr>
              <a:t> t = 45;</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add2(2.0f)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 "</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add2(t);</a:t>
            </a:r>
          </a:p>
          <a:p>
            <a:r>
              <a:rPr lang="en-US" sz="1200" dirty="0">
                <a:solidFill>
                  <a:srgbClr val="000000"/>
                </a:solidFill>
                <a:latin typeface="Cascadia Mono" panose="020B0609020000020004" pitchFamily="49" charset="0"/>
              </a:rPr>
              <a:t>}</a:t>
            </a:r>
            <a:endParaRPr lang="en-US" sz="1200" dirty="0"/>
          </a:p>
        </p:txBody>
      </p:sp>
      <p:pic>
        <p:nvPicPr>
          <p:cNvPr id="5" name="Picture 4">
            <a:extLst>
              <a:ext uri="{FF2B5EF4-FFF2-40B4-BE49-F238E27FC236}">
                <a16:creationId xmlns:a16="http://schemas.microsoft.com/office/drawing/2014/main" id="{FA9AC4C4-8C33-4505-9F9D-707A49B35D6E}"/>
              </a:ext>
            </a:extLst>
          </p:cNvPr>
          <p:cNvPicPr>
            <a:picLocks noChangeAspect="1"/>
          </p:cNvPicPr>
          <p:nvPr/>
        </p:nvPicPr>
        <p:blipFill>
          <a:blip r:embed="rId2"/>
          <a:stretch>
            <a:fillRect/>
          </a:stretch>
        </p:blipFill>
        <p:spPr>
          <a:xfrm>
            <a:off x="837130" y="4760105"/>
            <a:ext cx="2905530" cy="981212"/>
          </a:xfrm>
          <a:prstGeom prst="rect">
            <a:avLst/>
          </a:prstGeom>
        </p:spPr>
      </p:pic>
      <p:pic>
        <p:nvPicPr>
          <p:cNvPr id="16" name="Picture 15">
            <a:extLst>
              <a:ext uri="{FF2B5EF4-FFF2-40B4-BE49-F238E27FC236}">
                <a16:creationId xmlns:a16="http://schemas.microsoft.com/office/drawing/2014/main" id="{4592EC38-D6FC-4F6C-8B91-09AC3B627130}"/>
              </a:ext>
            </a:extLst>
          </p:cNvPr>
          <p:cNvPicPr>
            <a:picLocks noChangeAspect="1"/>
          </p:cNvPicPr>
          <p:nvPr/>
        </p:nvPicPr>
        <p:blipFill>
          <a:blip r:embed="rId3"/>
          <a:stretch>
            <a:fillRect/>
          </a:stretch>
        </p:blipFill>
        <p:spPr>
          <a:xfrm>
            <a:off x="6202901" y="4760105"/>
            <a:ext cx="2848373" cy="943107"/>
          </a:xfrm>
          <a:prstGeom prst="rect">
            <a:avLst/>
          </a:prstGeom>
        </p:spPr>
      </p:pic>
    </p:spTree>
    <p:extLst>
      <p:ext uri="{BB962C8B-B14F-4D97-AF65-F5344CB8AC3E}">
        <p14:creationId xmlns:p14="http://schemas.microsoft.com/office/powerpoint/2010/main" val="40113823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ru-RU" dirty="0">
                <a:latin typeface="Segoe UI Light" panose="020B0502040204020203" pitchFamily="34" charset="0"/>
                <a:cs typeface="Segoe UI Light" panose="020B0502040204020203" pitchFamily="34" charset="0"/>
              </a:rPr>
              <a:t>Отличие линковски </a:t>
            </a:r>
            <a:r>
              <a:rPr lang="en-US" dirty="0">
                <a:latin typeface="Segoe UI Light" panose="020B0502040204020203" pitchFamily="34" charset="0"/>
                <a:cs typeface="Segoe UI Light" panose="020B0502040204020203" pitchFamily="34" charset="0"/>
              </a:rPr>
              <a:t>c </a:t>
            </a:r>
            <a:r>
              <a:rPr lang="ru-RU" dirty="0">
                <a:latin typeface="Segoe UI Light" panose="020B0502040204020203" pitchFamily="34" charset="0"/>
                <a:cs typeface="Segoe UI Light" panose="020B0502040204020203" pitchFamily="34" charset="0"/>
              </a:rPr>
              <a:t>и с++</a:t>
            </a:r>
            <a:endParaRPr lang="en-US" dirty="0">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5D6AFB0D-B078-4EAA-897B-6E67D1190A35}"/>
              </a:ext>
            </a:extLst>
          </p:cNvPr>
          <p:cNvSpPr txBox="1"/>
          <p:nvPr/>
        </p:nvSpPr>
        <p:spPr>
          <a:xfrm>
            <a:off x="7790121" y="2911766"/>
            <a:ext cx="6096000" cy="646331"/>
          </a:xfrm>
          <a:prstGeom prst="rect">
            <a:avLst/>
          </a:prstGeom>
          <a:noFill/>
        </p:spPr>
        <p:txBody>
          <a:bodyPr wrap="square">
            <a:spAutoFit/>
          </a:bodyPr>
          <a:lstStyle/>
          <a:p>
            <a:r>
              <a:rPr lang="en-US" sz="1200" dirty="0">
                <a:solidFill>
                  <a:srgbClr val="0000FF"/>
                </a:solidFill>
                <a:latin typeface="Cascadia Mono" panose="020B0609020000020004" pitchFamily="49" charset="0"/>
              </a:rPr>
              <a:t>extern</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"C"</a:t>
            </a:r>
            <a:r>
              <a:rPr lang="en-US" sz="1200" dirty="0">
                <a:solidFill>
                  <a:srgbClr val="000000"/>
                </a:solidFill>
                <a:latin typeface="Cascadia Mono" panose="020B0609020000020004" pitchFamily="49" charset="0"/>
              </a:rPr>
              <a:t> {</a:t>
            </a:r>
          </a:p>
          <a:p>
            <a:r>
              <a:rPr lang="en-US" sz="1200" dirty="0">
                <a:solidFill>
                  <a:srgbClr val="808080"/>
                </a:solidFill>
                <a:latin typeface="Cascadia Mono" panose="020B0609020000020004" pitchFamily="49" charset="0"/>
              </a:rPr>
              <a:t>#include</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&lt;</a:t>
            </a:r>
            <a:r>
              <a:rPr lang="en-US" sz="1200" dirty="0" err="1">
                <a:solidFill>
                  <a:srgbClr val="A31515"/>
                </a:solidFill>
                <a:latin typeface="Cascadia Mono" panose="020B0609020000020004" pitchFamily="49" charset="0"/>
              </a:rPr>
              <a:t>stdio.h</a:t>
            </a:r>
            <a:r>
              <a:rPr lang="en-US" sz="1200" dirty="0">
                <a:solidFill>
                  <a:srgbClr val="A31515"/>
                </a:solidFill>
                <a:latin typeface="Cascadia Mono" panose="020B0609020000020004" pitchFamily="49" charset="0"/>
              </a:rPr>
              <a:t>&gt;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endParaRPr lang="en-US" sz="1200" dirty="0"/>
          </a:p>
        </p:txBody>
      </p:sp>
      <p:sp>
        <p:nvSpPr>
          <p:cNvPr id="10" name="TextBox 9">
            <a:extLst>
              <a:ext uri="{FF2B5EF4-FFF2-40B4-BE49-F238E27FC236}">
                <a16:creationId xmlns:a16="http://schemas.microsoft.com/office/drawing/2014/main" id="{50F0EEB8-E173-4D5C-925A-0C16B0124356}"/>
              </a:ext>
            </a:extLst>
          </p:cNvPr>
          <p:cNvSpPr txBox="1"/>
          <p:nvPr/>
        </p:nvSpPr>
        <p:spPr>
          <a:xfrm>
            <a:off x="7790121" y="3558097"/>
            <a:ext cx="6096000" cy="2862322"/>
          </a:xfrm>
          <a:prstGeom prst="rect">
            <a:avLst/>
          </a:prstGeom>
          <a:noFill/>
        </p:spPr>
        <p:txBody>
          <a:bodyPr wrap="square">
            <a:spAutoFit/>
          </a:bodyPr>
          <a:lstStyle/>
          <a:p>
            <a:r>
              <a:rPr lang="en-US" sz="1200" dirty="0">
                <a:solidFill>
                  <a:srgbClr val="0000FF"/>
                </a:solidFill>
                <a:latin typeface="Cascadia Mono" panose="020B0609020000020004" pitchFamily="49" charset="0"/>
              </a:rPr>
              <a:t>extern</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"C"</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char</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ShowChar</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char</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ch</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char</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GetChar</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extern</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char</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ShowChar</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char</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ch</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putchar</a:t>
            </a:r>
            <a:r>
              <a:rPr lang="en-US" sz="1200" dirty="0">
                <a:solidFill>
                  <a:srgbClr val="000000"/>
                </a:solidFill>
                <a:latin typeface="Cascadia Mono" panose="020B0609020000020004" pitchFamily="49" charset="0"/>
              </a:rPr>
              <a:t>(</a:t>
            </a:r>
            <a:r>
              <a:rPr lang="en-US" sz="1200" dirty="0" err="1">
                <a:solidFill>
                  <a:srgbClr val="808080"/>
                </a:solidFill>
                <a:latin typeface="Cascadia Mono" panose="020B0609020000020004" pitchFamily="49" charset="0"/>
              </a:rPr>
              <a:t>ch</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ch</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sv-SE" sz="1200" dirty="0">
                <a:solidFill>
                  <a:srgbClr val="0000FF"/>
                </a:solidFill>
                <a:latin typeface="Cascadia Mono" panose="020B0609020000020004" pitchFamily="49" charset="0"/>
              </a:rPr>
              <a:t>extern</a:t>
            </a:r>
            <a:r>
              <a:rPr lang="sv-SE" sz="1200" dirty="0">
                <a:solidFill>
                  <a:srgbClr val="000000"/>
                </a:solidFill>
                <a:latin typeface="Cascadia Mono" panose="020B0609020000020004" pitchFamily="49" charset="0"/>
              </a:rPr>
              <a:t> </a:t>
            </a:r>
            <a:r>
              <a:rPr lang="sv-SE" sz="1200" dirty="0">
                <a:solidFill>
                  <a:srgbClr val="A31515"/>
                </a:solidFill>
                <a:latin typeface="Cascadia Mono" panose="020B0609020000020004" pitchFamily="49" charset="0"/>
              </a:rPr>
              <a:t>"C"</a:t>
            </a:r>
            <a:r>
              <a:rPr lang="sv-SE" sz="1200" dirty="0">
                <a:solidFill>
                  <a:srgbClr val="000000"/>
                </a:solidFill>
                <a:latin typeface="Cascadia Mono" panose="020B0609020000020004" pitchFamily="49" charset="0"/>
              </a:rPr>
              <a:t> </a:t>
            </a:r>
            <a:r>
              <a:rPr lang="sv-SE" sz="1200" dirty="0">
                <a:solidFill>
                  <a:srgbClr val="0000FF"/>
                </a:solidFill>
                <a:latin typeface="Cascadia Mono" panose="020B0609020000020004" pitchFamily="49" charset="0"/>
              </a:rPr>
              <a:t>char</a:t>
            </a:r>
            <a:r>
              <a:rPr lang="sv-SE" sz="1200" dirty="0">
                <a:solidFill>
                  <a:srgbClr val="000000"/>
                </a:solidFill>
                <a:latin typeface="Cascadia Mono" panose="020B0609020000020004" pitchFamily="49" charset="0"/>
              </a:rPr>
              <a:t> GetChar(</a:t>
            </a:r>
            <a:r>
              <a:rPr lang="sv-SE" sz="1200" dirty="0">
                <a:solidFill>
                  <a:srgbClr val="0000FF"/>
                </a:solidFill>
                <a:latin typeface="Cascadia Mono" panose="020B0609020000020004" pitchFamily="49" charset="0"/>
              </a:rPr>
              <a:t>void</a:t>
            </a:r>
            <a:r>
              <a:rPr lang="sv-SE"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char</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ch</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ch</a:t>
            </a:r>
            <a:r>
              <a:rPr lang="en-US" sz="1200" dirty="0">
                <a:solidFill>
                  <a:srgbClr val="000000"/>
                </a:solidFill>
                <a:latin typeface="Cascadia Mono" panose="020B0609020000020004" pitchFamily="49" charset="0"/>
              </a:rPr>
              <a:t> = </a:t>
            </a:r>
            <a:r>
              <a:rPr lang="en-US" sz="1200" dirty="0" err="1">
                <a:solidFill>
                  <a:srgbClr val="000000"/>
                </a:solidFill>
                <a:latin typeface="Cascadia Mono" panose="020B0609020000020004" pitchFamily="49" charset="0"/>
              </a:rPr>
              <a:t>getchar</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ch</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endParaRPr lang="en-US" sz="1200" dirty="0"/>
          </a:p>
        </p:txBody>
      </p:sp>
      <p:sp>
        <p:nvSpPr>
          <p:cNvPr id="11" name="Content Placeholder 17">
            <a:extLst>
              <a:ext uri="{FF2B5EF4-FFF2-40B4-BE49-F238E27FC236}">
                <a16:creationId xmlns:a16="http://schemas.microsoft.com/office/drawing/2014/main" id="{647DE704-D4AD-4746-B535-A39DCB12071E}"/>
              </a:ext>
            </a:extLst>
          </p:cNvPr>
          <p:cNvSpPr txBox="1">
            <a:spLocks/>
          </p:cNvSpPr>
          <p:nvPr/>
        </p:nvSpPr>
        <p:spPr>
          <a:xfrm>
            <a:off x="521206" y="2911766"/>
            <a:ext cx="6333249" cy="880513"/>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sz="4800" dirty="0"/>
              <a:t>C </a:t>
            </a:r>
            <a:r>
              <a:rPr lang="ru-RU" sz="4800" dirty="0"/>
              <a:t>– только сохраняет информацию о имени переменной</a:t>
            </a:r>
            <a:r>
              <a:rPr lang="en-US" sz="4800" dirty="0"/>
              <a:t> </a:t>
            </a:r>
            <a:r>
              <a:rPr lang="ru-RU" sz="4800" dirty="0"/>
              <a:t>в </a:t>
            </a:r>
            <a:r>
              <a:rPr lang="en-US" sz="4800" dirty="0"/>
              <a:t>symbols</a:t>
            </a:r>
            <a:br>
              <a:rPr lang="en-US" sz="4800" dirty="0"/>
            </a:br>
            <a:r>
              <a:rPr lang="en-US" sz="4800" dirty="0"/>
              <a:t>C++ - </a:t>
            </a:r>
            <a:r>
              <a:rPr lang="ru-RU" sz="4800" dirty="0"/>
              <a:t>сохраняет информацию и имени типах аргументов функций</a:t>
            </a:r>
            <a:r>
              <a:rPr lang="en-US" sz="4800" dirty="0"/>
              <a:t> </a:t>
            </a:r>
            <a:r>
              <a:rPr lang="ru-RU" sz="4800" dirty="0"/>
              <a:t>в </a:t>
            </a:r>
            <a:r>
              <a:rPr lang="en-US" sz="4800" dirty="0"/>
              <a:t>symbols</a:t>
            </a:r>
            <a:r>
              <a:rPr lang="ru-RU" sz="4800" dirty="0"/>
              <a:t> </a:t>
            </a:r>
            <a:br>
              <a:rPr lang="ru-RU" sz="4800" dirty="0"/>
            </a:br>
            <a:r>
              <a:rPr lang="ru-RU" sz="4800" dirty="0"/>
              <a:t>Как работет </a:t>
            </a:r>
            <a:r>
              <a:rPr lang="en-US" sz="4800" dirty="0"/>
              <a:t>linker </a:t>
            </a:r>
            <a:r>
              <a:rPr lang="ru-RU" sz="4800" dirty="0"/>
              <a:t>с шаблонами?</a:t>
            </a:r>
            <a:r>
              <a:rPr lang="ru-RU" dirty="0"/>
              <a:t>	</a:t>
            </a:r>
            <a:endParaRPr lang="en-US" dirty="0"/>
          </a:p>
          <a:p>
            <a:pPr marL="0" lvl="0" indent="0">
              <a:spcAft>
                <a:spcPts val="600"/>
              </a:spcAft>
              <a:buNone/>
              <a:defRPr/>
            </a:pPr>
            <a:r>
              <a:rPr lang="en-US" dirty="0"/>
              <a:t>	</a:t>
            </a:r>
          </a:p>
        </p:txBody>
      </p:sp>
      <p:pic>
        <p:nvPicPr>
          <p:cNvPr id="7" name="Picture 6">
            <a:extLst>
              <a:ext uri="{FF2B5EF4-FFF2-40B4-BE49-F238E27FC236}">
                <a16:creationId xmlns:a16="http://schemas.microsoft.com/office/drawing/2014/main" id="{6428FC8B-E88B-4E6D-8828-C723AE3208B4}"/>
              </a:ext>
            </a:extLst>
          </p:cNvPr>
          <p:cNvPicPr>
            <a:picLocks noChangeAspect="1"/>
          </p:cNvPicPr>
          <p:nvPr/>
        </p:nvPicPr>
        <p:blipFill>
          <a:blip r:embed="rId2"/>
          <a:stretch>
            <a:fillRect/>
          </a:stretch>
        </p:blipFill>
        <p:spPr>
          <a:xfrm>
            <a:off x="1344796" y="1241156"/>
            <a:ext cx="9072426" cy="1670610"/>
          </a:xfrm>
          <a:prstGeom prst="rect">
            <a:avLst/>
          </a:prstGeom>
        </p:spPr>
      </p:pic>
      <p:sp>
        <p:nvSpPr>
          <p:cNvPr id="16" name="TextBox 15">
            <a:extLst>
              <a:ext uri="{FF2B5EF4-FFF2-40B4-BE49-F238E27FC236}">
                <a16:creationId xmlns:a16="http://schemas.microsoft.com/office/drawing/2014/main" id="{A16FA9E5-CF2A-4BCD-B88E-A4D5382FFE3B}"/>
              </a:ext>
            </a:extLst>
          </p:cNvPr>
          <p:cNvSpPr txBox="1"/>
          <p:nvPr/>
        </p:nvSpPr>
        <p:spPr>
          <a:xfrm>
            <a:off x="521206" y="3907791"/>
            <a:ext cx="3880674" cy="2123658"/>
          </a:xfrm>
          <a:prstGeom prst="rect">
            <a:avLst/>
          </a:prstGeom>
          <a:noFill/>
        </p:spPr>
        <p:txBody>
          <a:bodyPr wrap="square">
            <a:spAutoFit/>
          </a:bodyPr>
          <a:lstStyle/>
          <a:p>
            <a:r>
              <a:rPr lang="en-US" sz="1200" dirty="0">
                <a:solidFill>
                  <a:srgbClr val="0000FF"/>
                </a:solidFill>
                <a:latin typeface="Cascadia Mono" panose="020B0609020000020004" pitchFamily="49" charset="0"/>
              </a:rPr>
              <a:t>extern</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add2_c(</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t</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"call add2 uint64_t\n"</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t</a:t>
            </a:r>
            <a:r>
              <a:rPr lang="en-US" sz="1200" dirty="0">
                <a:solidFill>
                  <a:srgbClr val="000000"/>
                </a:solidFill>
                <a:latin typeface="Cascadia Mono" panose="020B0609020000020004" pitchFamily="49" charset="0"/>
              </a:rPr>
              <a:t> + 2;</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add2(</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t</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"call add2 float\n"</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t</a:t>
            </a:r>
            <a:r>
              <a:rPr lang="en-US" sz="1200" dirty="0">
                <a:solidFill>
                  <a:srgbClr val="000000"/>
                </a:solidFill>
                <a:latin typeface="Cascadia Mono" panose="020B0609020000020004" pitchFamily="49" charset="0"/>
              </a:rPr>
              <a:t> + 2;</a:t>
            </a:r>
          </a:p>
          <a:p>
            <a:r>
              <a:rPr lang="en-US" sz="1200" dirty="0">
                <a:solidFill>
                  <a:srgbClr val="000000"/>
                </a:solidFill>
                <a:latin typeface="Cascadia Mono" panose="020B0609020000020004" pitchFamily="49" charset="0"/>
              </a:rPr>
              <a:t>}</a:t>
            </a:r>
            <a:endParaRPr lang="en-US" sz="1200" dirty="0"/>
          </a:p>
        </p:txBody>
      </p:sp>
      <p:sp>
        <p:nvSpPr>
          <p:cNvPr id="17" name="Content Placeholder 17">
            <a:extLst>
              <a:ext uri="{FF2B5EF4-FFF2-40B4-BE49-F238E27FC236}">
                <a16:creationId xmlns:a16="http://schemas.microsoft.com/office/drawing/2014/main" id="{A47C3BAB-2A26-42CF-AF41-EAC701ACC2AC}"/>
              </a:ext>
            </a:extLst>
          </p:cNvPr>
          <p:cNvSpPr txBox="1">
            <a:spLocks/>
          </p:cNvSpPr>
          <p:nvPr/>
        </p:nvSpPr>
        <p:spPr>
          <a:xfrm>
            <a:off x="4217688" y="3792279"/>
            <a:ext cx="3756626" cy="2354682"/>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sz="1300" dirty="0"/>
              <a:t>.\dumpbin.exe /SYMBOLS …..</a:t>
            </a:r>
            <a:br>
              <a:rPr lang="en-US" sz="1300" dirty="0"/>
            </a:br>
            <a:r>
              <a:rPr lang="en-US" sz="1300" dirty="0"/>
              <a:t>?add2@@YAMM@Z (float __</a:t>
            </a:r>
            <a:r>
              <a:rPr lang="en-US" sz="1300" dirty="0" err="1"/>
              <a:t>cdecl</a:t>
            </a:r>
            <a:r>
              <a:rPr lang="en-US" sz="1300" dirty="0"/>
              <a:t> add2(float))</a:t>
            </a:r>
            <a:br>
              <a:rPr lang="en-US" sz="1300" dirty="0"/>
            </a:br>
            <a:r>
              <a:rPr lang="en-US" sz="1300" dirty="0"/>
              <a:t>add2_c</a:t>
            </a:r>
            <a:br>
              <a:rPr lang="ru-RU" dirty="0"/>
            </a:br>
            <a:r>
              <a:rPr lang="ru-RU" dirty="0"/>
              <a:t>	</a:t>
            </a:r>
            <a:endParaRPr lang="en-US" dirty="0"/>
          </a:p>
          <a:p>
            <a:pPr marL="0" lvl="0" indent="0">
              <a:spcAft>
                <a:spcPts val="600"/>
              </a:spcAft>
              <a:buNone/>
              <a:defRPr/>
            </a:pPr>
            <a:r>
              <a:rPr lang="en-US" dirty="0"/>
              <a:t>	</a:t>
            </a:r>
          </a:p>
        </p:txBody>
      </p:sp>
    </p:spTree>
    <p:extLst>
      <p:ext uri="{BB962C8B-B14F-4D97-AF65-F5344CB8AC3E}">
        <p14:creationId xmlns:p14="http://schemas.microsoft.com/office/powerpoint/2010/main" val="20452471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ru-RU" dirty="0">
                <a:latin typeface="Segoe UI Light" panose="020B0502040204020203" pitchFamily="34" charset="0"/>
                <a:cs typeface="Segoe UI Light" panose="020B0502040204020203" pitchFamily="34" charset="0"/>
              </a:rPr>
              <a:t>Разделение на </a:t>
            </a:r>
            <a:r>
              <a:rPr lang="en-US" dirty="0">
                <a:latin typeface="Segoe UI Light" panose="020B0502040204020203" pitchFamily="34" charset="0"/>
                <a:cs typeface="Segoe UI Light" panose="020B0502040204020203" pitchFamily="34" charset="0"/>
              </a:rPr>
              <a:t>.h </a:t>
            </a:r>
            <a:r>
              <a:rPr lang="ru-RU" dirty="0">
                <a:latin typeface="Segoe UI Light" panose="020B0502040204020203" pitchFamily="34" charset="0"/>
                <a:cs typeface="Segoe UI Light" panose="020B0502040204020203" pitchFamily="34" charset="0"/>
              </a:rPr>
              <a:t>и </a:t>
            </a:r>
            <a:r>
              <a:rPr lang="en-US" dirty="0">
                <a:latin typeface="Segoe UI Light" panose="020B0502040204020203" pitchFamily="34" charset="0"/>
                <a:cs typeface="Segoe UI Light" panose="020B0502040204020203" pitchFamily="34" charset="0"/>
              </a:rPr>
              <a:t>.</a:t>
            </a:r>
            <a:r>
              <a:rPr lang="en-US" dirty="0" err="1">
                <a:latin typeface="Segoe UI Light" panose="020B0502040204020203" pitchFamily="34" charset="0"/>
                <a:cs typeface="Segoe UI Light" panose="020B0502040204020203" pitchFamily="34" charset="0"/>
              </a:rPr>
              <a:t>cpp</a:t>
            </a:r>
            <a:r>
              <a:rPr lang="en-US" dirty="0">
                <a:latin typeface="Segoe UI Light" panose="020B0502040204020203" pitchFamily="34" charset="0"/>
                <a:cs typeface="Segoe UI Light" panose="020B0502040204020203" pitchFamily="34" charset="0"/>
              </a:rPr>
              <a:t> </a:t>
            </a:r>
            <a:r>
              <a:rPr lang="ru-RU" dirty="0">
                <a:latin typeface="Segoe UI Light" panose="020B0502040204020203" pitchFamily="34" charset="0"/>
                <a:cs typeface="Segoe UI Light" panose="020B0502040204020203" pitchFamily="34" charset="0"/>
              </a:rPr>
              <a:t>файлы</a:t>
            </a:r>
            <a:endParaRPr lang="en-US" dirty="0">
              <a:latin typeface="Segoe UI Light" panose="020B0502040204020203" pitchFamily="34" charset="0"/>
              <a:cs typeface="Segoe UI Light" panose="020B0502040204020203" pitchFamily="34" charset="0"/>
            </a:endParaRPr>
          </a:p>
        </p:txBody>
      </p:sp>
      <p:sp>
        <p:nvSpPr>
          <p:cNvPr id="9" name="Content Placeholder 17">
            <a:extLst>
              <a:ext uri="{FF2B5EF4-FFF2-40B4-BE49-F238E27FC236}">
                <a16:creationId xmlns:a16="http://schemas.microsoft.com/office/drawing/2014/main" id="{899CED50-892E-48C9-8183-4096D88A8FF5}"/>
              </a:ext>
            </a:extLst>
          </p:cNvPr>
          <p:cNvSpPr txBox="1">
            <a:spLocks/>
          </p:cNvSpPr>
          <p:nvPr/>
        </p:nvSpPr>
        <p:spPr>
          <a:xfrm>
            <a:off x="521207" y="1487004"/>
            <a:ext cx="6333249" cy="2475396"/>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t>#include &lt;</a:t>
            </a:r>
            <a:r>
              <a:rPr lang="en-US" dirty="0" err="1"/>
              <a:t>myheader.h</a:t>
            </a:r>
            <a:r>
              <a:rPr lang="en-US" dirty="0"/>
              <a:t>&gt; </a:t>
            </a:r>
            <a:r>
              <a:rPr lang="ru-RU" dirty="0"/>
              <a:t>или </a:t>
            </a:r>
            <a:r>
              <a:rPr lang="en-US" dirty="0"/>
              <a:t>#include “</a:t>
            </a:r>
            <a:r>
              <a:rPr lang="en-US" dirty="0" err="1"/>
              <a:t>myheader.h</a:t>
            </a:r>
            <a:r>
              <a:rPr lang="en-US" dirty="0"/>
              <a:t>”</a:t>
            </a:r>
            <a:br>
              <a:rPr lang="ru-RU" dirty="0"/>
            </a:br>
            <a:r>
              <a:rPr lang="en-US" dirty="0"/>
              <a:t>#include </a:t>
            </a:r>
            <a:r>
              <a:rPr lang="ru-RU" dirty="0"/>
              <a:t>– директива препроцессора</a:t>
            </a:r>
            <a:endParaRPr lang="en-US" dirty="0"/>
          </a:p>
          <a:p>
            <a:pPr marL="0" lvl="0" indent="0">
              <a:spcAft>
                <a:spcPts val="600"/>
              </a:spcAft>
              <a:buNone/>
              <a:defRPr/>
            </a:pPr>
            <a:r>
              <a:rPr lang="en-US" dirty="0"/>
              <a:t>	</a:t>
            </a:r>
          </a:p>
        </p:txBody>
      </p:sp>
      <p:sp>
        <p:nvSpPr>
          <p:cNvPr id="12" name="TextBox 11">
            <a:extLst>
              <a:ext uri="{FF2B5EF4-FFF2-40B4-BE49-F238E27FC236}">
                <a16:creationId xmlns:a16="http://schemas.microsoft.com/office/drawing/2014/main" id="{57E1FDAD-D064-43EA-BF26-A5ACB22B4D2D}"/>
              </a:ext>
            </a:extLst>
          </p:cNvPr>
          <p:cNvSpPr txBox="1"/>
          <p:nvPr/>
        </p:nvSpPr>
        <p:spPr>
          <a:xfrm>
            <a:off x="574158" y="2150631"/>
            <a:ext cx="6096000" cy="3600986"/>
          </a:xfrm>
          <a:prstGeom prst="rect">
            <a:avLst/>
          </a:prstGeom>
          <a:noFill/>
        </p:spPr>
        <p:txBody>
          <a:bodyPr wrap="square">
            <a:spAutoFit/>
          </a:bodyPr>
          <a:lstStyle/>
          <a:p>
            <a:r>
              <a:rPr lang="en-US" sz="1200" dirty="0" err="1"/>
              <a:t>myheader.h</a:t>
            </a:r>
            <a:endParaRPr lang="en-US" sz="1200" dirty="0"/>
          </a:p>
          <a:p>
            <a:r>
              <a:rPr lang="en-US" sz="1200" dirty="0">
                <a:solidFill>
                  <a:srgbClr val="0000FF"/>
                </a:solidFill>
                <a:latin typeface="Cascadia Mono" panose="020B0609020000020004" pitchFamily="49" charset="0"/>
              </a:rPr>
              <a:t>|</a:t>
            </a:r>
          </a:p>
          <a:p>
            <a:r>
              <a:rPr lang="en-US" sz="1200" dirty="0">
                <a:solidFill>
                  <a:srgbClr val="0000FF"/>
                </a:solidFill>
                <a:latin typeface="Cascadia Mono" panose="020B0609020000020004" pitchFamily="49" charset="0"/>
              </a:rPr>
              <a:t>#pragma once</a:t>
            </a:r>
          </a:p>
          <a:p>
            <a:endParaRPr lang="en-US" sz="1200" dirty="0">
              <a:solidFill>
                <a:srgbClr val="0000FF"/>
              </a:solidFill>
              <a:latin typeface="Cascadia Mono" panose="020B0609020000020004" pitchFamily="49" charset="0"/>
            </a:endParaRPr>
          </a:p>
          <a:p>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add2(</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use_add2(</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t</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add2(</a:t>
            </a:r>
            <a:r>
              <a:rPr lang="en-US" sz="1200" dirty="0">
                <a:solidFill>
                  <a:srgbClr val="808080"/>
                </a:solidFill>
                <a:latin typeface="Cascadia Mono" panose="020B0609020000020004" pitchFamily="49" charset="0"/>
              </a:rPr>
              <a:t>t</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add2(</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add2(</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add2(</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a</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a</a:t>
            </a:r>
            <a:r>
              <a:rPr lang="en-US" sz="1200" dirty="0">
                <a:solidFill>
                  <a:srgbClr val="000000"/>
                </a:solidFill>
                <a:latin typeface="Cascadia Mono" panose="020B0609020000020004" pitchFamily="49" charset="0"/>
              </a:rPr>
              <a:t> + 2;</a:t>
            </a:r>
          </a:p>
          <a:p>
            <a:r>
              <a:rPr lang="en-US" sz="1200" dirty="0">
                <a:solidFill>
                  <a:srgbClr val="000000"/>
                </a:solidFill>
                <a:latin typeface="Cascadia Mono" panose="020B0609020000020004" pitchFamily="49" charset="0"/>
              </a:rPr>
              <a:t>}</a:t>
            </a:r>
            <a:endParaRPr lang="en-US" sz="1200" dirty="0"/>
          </a:p>
        </p:txBody>
      </p:sp>
      <p:sp>
        <p:nvSpPr>
          <p:cNvPr id="13" name="Content Placeholder 17">
            <a:extLst>
              <a:ext uri="{FF2B5EF4-FFF2-40B4-BE49-F238E27FC236}">
                <a16:creationId xmlns:a16="http://schemas.microsoft.com/office/drawing/2014/main" id="{3A96AFE4-FED2-4783-975C-E8BC8C513BD7}"/>
              </a:ext>
            </a:extLst>
          </p:cNvPr>
          <p:cNvSpPr txBox="1">
            <a:spLocks/>
          </p:cNvSpPr>
          <p:nvPr/>
        </p:nvSpPr>
        <p:spPr>
          <a:xfrm>
            <a:off x="4380826" y="1487004"/>
            <a:ext cx="6333249" cy="2475396"/>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ru-RU" dirty="0"/>
              <a:t>Комплитору не обязательно знать детали реализации!</a:t>
            </a:r>
            <a:endParaRPr lang="en-US" dirty="0"/>
          </a:p>
          <a:p>
            <a:pPr marL="0" lvl="0" indent="0">
              <a:spcAft>
                <a:spcPts val="600"/>
              </a:spcAft>
              <a:buNone/>
              <a:defRPr/>
            </a:pPr>
            <a:r>
              <a:rPr lang="en-US" dirty="0"/>
              <a:t>	</a:t>
            </a:r>
          </a:p>
        </p:txBody>
      </p:sp>
      <p:sp>
        <p:nvSpPr>
          <p:cNvPr id="18" name="TextBox 17">
            <a:extLst>
              <a:ext uri="{FF2B5EF4-FFF2-40B4-BE49-F238E27FC236}">
                <a16:creationId xmlns:a16="http://schemas.microsoft.com/office/drawing/2014/main" id="{E7C2F343-7442-4247-86A9-278445D753F0}"/>
              </a:ext>
            </a:extLst>
          </p:cNvPr>
          <p:cNvSpPr txBox="1"/>
          <p:nvPr/>
        </p:nvSpPr>
        <p:spPr>
          <a:xfrm>
            <a:off x="4380826" y="2150631"/>
            <a:ext cx="6096000" cy="2862322"/>
          </a:xfrm>
          <a:prstGeom prst="rect">
            <a:avLst/>
          </a:prstGeom>
          <a:noFill/>
        </p:spPr>
        <p:txBody>
          <a:bodyPr wrap="square">
            <a:spAutoFit/>
          </a:bodyPr>
          <a:lstStyle/>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MyStruct</a:t>
            </a: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forward declaration</a:t>
            </a:r>
            <a:endParaRPr lang="en-US" sz="1200" dirty="0">
              <a:solidFill>
                <a:srgbClr val="000000"/>
              </a:solidFill>
              <a:latin typeface="Cascadia Mono" panose="020B0609020000020004" pitchFamily="49" charset="0"/>
            </a:endParaRPr>
          </a:p>
          <a:p>
            <a:endParaRPr lang="en-US" sz="1200" dirty="0">
              <a:solidFill>
                <a:srgbClr val="000000"/>
              </a:solidFill>
              <a:latin typeface="Cascadia Mono" panose="020B0609020000020004" pitchFamily="49" charset="0"/>
            </a:endParaRPr>
          </a:p>
          <a:p>
            <a:r>
              <a:rPr lang="en-US" sz="1200" dirty="0" err="1">
                <a:solidFill>
                  <a:srgbClr val="2B91AF"/>
                </a:solidFill>
                <a:latin typeface="Cascadia Mono" panose="020B0609020000020004" pitchFamily="49" charset="0"/>
              </a:rPr>
              <a:t>MyStruct</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UseMyStruct</a:t>
            </a:r>
            <a:r>
              <a:rPr lang="en-US" sz="1200" dirty="0">
                <a:solidFill>
                  <a:srgbClr val="000000"/>
                </a:solidFill>
                <a:latin typeface="Cascadia Mono" panose="020B0609020000020004" pitchFamily="49" charset="0"/>
              </a:rPr>
              <a:t>(</a:t>
            </a:r>
            <a:r>
              <a:rPr lang="en-US" sz="1200" dirty="0" err="1">
                <a:solidFill>
                  <a:srgbClr val="2B91AF"/>
                </a:solidFill>
                <a:latin typeface="Cascadia Mono" panose="020B0609020000020004" pitchFamily="49" charset="0"/>
              </a:rPr>
              <a:t>MyStruct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t</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if</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t</a:t>
            </a:r>
            <a:r>
              <a:rPr lang="en-US" sz="1200" dirty="0">
                <a:solidFill>
                  <a:srgbClr val="000000"/>
                </a:solidFill>
                <a:latin typeface="Cascadia Mono" panose="020B0609020000020004" pitchFamily="49" charset="0"/>
              </a:rPr>
              <a:t> == </a:t>
            </a:r>
            <a:r>
              <a:rPr lang="en-US" sz="1200" dirty="0" err="1">
                <a:solidFill>
                  <a:srgbClr val="0000FF"/>
                </a:solidFill>
                <a:latin typeface="Cascadia Mono" panose="020B0609020000020004" pitchFamily="49" charset="0"/>
              </a:rPr>
              <a:t>nullptr</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nullptr</a:t>
            </a:r>
            <a:r>
              <a:rPr lang="en-US" sz="1200" dirty="0">
                <a:solidFill>
                  <a:srgbClr val="A31515"/>
                </a:solidFill>
                <a:latin typeface="Cascadia Mono" panose="020B0609020000020004" pitchFamily="49" charset="0"/>
              </a:rPr>
              <a:t>\n"</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t</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MyStruct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a:t>
            </a:r>
          </a:p>
          <a:p>
            <a:r>
              <a:rPr lang="en-US" sz="1200" dirty="0">
                <a:solidFill>
                  <a:srgbClr val="000000"/>
                </a:solidFill>
                <a:latin typeface="Cascadia Mono" panose="020B0609020000020004" pitchFamily="49" charset="0"/>
              </a:rPr>
              <a:t>};</a:t>
            </a:r>
            <a:endParaRPr lang="en-US" sz="1200" dirty="0"/>
          </a:p>
        </p:txBody>
      </p:sp>
    </p:spTree>
    <p:extLst>
      <p:ext uri="{BB962C8B-B14F-4D97-AF65-F5344CB8AC3E}">
        <p14:creationId xmlns:p14="http://schemas.microsoft.com/office/powerpoint/2010/main" val="9118525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Memory alignment</a:t>
            </a:r>
          </a:p>
        </p:txBody>
      </p:sp>
      <p:sp>
        <p:nvSpPr>
          <p:cNvPr id="11" name="TextBox 10">
            <a:extLst>
              <a:ext uri="{FF2B5EF4-FFF2-40B4-BE49-F238E27FC236}">
                <a16:creationId xmlns:a16="http://schemas.microsoft.com/office/drawing/2014/main" id="{F52FBB44-D7D6-4D92-B2AE-E93B9443CF47}"/>
              </a:ext>
            </a:extLst>
          </p:cNvPr>
          <p:cNvSpPr txBox="1"/>
          <p:nvPr/>
        </p:nvSpPr>
        <p:spPr>
          <a:xfrm>
            <a:off x="694660" y="1683628"/>
            <a:ext cx="6096000" cy="3046988"/>
          </a:xfrm>
          <a:prstGeom prst="rect">
            <a:avLst/>
          </a:prstGeom>
          <a:noFill/>
        </p:spPr>
        <p:txBody>
          <a:bodyPr wrap="square">
            <a:spAutoFit/>
          </a:bodyPr>
          <a:lstStyle/>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EmptyStruct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TwoBytes</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char</a:t>
            </a:r>
            <a:r>
              <a:rPr lang="en-US" sz="1200" dirty="0">
                <a:solidFill>
                  <a:srgbClr val="000000"/>
                </a:solidFill>
                <a:latin typeface="Cascadia Mono" panose="020B0609020000020004" pitchFamily="49" charset="0"/>
              </a:rPr>
              <a:t> t1;</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char</a:t>
            </a:r>
            <a:r>
              <a:rPr lang="en-US" sz="1200" dirty="0">
                <a:solidFill>
                  <a:srgbClr val="000000"/>
                </a:solidFill>
                <a:latin typeface="Cascadia Mono" panose="020B0609020000020004" pitchFamily="49" charset="0"/>
              </a:rPr>
              <a:t> t2;</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FloatAndDouble</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f1;</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d2;</a:t>
            </a:r>
          </a:p>
          <a:p>
            <a:r>
              <a:rPr lang="en-US" sz="1200" dirty="0">
                <a:solidFill>
                  <a:srgbClr val="000000"/>
                </a:solidFill>
                <a:latin typeface="Cascadia Mono" panose="020B0609020000020004" pitchFamily="49" charset="0"/>
              </a:rPr>
              <a:t>};</a:t>
            </a:r>
            <a:endParaRPr lang="en-US" sz="1200" dirty="0"/>
          </a:p>
        </p:txBody>
      </p:sp>
      <p:sp>
        <p:nvSpPr>
          <p:cNvPr id="15" name="TextBox 14">
            <a:extLst>
              <a:ext uri="{FF2B5EF4-FFF2-40B4-BE49-F238E27FC236}">
                <a16:creationId xmlns:a16="http://schemas.microsoft.com/office/drawing/2014/main" id="{8AFC3EF0-4498-43E5-BFDF-531EEF2D033A}"/>
              </a:ext>
            </a:extLst>
          </p:cNvPr>
          <p:cNvSpPr txBox="1"/>
          <p:nvPr/>
        </p:nvSpPr>
        <p:spPr>
          <a:xfrm>
            <a:off x="3742660" y="1649658"/>
            <a:ext cx="7542028" cy="1200329"/>
          </a:xfrm>
          <a:prstGeom prst="rect">
            <a:avLst/>
          </a:prstGeom>
          <a:noFill/>
        </p:spPr>
        <p:txBody>
          <a:bodyPr wrap="square">
            <a:spAutoFit/>
          </a:bodyPr>
          <a:lstStyle/>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sizeof</a:t>
            </a:r>
            <a:r>
              <a:rPr lang="en-US" sz="1200" dirty="0">
                <a:solidFill>
                  <a:srgbClr val="A31515"/>
                </a:solidFill>
                <a:latin typeface="Cascadia Mono" panose="020B0609020000020004" pitchFamily="49" charset="0"/>
              </a:rPr>
              <a:t>(char): "</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err="1">
                <a:solidFill>
                  <a:srgbClr val="0000FF"/>
                </a:solidFill>
                <a:latin typeface="Cascadia Mono" panose="020B0609020000020004" pitchFamily="49" charset="0"/>
              </a:rPr>
              <a:t>sizeof</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char</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"\n"</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sizeof</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EmptyStruct</a:t>
            </a:r>
            <a:r>
              <a:rPr lang="en-US" sz="1200" dirty="0">
                <a:solidFill>
                  <a:srgbClr val="A31515"/>
                </a:solidFill>
                <a:latin typeface="Cascadia Mono" panose="020B0609020000020004" pitchFamily="49" charset="0"/>
              </a:rPr>
              <a:t>): "</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err="1">
                <a:solidFill>
                  <a:srgbClr val="0000FF"/>
                </a:solidFill>
                <a:latin typeface="Cascadia Mono" panose="020B0609020000020004" pitchFamily="49" charset="0"/>
              </a:rPr>
              <a:t>sizeof</a:t>
            </a:r>
            <a:r>
              <a:rPr lang="en-US" sz="1200" dirty="0">
                <a:solidFill>
                  <a:srgbClr val="000000"/>
                </a:solidFill>
                <a:latin typeface="Cascadia Mono" panose="020B0609020000020004" pitchFamily="49" charset="0"/>
              </a:rPr>
              <a:t>(</a:t>
            </a:r>
            <a:r>
              <a:rPr lang="en-US" sz="1200" dirty="0" err="1">
                <a:solidFill>
                  <a:srgbClr val="2B91AF"/>
                </a:solidFill>
                <a:latin typeface="Cascadia Mono" panose="020B0609020000020004" pitchFamily="49" charset="0"/>
              </a:rPr>
              <a:t>EmptyStruct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"\n"</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sizeof</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TwoBytes</a:t>
            </a:r>
            <a:r>
              <a:rPr lang="en-US" sz="1200" dirty="0">
                <a:solidFill>
                  <a:srgbClr val="A31515"/>
                </a:solidFill>
                <a:latin typeface="Cascadia Mono" panose="020B0609020000020004" pitchFamily="49" charset="0"/>
              </a:rPr>
              <a:t>): "</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err="1">
                <a:solidFill>
                  <a:srgbClr val="0000FF"/>
                </a:solidFill>
                <a:latin typeface="Cascadia Mono" panose="020B0609020000020004" pitchFamily="49" charset="0"/>
              </a:rPr>
              <a:t>sizeof</a:t>
            </a:r>
            <a:r>
              <a:rPr lang="en-US" sz="1200" dirty="0">
                <a:solidFill>
                  <a:srgbClr val="000000"/>
                </a:solidFill>
                <a:latin typeface="Cascadia Mono" panose="020B0609020000020004" pitchFamily="49" charset="0"/>
              </a:rPr>
              <a:t>(</a:t>
            </a:r>
            <a:r>
              <a:rPr lang="en-US" sz="1200" dirty="0" err="1">
                <a:solidFill>
                  <a:srgbClr val="2B91AF"/>
                </a:solidFill>
                <a:latin typeface="Cascadia Mono" panose="020B0609020000020004" pitchFamily="49" charset="0"/>
              </a:rPr>
              <a:t>TwoBytes</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"\n"</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sizeof</a:t>
            </a:r>
            <a:r>
              <a:rPr lang="en-US" sz="1200" dirty="0">
                <a:solidFill>
                  <a:srgbClr val="A31515"/>
                </a:solidFill>
                <a:latin typeface="Cascadia Mono" panose="020B0609020000020004" pitchFamily="49" charset="0"/>
              </a:rPr>
              <a:t>(float): "</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err="1">
                <a:solidFill>
                  <a:srgbClr val="0000FF"/>
                </a:solidFill>
                <a:latin typeface="Cascadia Mono" panose="020B0609020000020004" pitchFamily="49" charset="0"/>
              </a:rPr>
              <a:t>sizeof</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"\n"</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sizeof</a:t>
            </a:r>
            <a:r>
              <a:rPr lang="en-US" sz="1200" dirty="0">
                <a:solidFill>
                  <a:srgbClr val="A31515"/>
                </a:solidFill>
                <a:latin typeface="Cascadia Mono" panose="020B0609020000020004" pitchFamily="49" charset="0"/>
              </a:rPr>
              <a:t>(double): "</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err="1">
                <a:solidFill>
                  <a:srgbClr val="0000FF"/>
                </a:solidFill>
                <a:latin typeface="Cascadia Mono" panose="020B0609020000020004" pitchFamily="49" charset="0"/>
              </a:rPr>
              <a:t>sizeof</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"\n"</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sizeof</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FloatAndDouble</a:t>
            </a:r>
            <a:r>
              <a:rPr lang="en-US" sz="1200" dirty="0">
                <a:solidFill>
                  <a:srgbClr val="A31515"/>
                </a:solidFill>
                <a:latin typeface="Cascadia Mono" panose="020B0609020000020004" pitchFamily="49" charset="0"/>
              </a:rPr>
              <a:t>): "</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err="1">
                <a:solidFill>
                  <a:srgbClr val="0000FF"/>
                </a:solidFill>
                <a:latin typeface="Cascadia Mono" panose="020B0609020000020004" pitchFamily="49" charset="0"/>
              </a:rPr>
              <a:t>sizeof</a:t>
            </a:r>
            <a:r>
              <a:rPr lang="en-US" sz="1200" dirty="0">
                <a:solidFill>
                  <a:srgbClr val="000000"/>
                </a:solidFill>
                <a:latin typeface="Cascadia Mono" panose="020B0609020000020004" pitchFamily="49" charset="0"/>
              </a:rPr>
              <a:t>(</a:t>
            </a:r>
            <a:r>
              <a:rPr lang="en-US" sz="1200" dirty="0" err="1">
                <a:solidFill>
                  <a:srgbClr val="2B91AF"/>
                </a:solidFill>
                <a:latin typeface="Cascadia Mono" panose="020B0609020000020004" pitchFamily="49" charset="0"/>
              </a:rPr>
              <a:t>FloatAndDouble</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"\n"</a:t>
            </a:r>
            <a:r>
              <a:rPr lang="en-US" sz="1200" dirty="0">
                <a:solidFill>
                  <a:srgbClr val="000000"/>
                </a:solidFill>
                <a:latin typeface="Cascadia Mono" panose="020B0609020000020004" pitchFamily="49" charset="0"/>
              </a:rPr>
              <a:t>;</a:t>
            </a:r>
            <a:endParaRPr lang="en-US" sz="1200" dirty="0"/>
          </a:p>
        </p:txBody>
      </p:sp>
      <p:sp>
        <p:nvSpPr>
          <p:cNvPr id="16" name="TextBox 15">
            <a:extLst>
              <a:ext uri="{FF2B5EF4-FFF2-40B4-BE49-F238E27FC236}">
                <a16:creationId xmlns:a16="http://schemas.microsoft.com/office/drawing/2014/main" id="{E9F6954F-1A57-49BA-BF78-56181E6A1FE9}"/>
              </a:ext>
            </a:extLst>
          </p:cNvPr>
          <p:cNvSpPr txBox="1"/>
          <p:nvPr/>
        </p:nvSpPr>
        <p:spPr>
          <a:xfrm>
            <a:off x="4196317" y="3149323"/>
            <a:ext cx="6096000" cy="2062103"/>
          </a:xfrm>
          <a:prstGeom prst="rect">
            <a:avLst/>
          </a:prstGeom>
          <a:noFill/>
        </p:spPr>
        <p:txBody>
          <a:bodyPr wrap="square">
            <a:spAutoFit/>
          </a:bodyPr>
          <a:lstStyle/>
          <a:p>
            <a:r>
              <a:rPr lang="en-US" sz="1600" dirty="0" err="1"/>
              <a:t>sizeof</a:t>
            </a:r>
            <a:r>
              <a:rPr lang="en-US" sz="1600" dirty="0"/>
              <a:t>(char): 1</a:t>
            </a:r>
          </a:p>
          <a:p>
            <a:r>
              <a:rPr lang="en-US" sz="1600" dirty="0" err="1"/>
              <a:t>sizeof</a:t>
            </a:r>
            <a:r>
              <a:rPr lang="en-US" sz="1600" dirty="0"/>
              <a:t>(</a:t>
            </a:r>
            <a:r>
              <a:rPr lang="en-US" sz="1600" dirty="0" err="1"/>
              <a:t>EmptyStruct</a:t>
            </a:r>
            <a:r>
              <a:rPr lang="en-US" sz="1600" dirty="0"/>
              <a:t>): 1</a:t>
            </a:r>
          </a:p>
          <a:p>
            <a:r>
              <a:rPr lang="en-US" sz="1600" dirty="0" err="1"/>
              <a:t>sizeof</a:t>
            </a:r>
            <a:r>
              <a:rPr lang="en-US" sz="1600" dirty="0"/>
              <a:t>(</a:t>
            </a:r>
            <a:r>
              <a:rPr lang="en-US" sz="1600" dirty="0" err="1"/>
              <a:t>TwoBytes</a:t>
            </a:r>
            <a:r>
              <a:rPr lang="en-US" sz="1600" dirty="0"/>
              <a:t>): 2</a:t>
            </a:r>
          </a:p>
          <a:p>
            <a:r>
              <a:rPr lang="en-US" sz="1600" dirty="0" err="1"/>
              <a:t>sizeof</a:t>
            </a:r>
            <a:r>
              <a:rPr lang="en-US" sz="1600" dirty="0"/>
              <a:t>(float): 4</a:t>
            </a:r>
          </a:p>
          <a:p>
            <a:r>
              <a:rPr lang="en-US" sz="1600" dirty="0" err="1"/>
              <a:t>sizeof</a:t>
            </a:r>
            <a:r>
              <a:rPr lang="en-US" sz="1600" dirty="0"/>
              <a:t>(double): 8</a:t>
            </a:r>
          </a:p>
          <a:p>
            <a:r>
              <a:rPr lang="en-US" sz="1600" dirty="0" err="1"/>
              <a:t>sizeof</a:t>
            </a:r>
            <a:r>
              <a:rPr lang="en-US" sz="1600" dirty="0"/>
              <a:t>(</a:t>
            </a:r>
            <a:r>
              <a:rPr lang="en-US" sz="1600" dirty="0" err="1"/>
              <a:t>FloatAndDouble</a:t>
            </a:r>
            <a:r>
              <a:rPr lang="en-US" sz="1600" dirty="0"/>
              <a:t>): 16</a:t>
            </a:r>
          </a:p>
          <a:p>
            <a:r>
              <a:rPr lang="en-US" sz="1600" dirty="0" err="1"/>
              <a:t>sizeof</a:t>
            </a:r>
            <a:r>
              <a:rPr lang="en-US" sz="1600" dirty="0"/>
              <a:t>(bool): 1</a:t>
            </a:r>
          </a:p>
          <a:p>
            <a:r>
              <a:rPr lang="en-US" sz="1600" dirty="0" err="1"/>
              <a:t>sizeof</a:t>
            </a:r>
            <a:r>
              <a:rPr lang="en-US" sz="1600" dirty="0"/>
              <a:t>(</a:t>
            </a:r>
            <a:r>
              <a:rPr lang="en-US" sz="1600" dirty="0" err="1"/>
              <a:t>FloatAndDoubleAndBool</a:t>
            </a:r>
            <a:r>
              <a:rPr lang="en-US" sz="1600" dirty="0"/>
              <a:t>): 24</a:t>
            </a:r>
          </a:p>
        </p:txBody>
      </p:sp>
    </p:spTree>
    <p:extLst>
      <p:ext uri="{BB962C8B-B14F-4D97-AF65-F5344CB8AC3E}">
        <p14:creationId xmlns:p14="http://schemas.microsoft.com/office/powerpoint/2010/main" val="16633746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Memory alignment</a:t>
            </a:r>
          </a:p>
        </p:txBody>
      </p:sp>
      <p:sp>
        <p:nvSpPr>
          <p:cNvPr id="12" name="TextBox 11">
            <a:extLst>
              <a:ext uri="{FF2B5EF4-FFF2-40B4-BE49-F238E27FC236}">
                <a16:creationId xmlns:a16="http://schemas.microsoft.com/office/drawing/2014/main" id="{4416BD30-67C3-41AA-B6FB-33CF07004728}"/>
              </a:ext>
            </a:extLst>
          </p:cNvPr>
          <p:cNvSpPr txBox="1"/>
          <p:nvPr/>
        </p:nvSpPr>
        <p:spPr>
          <a:xfrm>
            <a:off x="645042" y="1588775"/>
            <a:ext cx="3267739" cy="2308324"/>
          </a:xfrm>
          <a:prstGeom prst="rect">
            <a:avLst/>
          </a:prstGeom>
          <a:noFill/>
        </p:spPr>
        <p:txBody>
          <a:bodyPr wrap="square">
            <a:spAutoFit/>
          </a:bodyPr>
          <a:lstStyle/>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FloatAndDouble</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f1;</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d2;</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__</a:t>
            </a:r>
            <a:r>
              <a:rPr lang="en-US" sz="1200" dirty="0" err="1">
                <a:solidFill>
                  <a:srgbClr val="0000FF"/>
                </a:solidFill>
                <a:latin typeface="Cascadia Mono" panose="020B0609020000020004" pitchFamily="49" charset="0"/>
              </a:rPr>
              <a:t>declspec</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align</a:t>
            </a:r>
            <a:r>
              <a:rPr lang="en-US" sz="1200" dirty="0">
                <a:solidFill>
                  <a:srgbClr val="000000"/>
                </a:solidFill>
                <a:latin typeface="Cascadia Mono" panose="020B0609020000020004" pitchFamily="49" charset="0"/>
              </a:rPr>
              <a:t>(1))</a:t>
            </a:r>
          </a:p>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FloatAndDouble_Packed</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f1;</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d2;</a:t>
            </a:r>
          </a:p>
          <a:p>
            <a:r>
              <a:rPr lang="en-US" sz="1200" dirty="0">
                <a:solidFill>
                  <a:srgbClr val="000000"/>
                </a:solidFill>
                <a:latin typeface="Cascadia Mono" panose="020B0609020000020004" pitchFamily="49" charset="0"/>
              </a:rPr>
              <a:t>};</a:t>
            </a:r>
          </a:p>
        </p:txBody>
      </p:sp>
      <p:sp>
        <p:nvSpPr>
          <p:cNvPr id="13" name="TextBox 12">
            <a:extLst>
              <a:ext uri="{FF2B5EF4-FFF2-40B4-BE49-F238E27FC236}">
                <a16:creationId xmlns:a16="http://schemas.microsoft.com/office/drawing/2014/main" id="{F649A544-407F-4DC7-9B4C-454B7AA64F3E}"/>
              </a:ext>
            </a:extLst>
          </p:cNvPr>
          <p:cNvSpPr txBox="1"/>
          <p:nvPr/>
        </p:nvSpPr>
        <p:spPr>
          <a:xfrm>
            <a:off x="645042" y="4102694"/>
            <a:ext cx="6096000" cy="1015663"/>
          </a:xfrm>
          <a:prstGeom prst="rect">
            <a:avLst/>
          </a:prstGeom>
          <a:noFill/>
        </p:spPr>
        <p:txBody>
          <a:bodyPr wrap="square">
            <a:spAutoFit/>
          </a:bodyPr>
          <a:lstStyle/>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TwoBytes</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char</a:t>
            </a:r>
            <a:r>
              <a:rPr lang="en-US" sz="1200" dirty="0">
                <a:solidFill>
                  <a:srgbClr val="000000"/>
                </a:solidFill>
                <a:latin typeface="Cascadia Mono" panose="020B0609020000020004" pitchFamily="49" charset="0"/>
              </a:rPr>
              <a:t> t1;</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char</a:t>
            </a:r>
            <a:r>
              <a:rPr lang="en-US" sz="1200" dirty="0">
                <a:solidFill>
                  <a:srgbClr val="000000"/>
                </a:solidFill>
                <a:latin typeface="Cascadia Mono" panose="020B0609020000020004" pitchFamily="49" charset="0"/>
              </a:rPr>
              <a:t> t2;</a:t>
            </a:r>
          </a:p>
          <a:p>
            <a:r>
              <a:rPr lang="en-US" sz="1200" dirty="0">
                <a:solidFill>
                  <a:srgbClr val="000000"/>
                </a:solidFill>
                <a:latin typeface="Cascadia Mono" panose="020B0609020000020004" pitchFamily="49" charset="0"/>
              </a:rPr>
              <a:t>};</a:t>
            </a:r>
            <a:endParaRPr lang="en-US" sz="1200" dirty="0"/>
          </a:p>
        </p:txBody>
      </p:sp>
      <p:sp>
        <p:nvSpPr>
          <p:cNvPr id="17" name="TextBox 16">
            <a:extLst>
              <a:ext uri="{FF2B5EF4-FFF2-40B4-BE49-F238E27FC236}">
                <a16:creationId xmlns:a16="http://schemas.microsoft.com/office/drawing/2014/main" id="{698F0EB0-CB10-4D55-AE6B-C7F28C5A1EAB}"/>
              </a:ext>
            </a:extLst>
          </p:cNvPr>
          <p:cNvSpPr txBox="1"/>
          <p:nvPr/>
        </p:nvSpPr>
        <p:spPr>
          <a:xfrm>
            <a:off x="4065180" y="2805855"/>
            <a:ext cx="6096000" cy="954107"/>
          </a:xfrm>
          <a:prstGeom prst="rect">
            <a:avLst/>
          </a:prstGeom>
          <a:noFill/>
        </p:spPr>
        <p:txBody>
          <a:bodyPr wrap="square">
            <a:spAutoFit/>
          </a:bodyPr>
          <a:lstStyle/>
          <a:p>
            <a:r>
              <a:rPr lang="en-US" sz="1400" dirty="0" err="1"/>
              <a:t>alignof</a:t>
            </a:r>
            <a:r>
              <a:rPr lang="en-US" sz="1400" dirty="0"/>
              <a:t>(</a:t>
            </a:r>
            <a:r>
              <a:rPr lang="en-US" sz="1400" dirty="0" err="1"/>
              <a:t>FloatAndDouble</a:t>
            </a:r>
            <a:r>
              <a:rPr lang="en-US" sz="1400" dirty="0"/>
              <a:t>): 8</a:t>
            </a:r>
          </a:p>
          <a:p>
            <a:r>
              <a:rPr lang="en-US" sz="1400" dirty="0" err="1"/>
              <a:t>alignof</a:t>
            </a:r>
            <a:r>
              <a:rPr lang="en-US" sz="1400" dirty="0"/>
              <a:t>(</a:t>
            </a:r>
            <a:r>
              <a:rPr lang="en-US" sz="1400" dirty="0" err="1"/>
              <a:t>TwoBytes</a:t>
            </a:r>
            <a:r>
              <a:rPr lang="en-US" sz="1400" dirty="0"/>
              <a:t>): 1</a:t>
            </a:r>
          </a:p>
          <a:p>
            <a:r>
              <a:rPr lang="en-US" sz="1400" dirty="0" err="1"/>
              <a:t>sizeof</a:t>
            </a:r>
            <a:r>
              <a:rPr lang="en-US" sz="1400" dirty="0"/>
              <a:t>(</a:t>
            </a:r>
            <a:r>
              <a:rPr lang="en-US" sz="1400" dirty="0" err="1"/>
              <a:t>FloatAndDouble_Packed</a:t>
            </a:r>
            <a:r>
              <a:rPr lang="en-US" sz="1400" dirty="0"/>
              <a:t>): 16</a:t>
            </a:r>
          </a:p>
          <a:p>
            <a:r>
              <a:rPr lang="en-US" sz="1400" dirty="0" err="1"/>
              <a:t>alignof</a:t>
            </a:r>
            <a:r>
              <a:rPr lang="en-US" sz="1400" dirty="0"/>
              <a:t>(</a:t>
            </a:r>
            <a:r>
              <a:rPr lang="en-US" sz="1400" dirty="0" err="1"/>
              <a:t>FloatAndDouble_Packed</a:t>
            </a:r>
            <a:r>
              <a:rPr lang="en-US" sz="1400" dirty="0"/>
              <a:t>): 8</a:t>
            </a:r>
          </a:p>
        </p:txBody>
      </p:sp>
      <p:sp>
        <p:nvSpPr>
          <p:cNvPr id="18" name="TextBox 17">
            <a:extLst>
              <a:ext uri="{FF2B5EF4-FFF2-40B4-BE49-F238E27FC236}">
                <a16:creationId xmlns:a16="http://schemas.microsoft.com/office/drawing/2014/main" id="{B476E00F-D1AB-47AD-8D78-EB31F4075660}"/>
              </a:ext>
            </a:extLst>
          </p:cNvPr>
          <p:cNvSpPr txBox="1"/>
          <p:nvPr/>
        </p:nvSpPr>
        <p:spPr>
          <a:xfrm>
            <a:off x="2821171" y="1661620"/>
            <a:ext cx="8584019" cy="830997"/>
          </a:xfrm>
          <a:prstGeom prst="rect">
            <a:avLst/>
          </a:prstGeom>
          <a:noFill/>
        </p:spPr>
        <p:txBody>
          <a:bodyPr wrap="square">
            <a:spAutoFit/>
          </a:bodyPr>
          <a:lstStyle/>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alignof</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FloatAndDouble</a:t>
            </a:r>
            <a:r>
              <a:rPr lang="en-US" sz="1200" dirty="0">
                <a:solidFill>
                  <a:srgbClr val="A31515"/>
                </a:solidFill>
                <a:latin typeface="Cascadia Mono" panose="020B0609020000020004" pitchFamily="49" charset="0"/>
              </a:rPr>
              <a:t>): "</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err="1">
                <a:solidFill>
                  <a:srgbClr val="0000FF"/>
                </a:solidFill>
                <a:latin typeface="Cascadia Mono" panose="020B0609020000020004" pitchFamily="49" charset="0"/>
              </a:rPr>
              <a:t>alignof</a:t>
            </a:r>
            <a:r>
              <a:rPr lang="en-US" sz="1200" dirty="0">
                <a:solidFill>
                  <a:srgbClr val="000000"/>
                </a:solidFill>
                <a:latin typeface="Cascadia Mono" panose="020B0609020000020004" pitchFamily="49" charset="0"/>
              </a:rPr>
              <a:t>(</a:t>
            </a:r>
            <a:r>
              <a:rPr lang="en-US" sz="1200" dirty="0" err="1">
                <a:solidFill>
                  <a:srgbClr val="2B91AF"/>
                </a:solidFill>
                <a:latin typeface="Cascadia Mono" panose="020B0609020000020004" pitchFamily="49" charset="0"/>
              </a:rPr>
              <a:t>FloatAndDouble</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"\n"</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alignof</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TwoBytes</a:t>
            </a:r>
            <a:r>
              <a:rPr lang="en-US" sz="1200" dirty="0">
                <a:solidFill>
                  <a:srgbClr val="A31515"/>
                </a:solidFill>
                <a:latin typeface="Cascadia Mono" panose="020B0609020000020004" pitchFamily="49" charset="0"/>
              </a:rPr>
              <a:t>): "</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err="1">
                <a:solidFill>
                  <a:srgbClr val="0000FF"/>
                </a:solidFill>
                <a:latin typeface="Cascadia Mono" panose="020B0609020000020004" pitchFamily="49" charset="0"/>
              </a:rPr>
              <a:t>alignof</a:t>
            </a:r>
            <a:r>
              <a:rPr lang="en-US" sz="1200" dirty="0">
                <a:solidFill>
                  <a:srgbClr val="000000"/>
                </a:solidFill>
                <a:latin typeface="Cascadia Mono" panose="020B0609020000020004" pitchFamily="49" charset="0"/>
              </a:rPr>
              <a:t>(</a:t>
            </a:r>
            <a:r>
              <a:rPr lang="en-US" sz="1200" dirty="0" err="1">
                <a:solidFill>
                  <a:srgbClr val="2B91AF"/>
                </a:solidFill>
                <a:latin typeface="Cascadia Mono" panose="020B0609020000020004" pitchFamily="49" charset="0"/>
              </a:rPr>
              <a:t>TwoBytes</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"\n"</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sizeof</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FloatAndDouble_Packed</a:t>
            </a:r>
            <a:r>
              <a:rPr lang="en-US" sz="1200" dirty="0">
                <a:solidFill>
                  <a:srgbClr val="A31515"/>
                </a:solidFill>
                <a:latin typeface="Cascadia Mono" panose="020B0609020000020004" pitchFamily="49" charset="0"/>
              </a:rPr>
              <a:t>): "</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err="1">
                <a:solidFill>
                  <a:srgbClr val="0000FF"/>
                </a:solidFill>
                <a:latin typeface="Cascadia Mono" panose="020B0609020000020004" pitchFamily="49" charset="0"/>
              </a:rPr>
              <a:t>sizeof</a:t>
            </a:r>
            <a:r>
              <a:rPr lang="en-US" sz="1200" dirty="0">
                <a:solidFill>
                  <a:srgbClr val="000000"/>
                </a:solidFill>
                <a:latin typeface="Cascadia Mono" panose="020B0609020000020004" pitchFamily="49" charset="0"/>
              </a:rPr>
              <a:t>(</a:t>
            </a:r>
            <a:r>
              <a:rPr lang="en-US" sz="1200" dirty="0" err="1">
                <a:solidFill>
                  <a:srgbClr val="2B91AF"/>
                </a:solidFill>
                <a:latin typeface="Cascadia Mono" panose="020B0609020000020004" pitchFamily="49" charset="0"/>
              </a:rPr>
              <a:t>FloatAndDouble_Packed</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"\n"</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alignof</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FloatAndDouble_Packed</a:t>
            </a:r>
            <a:r>
              <a:rPr lang="en-US" sz="1200" dirty="0">
                <a:solidFill>
                  <a:srgbClr val="A31515"/>
                </a:solidFill>
                <a:latin typeface="Cascadia Mono" panose="020B0609020000020004" pitchFamily="49" charset="0"/>
              </a:rPr>
              <a:t>): "</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err="1">
                <a:solidFill>
                  <a:srgbClr val="0000FF"/>
                </a:solidFill>
                <a:latin typeface="Cascadia Mono" panose="020B0609020000020004" pitchFamily="49" charset="0"/>
              </a:rPr>
              <a:t>alignof</a:t>
            </a:r>
            <a:r>
              <a:rPr lang="en-US" sz="1200" dirty="0">
                <a:solidFill>
                  <a:srgbClr val="000000"/>
                </a:solidFill>
                <a:latin typeface="Cascadia Mono" panose="020B0609020000020004" pitchFamily="49" charset="0"/>
              </a:rPr>
              <a:t>(</a:t>
            </a:r>
            <a:r>
              <a:rPr lang="en-US" sz="1200" dirty="0" err="1">
                <a:solidFill>
                  <a:srgbClr val="2B91AF"/>
                </a:solidFill>
                <a:latin typeface="Cascadia Mono" panose="020B0609020000020004" pitchFamily="49" charset="0"/>
              </a:rPr>
              <a:t>FloatAndDouble_Packed</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"\n"</a:t>
            </a:r>
            <a:r>
              <a:rPr lang="en-US" sz="1200" dirty="0">
                <a:solidFill>
                  <a:srgbClr val="000000"/>
                </a:solidFill>
                <a:latin typeface="Cascadia Mono" panose="020B0609020000020004" pitchFamily="49" charset="0"/>
              </a:rPr>
              <a:t>;</a:t>
            </a:r>
            <a:endParaRPr lang="en-US" sz="1200" dirty="0"/>
          </a:p>
        </p:txBody>
      </p:sp>
    </p:spTree>
    <p:extLst>
      <p:ext uri="{BB962C8B-B14F-4D97-AF65-F5344CB8AC3E}">
        <p14:creationId xmlns:p14="http://schemas.microsoft.com/office/powerpoint/2010/main" val="36802502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Undefined behavior</a:t>
            </a:r>
          </a:p>
        </p:txBody>
      </p:sp>
      <p:sp>
        <p:nvSpPr>
          <p:cNvPr id="7" name="TextBox 6">
            <a:extLst>
              <a:ext uri="{FF2B5EF4-FFF2-40B4-BE49-F238E27FC236}">
                <a16:creationId xmlns:a16="http://schemas.microsoft.com/office/drawing/2014/main" id="{11FE75F4-22CB-4119-95AB-2AF2016BAAD9}"/>
              </a:ext>
            </a:extLst>
          </p:cNvPr>
          <p:cNvSpPr txBox="1"/>
          <p:nvPr/>
        </p:nvSpPr>
        <p:spPr>
          <a:xfrm>
            <a:off x="698372" y="1490170"/>
            <a:ext cx="8584019" cy="430887"/>
          </a:xfrm>
          <a:prstGeom prst="rect">
            <a:avLst/>
          </a:prstGeom>
          <a:noFill/>
        </p:spPr>
        <p:txBody>
          <a:bodyPr wrap="square">
            <a:spAutoFit/>
          </a:bodyPr>
          <a:lstStyle/>
          <a:p>
            <a:pPr marL="171450" indent="-171450">
              <a:buFont typeface="Arial" panose="020B0604020202020204" pitchFamily="34" charset="0"/>
              <a:buChar char="•"/>
            </a:pPr>
            <a:r>
              <a:rPr lang="en-US" sz="1100" dirty="0">
                <a:solidFill>
                  <a:srgbClr val="000000"/>
                </a:solidFill>
                <a:latin typeface="Cascadia Mono" panose="020B0609020000020004" pitchFamily="49" charset="0"/>
              </a:rPr>
              <a:t>Undefined behavior - </a:t>
            </a:r>
            <a:r>
              <a:rPr lang="ru-RU" sz="1100" dirty="0">
                <a:solidFill>
                  <a:srgbClr val="000000"/>
                </a:solidFill>
                <a:latin typeface="Cascadia Mono" panose="020B0609020000020004" pitchFamily="49" charset="0"/>
              </a:rPr>
              <a:t>Попытка выполнения кода, поведение которого не описанно в стандарте </a:t>
            </a:r>
            <a:r>
              <a:rPr lang="en-US" sz="1100" dirty="0">
                <a:solidFill>
                  <a:srgbClr val="000000"/>
                </a:solidFill>
                <a:latin typeface="Cascadia Mono" panose="020B0609020000020004" pitchFamily="49" charset="0"/>
              </a:rPr>
              <a:t>C++.</a:t>
            </a:r>
            <a:endParaRPr lang="ru-RU" sz="1100" dirty="0">
              <a:solidFill>
                <a:srgbClr val="000000"/>
              </a:solidFill>
              <a:latin typeface="Cascadia Mono" panose="020B0609020000020004" pitchFamily="49" charset="0"/>
            </a:endParaRPr>
          </a:p>
          <a:p>
            <a:pPr marL="171450" indent="-171450">
              <a:buFont typeface="Arial" panose="020B0604020202020204" pitchFamily="34" charset="0"/>
              <a:buChar char="•"/>
            </a:pPr>
            <a:r>
              <a:rPr lang="ru-RU" sz="1100" dirty="0">
                <a:solidFill>
                  <a:srgbClr val="000000"/>
                </a:solidFill>
                <a:latin typeface="Cascadia Mono" panose="020B0609020000020004" pitchFamily="49" charset="0"/>
              </a:rPr>
              <a:t>Код синтаксически валиден, но его выполнение приводит к неизвесному результату</a:t>
            </a:r>
            <a:endParaRPr lang="en-US" sz="1100" dirty="0">
              <a:solidFill>
                <a:srgbClr val="000000"/>
              </a:solidFill>
              <a:latin typeface="Cascadia Mono" panose="020B0609020000020004" pitchFamily="49" charset="0"/>
            </a:endParaRPr>
          </a:p>
        </p:txBody>
      </p:sp>
      <p:sp>
        <p:nvSpPr>
          <p:cNvPr id="4" name="TextBox 3">
            <a:extLst>
              <a:ext uri="{FF2B5EF4-FFF2-40B4-BE49-F238E27FC236}">
                <a16:creationId xmlns:a16="http://schemas.microsoft.com/office/drawing/2014/main" id="{465684CC-7B10-4F6D-B801-F6CDBC407029}"/>
              </a:ext>
            </a:extLst>
          </p:cNvPr>
          <p:cNvSpPr txBox="1"/>
          <p:nvPr/>
        </p:nvSpPr>
        <p:spPr>
          <a:xfrm>
            <a:off x="698371" y="2078339"/>
            <a:ext cx="8584019" cy="261610"/>
          </a:xfrm>
          <a:prstGeom prst="rect">
            <a:avLst/>
          </a:prstGeom>
          <a:noFill/>
        </p:spPr>
        <p:txBody>
          <a:bodyPr wrap="square">
            <a:spAutoFit/>
          </a:bodyPr>
          <a:lstStyle/>
          <a:p>
            <a:pPr marL="171450" indent="-171450">
              <a:buFont typeface="Arial" panose="020B0604020202020204" pitchFamily="34" charset="0"/>
              <a:buChar char="•"/>
            </a:pPr>
            <a:r>
              <a:rPr lang="ru-RU" sz="1100" dirty="0">
                <a:solidFill>
                  <a:srgbClr val="000000"/>
                </a:solidFill>
                <a:latin typeface="Cascadia Mono" panose="020B0609020000020004" pitchFamily="49" charset="0"/>
              </a:rPr>
              <a:t>Главная проблема </a:t>
            </a:r>
            <a:r>
              <a:rPr lang="en-US" sz="1100" dirty="0">
                <a:solidFill>
                  <a:srgbClr val="000000"/>
                </a:solidFill>
                <a:latin typeface="Cascadia Mono" panose="020B0609020000020004" pitchFamily="49" charset="0"/>
              </a:rPr>
              <a:t>UB </a:t>
            </a:r>
            <a:r>
              <a:rPr lang="ru-RU" sz="1100" dirty="0">
                <a:solidFill>
                  <a:srgbClr val="000000"/>
                </a:solidFill>
                <a:latin typeface="Cascadia Mono" panose="020B0609020000020004" pitchFamily="49" charset="0"/>
              </a:rPr>
              <a:t>то что программа с </a:t>
            </a:r>
            <a:r>
              <a:rPr lang="en-US" sz="1100" dirty="0">
                <a:solidFill>
                  <a:srgbClr val="000000"/>
                </a:solidFill>
                <a:latin typeface="Cascadia Mono" panose="020B0609020000020004" pitchFamily="49" charset="0"/>
              </a:rPr>
              <a:t>UB</a:t>
            </a:r>
            <a:r>
              <a:rPr lang="ru-RU" sz="1100" dirty="0">
                <a:solidFill>
                  <a:srgbClr val="000000"/>
                </a:solidFill>
                <a:latin typeface="Cascadia Mono" panose="020B0609020000020004" pitchFamily="49" charset="0"/>
              </a:rPr>
              <a:t> по стандарту </a:t>
            </a:r>
            <a:r>
              <a:rPr lang="en-US" sz="1100" dirty="0">
                <a:solidFill>
                  <a:srgbClr val="000000"/>
                </a:solidFill>
                <a:latin typeface="Cascadia Mono" panose="020B0609020000020004" pitchFamily="49" charset="0"/>
              </a:rPr>
              <a:t>C++ </a:t>
            </a:r>
            <a:r>
              <a:rPr lang="ru-RU" sz="1100" dirty="0">
                <a:solidFill>
                  <a:srgbClr val="000000"/>
                </a:solidFill>
                <a:latin typeface="Cascadia Mono" panose="020B0609020000020004" pitchFamily="49" charset="0"/>
              </a:rPr>
              <a:t>может сделать что угодно!</a:t>
            </a:r>
          </a:p>
        </p:txBody>
      </p:sp>
      <p:sp>
        <p:nvSpPr>
          <p:cNvPr id="5" name="TextBox 4">
            <a:extLst>
              <a:ext uri="{FF2B5EF4-FFF2-40B4-BE49-F238E27FC236}">
                <a16:creationId xmlns:a16="http://schemas.microsoft.com/office/drawing/2014/main" id="{6C5625F5-8D09-4B13-8F75-DE2ED2D22561}"/>
              </a:ext>
            </a:extLst>
          </p:cNvPr>
          <p:cNvSpPr txBox="1"/>
          <p:nvPr/>
        </p:nvSpPr>
        <p:spPr>
          <a:xfrm>
            <a:off x="399763" y="6203649"/>
            <a:ext cx="8584019" cy="261610"/>
          </a:xfrm>
          <a:prstGeom prst="rect">
            <a:avLst/>
          </a:prstGeom>
          <a:noFill/>
        </p:spPr>
        <p:txBody>
          <a:bodyPr wrap="square">
            <a:spAutoFit/>
          </a:bodyPr>
          <a:lstStyle/>
          <a:p>
            <a:r>
              <a:rPr lang="en-US" sz="1100" dirty="0">
                <a:solidFill>
                  <a:srgbClr val="000000"/>
                </a:solidFill>
                <a:latin typeface="Cascadia Mono" panose="020B0609020000020004" pitchFamily="49" charset="0"/>
              </a:rPr>
              <a:t>implementation-defined behavior, unspecified behavior, ill-formed NDR</a:t>
            </a:r>
            <a:endParaRPr lang="ru-RU" sz="1100" dirty="0">
              <a:solidFill>
                <a:srgbClr val="000000"/>
              </a:solidFill>
              <a:latin typeface="Cascadia Mono" panose="020B0609020000020004" pitchFamily="49" charset="0"/>
            </a:endParaRPr>
          </a:p>
        </p:txBody>
      </p:sp>
      <p:sp>
        <p:nvSpPr>
          <p:cNvPr id="9" name="TextBox 8">
            <a:extLst>
              <a:ext uri="{FF2B5EF4-FFF2-40B4-BE49-F238E27FC236}">
                <a16:creationId xmlns:a16="http://schemas.microsoft.com/office/drawing/2014/main" id="{8EC21DAF-6434-4A42-B8FA-96C6FBDF4B18}"/>
              </a:ext>
            </a:extLst>
          </p:cNvPr>
          <p:cNvSpPr txBox="1"/>
          <p:nvPr/>
        </p:nvSpPr>
        <p:spPr>
          <a:xfrm>
            <a:off x="848320" y="3256135"/>
            <a:ext cx="6097190" cy="1015663"/>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fun()</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uint64_t</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ptr</a:t>
            </a:r>
            <a:r>
              <a:rPr lang="en-US" sz="1200" dirty="0">
                <a:solidFill>
                  <a:srgbClr val="000000"/>
                </a:solidFill>
                <a:latin typeface="Cascadia Mono" panose="020B0609020000020004" pitchFamily="49" charset="0"/>
              </a:rPr>
              <a:t> = </a:t>
            </a:r>
            <a:r>
              <a:rPr lang="en-US" sz="1200" dirty="0" err="1">
                <a:solidFill>
                  <a:srgbClr val="0000FF"/>
                </a:solidFill>
                <a:latin typeface="Cascadia Mono" panose="020B0609020000020004" pitchFamily="49" charset="0"/>
              </a:rPr>
              <a:t>nullptr</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ptr</a:t>
            </a:r>
            <a:r>
              <a:rPr lang="en-US" sz="1200" dirty="0">
                <a:solidFill>
                  <a:srgbClr val="000000"/>
                </a:solidFill>
                <a:latin typeface="Cascadia Mono" panose="020B0609020000020004" pitchFamily="49" charset="0"/>
              </a:rPr>
              <a:t> = 42;</a:t>
            </a:r>
          </a:p>
          <a:p>
            <a:r>
              <a:rPr lang="en-US" sz="1200" dirty="0">
                <a:solidFill>
                  <a:srgbClr val="000000"/>
                </a:solidFill>
                <a:latin typeface="Cascadia Mono" panose="020B0609020000020004" pitchFamily="49" charset="0"/>
              </a:rPr>
              <a:t>}</a:t>
            </a:r>
            <a:endParaRPr lang="en-US" sz="1200" dirty="0"/>
          </a:p>
        </p:txBody>
      </p:sp>
      <p:sp>
        <p:nvSpPr>
          <p:cNvPr id="10" name="TextBox 9">
            <a:extLst>
              <a:ext uri="{FF2B5EF4-FFF2-40B4-BE49-F238E27FC236}">
                <a16:creationId xmlns:a16="http://schemas.microsoft.com/office/drawing/2014/main" id="{B0193D42-87F8-4D20-AC34-96E1BD44DF45}"/>
              </a:ext>
            </a:extLst>
          </p:cNvPr>
          <p:cNvSpPr txBox="1"/>
          <p:nvPr/>
        </p:nvSpPr>
        <p:spPr>
          <a:xfrm>
            <a:off x="4132658" y="3251566"/>
            <a:ext cx="2575323" cy="1384995"/>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fun()</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if</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"two"</a:t>
            </a:r>
            <a:r>
              <a:rPr lang="en-US" sz="1200" dirty="0">
                <a:solidFill>
                  <a:srgbClr val="000000"/>
                </a:solidFill>
                <a:latin typeface="Cascadia Mono" panose="020B0609020000020004" pitchFamily="49" charset="0"/>
              </a:rPr>
              <a:t> == </a:t>
            </a:r>
            <a:r>
              <a:rPr lang="en-US" sz="1200" dirty="0">
                <a:solidFill>
                  <a:srgbClr val="A31515"/>
                </a:solidFill>
                <a:latin typeface="Cascadia Mono" panose="020B0609020000020004" pitchFamily="49" charset="0"/>
              </a:rPr>
              <a:t>"two"</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a:t>
            </a:r>
            <a:endParaRPr lang="en-US" sz="1200" dirty="0"/>
          </a:p>
        </p:txBody>
      </p:sp>
      <p:sp>
        <p:nvSpPr>
          <p:cNvPr id="12" name="TextBox 11">
            <a:extLst>
              <a:ext uri="{FF2B5EF4-FFF2-40B4-BE49-F238E27FC236}">
                <a16:creationId xmlns:a16="http://schemas.microsoft.com/office/drawing/2014/main" id="{255A1C7E-CF23-4214-9EFB-E159AAF7E11D}"/>
              </a:ext>
            </a:extLst>
          </p:cNvPr>
          <p:cNvSpPr txBox="1"/>
          <p:nvPr/>
        </p:nvSpPr>
        <p:spPr>
          <a:xfrm>
            <a:off x="7059810" y="3256135"/>
            <a:ext cx="6097190" cy="1384995"/>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fun()</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 = 30;</a:t>
            </a:r>
          </a:p>
          <a:p>
            <a:r>
              <a:rPr lang="en-US" sz="1200" dirty="0">
                <a:solidFill>
                  <a:srgbClr val="000000"/>
                </a:solidFill>
                <a:latin typeface="Cascadia Mono" panose="020B0609020000020004" pitchFamily="49" charset="0"/>
              </a:rPr>
              <a:t>    a = ++a + ++a;</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Void fun2(int a, int b);</a:t>
            </a:r>
          </a:p>
          <a:p>
            <a:r>
              <a:rPr lang="en-US" sz="1200" dirty="0">
                <a:solidFill>
                  <a:srgbClr val="000000"/>
                </a:solidFill>
                <a:latin typeface="Cascadia Mono" panose="020B0609020000020004" pitchFamily="49" charset="0"/>
              </a:rPr>
              <a:t>Fun2(a++, a++)</a:t>
            </a:r>
            <a:endParaRPr lang="en-US" sz="1200" dirty="0"/>
          </a:p>
        </p:txBody>
      </p:sp>
    </p:spTree>
    <p:extLst>
      <p:ext uri="{BB962C8B-B14F-4D97-AF65-F5344CB8AC3E}">
        <p14:creationId xmlns:p14="http://schemas.microsoft.com/office/powerpoint/2010/main" val="31660219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Undefined behavior</a:t>
            </a:r>
          </a:p>
        </p:txBody>
      </p:sp>
      <p:sp>
        <p:nvSpPr>
          <p:cNvPr id="7" name="TextBox 6">
            <a:extLst>
              <a:ext uri="{FF2B5EF4-FFF2-40B4-BE49-F238E27FC236}">
                <a16:creationId xmlns:a16="http://schemas.microsoft.com/office/drawing/2014/main" id="{11FE75F4-22CB-4119-95AB-2AF2016BAAD9}"/>
              </a:ext>
            </a:extLst>
          </p:cNvPr>
          <p:cNvSpPr txBox="1"/>
          <p:nvPr/>
        </p:nvSpPr>
        <p:spPr>
          <a:xfrm>
            <a:off x="698372" y="1490170"/>
            <a:ext cx="8584019" cy="1107996"/>
          </a:xfrm>
          <a:prstGeom prst="rect">
            <a:avLst/>
          </a:prstGeom>
          <a:noFill/>
        </p:spPr>
        <p:txBody>
          <a:bodyPr wrap="square">
            <a:spAutoFit/>
          </a:bodyPr>
          <a:lstStyle/>
          <a:p>
            <a:r>
              <a:rPr lang="ru-RU" sz="1100" dirty="0">
                <a:solidFill>
                  <a:srgbClr val="000000"/>
                </a:solidFill>
                <a:latin typeface="Cascadia Mono" panose="020B0609020000020004" pitchFamily="49" charset="0"/>
              </a:rPr>
              <a:t>Стандарт </a:t>
            </a:r>
            <a:r>
              <a:rPr lang="en-US" sz="1100" dirty="0">
                <a:solidFill>
                  <a:srgbClr val="000000"/>
                </a:solidFill>
                <a:latin typeface="Cascadia Mono" panose="020B0609020000020004" pitchFamily="49" charset="0"/>
              </a:rPr>
              <a:t>C++ </a:t>
            </a:r>
            <a:r>
              <a:rPr lang="ru-RU" sz="1100" dirty="0">
                <a:solidFill>
                  <a:srgbClr val="000000"/>
                </a:solidFill>
                <a:latin typeface="Cascadia Mono" panose="020B0609020000020004" pitchFamily="49" charset="0"/>
              </a:rPr>
              <a:t>о </a:t>
            </a:r>
            <a:r>
              <a:rPr lang="en-US" sz="1100" dirty="0">
                <a:solidFill>
                  <a:srgbClr val="000000"/>
                </a:solidFill>
                <a:latin typeface="Cascadia Mono" panose="020B0609020000020004" pitchFamily="49" charset="0"/>
              </a:rPr>
              <a:t>UB – </a:t>
            </a:r>
            <a:r>
              <a:rPr lang="ru-RU" sz="1100" dirty="0">
                <a:solidFill>
                  <a:srgbClr val="000000"/>
                </a:solidFill>
                <a:latin typeface="Cascadia Mono" panose="020B0609020000020004" pitchFamily="49" charset="0"/>
              </a:rPr>
              <a:t>если в программе есть </a:t>
            </a:r>
            <a:r>
              <a:rPr lang="en-US" sz="1100" dirty="0">
                <a:solidFill>
                  <a:srgbClr val="000000"/>
                </a:solidFill>
                <a:latin typeface="Cascadia Mono" panose="020B0609020000020004" pitchFamily="49" charset="0"/>
              </a:rPr>
              <a:t>UB </a:t>
            </a:r>
            <a:r>
              <a:rPr lang="ru-RU" sz="1100" dirty="0">
                <a:solidFill>
                  <a:srgbClr val="000000"/>
                </a:solidFill>
                <a:latin typeface="Cascadia Mono" panose="020B0609020000020004" pitchFamily="49" charset="0"/>
              </a:rPr>
              <a:t>то она некорректна</a:t>
            </a:r>
            <a:endParaRPr lang="en-US"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(A correct program must be free of UB)</a:t>
            </a:r>
            <a:endParaRPr lang="ru-RU" sz="1100" dirty="0">
              <a:solidFill>
                <a:srgbClr val="000000"/>
              </a:solidFill>
              <a:latin typeface="Cascadia Mono" panose="020B0609020000020004" pitchFamily="49" charset="0"/>
            </a:endParaRPr>
          </a:p>
          <a:p>
            <a:endParaRPr lang="ru-RU"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Because correct C++ programs are free of undefined behavior, compilers may produce unexpected results when a program that actually has UB is compiled with optimization enabled:</a:t>
            </a:r>
          </a:p>
          <a:p>
            <a:r>
              <a:rPr lang="en-US" sz="1100" dirty="0">
                <a:solidFill>
                  <a:srgbClr val="000000"/>
                </a:solidFill>
                <a:latin typeface="Cascadia Mono" panose="020B0609020000020004" pitchFamily="49" charset="0"/>
              </a:rPr>
              <a:t>	</a:t>
            </a:r>
            <a:endParaRPr lang="en-US" sz="1100" dirty="0"/>
          </a:p>
        </p:txBody>
      </p:sp>
      <p:pic>
        <p:nvPicPr>
          <p:cNvPr id="3" name="Picture 2">
            <a:extLst>
              <a:ext uri="{FF2B5EF4-FFF2-40B4-BE49-F238E27FC236}">
                <a16:creationId xmlns:a16="http://schemas.microsoft.com/office/drawing/2014/main" id="{E03DF1AB-1770-42A1-9494-1DBDECE94881}"/>
              </a:ext>
            </a:extLst>
          </p:cNvPr>
          <p:cNvPicPr>
            <a:picLocks noChangeAspect="1"/>
          </p:cNvPicPr>
          <p:nvPr/>
        </p:nvPicPr>
        <p:blipFill>
          <a:blip r:embed="rId2"/>
          <a:stretch>
            <a:fillRect/>
          </a:stretch>
        </p:blipFill>
        <p:spPr>
          <a:xfrm>
            <a:off x="698372" y="2661989"/>
            <a:ext cx="7731253" cy="3046879"/>
          </a:xfrm>
          <a:prstGeom prst="rect">
            <a:avLst/>
          </a:prstGeom>
        </p:spPr>
      </p:pic>
    </p:spTree>
    <p:extLst>
      <p:ext uri="{BB962C8B-B14F-4D97-AF65-F5344CB8AC3E}">
        <p14:creationId xmlns:p14="http://schemas.microsoft.com/office/powerpoint/2010/main" val="22240973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Undefined behavior</a:t>
            </a:r>
          </a:p>
        </p:txBody>
      </p:sp>
      <p:sp>
        <p:nvSpPr>
          <p:cNvPr id="7" name="TextBox 6">
            <a:extLst>
              <a:ext uri="{FF2B5EF4-FFF2-40B4-BE49-F238E27FC236}">
                <a16:creationId xmlns:a16="http://schemas.microsoft.com/office/drawing/2014/main" id="{11FE75F4-22CB-4119-95AB-2AF2016BAAD9}"/>
              </a:ext>
            </a:extLst>
          </p:cNvPr>
          <p:cNvSpPr txBox="1"/>
          <p:nvPr/>
        </p:nvSpPr>
        <p:spPr>
          <a:xfrm>
            <a:off x="698372" y="1490170"/>
            <a:ext cx="8584019" cy="1107996"/>
          </a:xfrm>
          <a:prstGeom prst="rect">
            <a:avLst/>
          </a:prstGeom>
          <a:noFill/>
        </p:spPr>
        <p:txBody>
          <a:bodyPr wrap="square">
            <a:spAutoFit/>
          </a:bodyPr>
          <a:lstStyle/>
          <a:p>
            <a:pPr marL="171450" indent="-171450">
              <a:buFont typeface="Arial" panose="020B0604020202020204" pitchFamily="34" charset="0"/>
              <a:buChar char="•"/>
            </a:pPr>
            <a:r>
              <a:rPr lang="ru-RU" sz="1100" dirty="0">
                <a:solidFill>
                  <a:srgbClr val="000000"/>
                </a:solidFill>
                <a:latin typeface="Cascadia Mono" panose="020B0609020000020004" pitchFamily="49" charset="0"/>
              </a:rPr>
              <a:t>Трудно поддается отладке</a:t>
            </a:r>
          </a:p>
          <a:p>
            <a:pPr marL="171450" indent="-171450">
              <a:buFont typeface="Arial" panose="020B0604020202020204" pitchFamily="34" charset="0"/>
              <a:buChar char="•"/>
            </a:pPr>
            <a:r>
              <a:rPr lang="ru-RU" sz="1100" dirty="0">
                <a:solidFill>
                  <a:srgbClr val="000000"/>
                </a:solidFill>
                <a:latin typeface="Cascadia Mono" panose="020B0609020000020004" pitchFamily="49" charset="0"/>
              </a:rPr>
              <a:t>Трудно обнаружить на </a:t>
            </a:r>
            <a:r>
              <a:rPr lang="en-US" sz="1100" dirty="0">
                <a:solidFill>
                  <a:srgbClr val="000000"/>
                </a:solidFill>
                <a:latin typeface="Cascadia Mono" panose="020B0609020000020004" pitchFamily="49" charset="0"/>
              </a:rPr>
              <a:t>code review</a:t>
            </a:r>
          </a:p>
          <a:p>
            <a:pPr marL="171450" indent="-171450">
              <a:buFont typeface="Arial" panose="020B0604020202020204" pitchFamily="34" charset="0"/>
              <a:buChar char="•"/>
            </a:pPr>
            <a:r>
              <a:rPr lang="ru-RU" sz="1100" dirty="0">
                <a:solidFill>
                  <a:srgbClr val="000000"/>
                </a:solidFill>
                <a:latin typeface="Cascadia Mono" panose="020B0609020000020004" pitchFamily="49" charset="0"/>
              </a:rPr>
              <a:t>Компиляторы не сообщают о возможном </a:t>
            </a:r>
            <a:r>
              <a:rPr lang="en-US" sz="1100" dirty="0">
                <a:solidFill>
                  <a:srgbClr val="000000"/>
                </a:solidFill>
                <a:latin typeface="Cascadia Mono" panose="020B0609020000020004" pitchFamily="49" charset="0"/>
              </a:rPr>
              <a:t>UB</a:t>
            </a:r>
            <a:endParaRPr lang="ru-RU" sz="1100" dirty="0">
              <a:solidFill>
                <a:srgbClr val="000000"/>
              </a:solidFill>
              <a:latin typeface="Cascadia Mono" panose="020B0609020000020004" pitchFamily="49" charset="0"/>
            </a:endParaRPr>
          </a:p>
          <a:p>
            <a:pPr marL="171450" indent="-171450">
              <a:buFont typeface="Arial" panose="020B0604020202020204" pitchFamily="34" charset="0"/>
              <a:buChar char="•"/>
            </a:pPr>
            <a:r>
              <a:rPr lang="ru-RU" sz="1100" dirty="0">
                <a:solidFill>
                  <a:srgbClr val="000000"/>
                </a:solidFill>
                <a:latin typeface="Cascadia Mono" panose="020B0609020000020004" pitchFamily="49" charset="0"/>
              </a:rPr>
              <a:t>В общем случае задача детектирования </a:t>
            </a:r>
            <a:r>
              <a:rPr lang="en-US" sz="1100" dirty="0">
                <a:solidFill>
                  <a:srgbClr val="000000"/>
                </a:solidFill>
                <a:latin typeface="Cascadia Mono" panose="020B0609020000020004" pitchFamily="49" charset="0"/>
              </a:rPr>
              <a:t>UB </a:t>
            </a:r>
            <a:r>
              <a:rPr lang="ru-RU" sz="1100" dirty="0">
                <a:solidFill>
                  <a:srgbClr val="000000"/>
                </a:solidFill>
                <a:latin typeface="Cascadia Mono" panose="020B0609020000020004" pitchFamily="49" charset="0"/>
              </a:rPr>
              <a:t>не может быть решена более умными компиляторами</a:t>
            </a:r>
          </a:p>
          <a:p>
            <a:pPr marL="171450" indent="-171450">
              <a:buFont typeface="Arial" panose="020B0604020202020204" pitchFamily="34" charset="0"/>
              <a:buChar char="•"/>
            </a:pPr>
            <a:r>
              <a:rPr lang="ru-RU" sz="1100" dirty="0">
                <a:solidFill>
                  <a:srgbClr val="000000"/>
                </a:solidFill>
                <a:latin typeface="Cascadia Mono" panose="020B0609020000020004" pitchFamily="49" charset="0"/>
              </a:rPr>
              <a:t>Недетерминированное поведение программы</a:t>
            </a:r>
          </a:p>
          <a:p>
            <a:pPr marL="171450" indent="-171450">
              <a:buFont typeface="Arial" panose="020B0604020202020204" pitchFamily="34" charset="0"/>
              <a:buChar char="•"/>
            </a:pPr>
            <a:r>
              <a:rPr lang="ru-RU" sz="1100" dirty="0">
                <a:solidFill>
                  <a:srgbClr val="000000"/>
                </a:solidFill>
                <a:latin typeface="Cascadia Mono" panose="020B0609020000020004" pitchFamily="49" charset="0"/>
              </a:rPr>
              <a:t>Даже опытные программисты пишут код с </a:t>
            </a:r>
            <a:r>
              <a:rPr lang="en-US" sz="1100" dirty="0">
                <a:solidFill>
                  <a:srgbClr val="000000"/>
                </a:solidFill>
                <a:latin typeface="Cascadia Mono" panose="020B0609020000020004" pitchFamily="49" charset="0"/>
              </a:rPr>
              <a:t>UB</a:t>
            </a:r>
            <a:endParaRPr lang="ru-RU" sz="1100" dirty="0">
              <a:solidFill>
                <a:srgbClr val="000000"/>
              </a:solidFill>
              <a:latin typeface="Cascadia Mono" panose="020B0609020000020004" pitchFamily="49" charset="0"/>
            </a:endParaRPr>
          </a:p>
        </p:txBody>
      </p:sp>
      <p:pic>
        <p:nvPicPr>
          <p:cNvPr id="5" name="Picture 4">
            <a:extLst>
              <a:ext uri="{FF2B5EF4-FFF2-40B4-BE49-F238E27FC236}">
                <a16:creationId xmlns:a16="http://schemas.microsoft.com/office/drawing/2014/main" id="{69250FBC-0B76-41A7-83CD-59749549A2AB}"/>
              </a:ext>
            </a:extLst>
          </p:cNvPr>
          <p:cNvPicPr>
            <a:picLocks noChangeAspect="1"/>
          </p:cNvPicPr>
          <p:nvPr/>
        </p:nvPicPr>
        <p:blipFill>
          <a:blip r:embed="rId2"/>
          <a:stretch>
            <a:fillRect/>
          </a:stretch>
        </p:blipFill>
        <p:spPr>
          <a:xfrm>
            <a:off x="795157" y="3902773"/>
            <a:ext cx="2572109" cy="1352739"/>
          </a:xfrm>
          <a:prstGeom prst="rect">
            <a:avLst/>
          </a:prstGeom>
        </p:spPr>
      </p:pic>
      <p:pic>
        <p:nvPicPr>
          <p:cNvPr id="12" name="Picture 11">
            <a:extLst>
              <a:ext uri="{FF2B5EF4-FFF2-40B4-BE49-F238E27FC236}">
                <a16:creationId xmlns:a16="http://schemas.microsoft.com/office/drawing/2014/main" id="{FE5FED52-1E79-4251-B78E-429066A76908}"/>
              </a:ext>
            </a:extLst>
          </p:cNvPr>
          <p:cNvPicPr>
            <a:picLocks noChangeAspect="1"/>
          </p:cNvPicPr>
          <p:nvPr/>
        </p:nvPicPr>
        <p:blipFill>
          <a:blip r:embed="rId3"/>
          <a:stretch>
            <a:fillRect/>
          </a:stretch>
        </p:blipFill>
        <p:spPr>
          <a:xfrm>
            <a:off x="3912066" y="3902773"/>
            <a:ext cx="4696480" cy="1047896"/>
          </a:xfrm>
          <a:prstGeom prst="rect">
            <a:avLst/>
          </a:prstGeom>
        </p:spPr>
      </p:pic>
    </p:spTree>
    <p:extLst>
      <p:ext uri="{BB962C8B-B14F-4D97-AF65-F5344CB8AC3E}">
        <p14:creationId xmlns:p14="http://schemas.microsoft.com/office/powerpoint/2010/main" val="19602933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Undefined behavior</a:t>
            </a:r>
          </a:p>
        </p:txBody>
      </p:sp>
      <p:sp>
        <p:nvSpPr>
          <p:cNvPr id="7" name="TextBox 6">
            <a:extLst>
              <a:ext uri="{FF2B5EF4-FFF2-40B4-BE49-F238E27FC236}">
                <a16:creationId xmlns:a16="http://schemas.microsoft.com/office/drawing/2014/main" id="{11FE75F4-22CB-4119-95AB-2AF2016BAAD9}"/>
              </a:ext>
            </a:extLst>
          </p:cNvPr>
          <p:cNvSpPr txBox="1"/>
          <p:nvPr/>
        </p:nvSpPr>
        <p:spPr>
          <a:xfrm>
            <a:off x="698372" y="1490170"/>
            <a:ext cx="8584019" cy="1107996"/>
          </a:xfrm>
          <a:prstGeom prst="rect">
            <a:avLst/>
          </a:prstGeom>
          <a:noFill/>
        </p:spPr>
        <p:txBody>
          <a:bodyPr wrap="square">
            <a:spAutoFit/>
          </a:bodyPr>
          <a:lstStyle/>
          <a:p>
            <a:r>
              <a:rPr lang="ru-RU" sz="1100" dirty="0">
                <a:solidFill>
                  <a:srgbClr val="000000"/>
                </a:solidFill>
                <a:latin typeface="Cascadia Mono" panose="020B0609020000020004" pitchFamily="49" charset="0"/>
              </a:rPr>
              <a:t>Стандарт </a:t>
            </a:r>
            <a:r>
              <a:rPr lang="en-US" sz="1100" dirty="0">
                <a:solidFill>
                  <a:srgbClr val="000000"/>
                </a:solidFill>
                <a:latin typeface="Cascadia Mono" panose="020B0609020000020004" pitchFamily="49" charset="0"/>
              </a:rPr>
              <a:t>C++ </a:t>
            </a:r>
            <a:r>
              <a:rPr lang="ru-RU" sz="1100" dirty="0">
                <a:solidFill>
                  <a:srgbClr val="000000"/>
                </a:solidFill>
                <a:latin typeface="Cascadia Mono" panose="020B0609020000020004" pitchFamily="49" charset="0"/>
              </a:rPr>
              <a:t>о </a:t>
            </a:r>
            <a:r>
              <a:rPr lang="en-US" sz="1100" dirty="0">
                <a:solidFill>
                  <a:srgbClr val="000000"/>
                </a:solidFill>
                <a:latin typeface="Cascadia Mono" panose="020B0609020000020004" pitchFamily="49" charset="0"/>
              </a:rPr>
              <a:t>UB – </a:t>
            </a:r>
            <a:r>
              <a:rPr lang="ru-RU" sz="1100" dirty="0">
                <a:solidFill>
                  <a:srgbClr val="000000"/>
                </a:solidFill>
                <a:latin typeface="Cascadia Mono" panose="020B0609020000020004" pitchFamily="49" charset="0"/>
              </a:rPr>
              <a:t>если в программе есть </a:t>
            </a:r>
            <a:r>
              <a:rPr lang="en-US" sz="1100" dirty="0">
                <a:solidFill>
                  <a:srgbClr val="000000"/>
                </a:solidFill>
                <a:latin typeface="Cascadia Mono" panose="020B0609020000020004" pitchFamily="49" charset="0"/>
              </a:rPr>
              <a:t>UB </a:t>
            </a:r>
            <a:r>
              <a:rPr lang="ru-RU" sz="1100" dirty="0">
                <a:solidFill>
                  <a:srgbClr val="000000"/>
                </a:solidFill>
                <a:latin typeface="Cascadia Mono" panose="020B0609020000020004" pitchFamily="49" charset="0"/>
              </a:rPr>
              <a:t>то она некорректна</a:t>
            </a:r>
            <a:endParaRPr lang="en-US"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(A correct program must be free of UB)</a:t>
            </a:r>
            <a:endParaRPr lang="ru-RU" sz="1100" dirty="0">
              <a:solidFill>
                <a:srgbClr val="000000"/>
              </a:solidFill>
              <a:latin typeface="Cascadia Mono" panose="020B0609020000020004" pitchFamily="49" charset="0"/>
            </a:endParaRPr>
          </a:p>
          <a:p>
            <a:endParaRPr lang="ru-RU"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Because correct C++ programs are free of undefined behavior, compilers may produce unexpected results when a program that actually has UB is compiled with optimization enabled:</a:t>
            </a:r>
          </a:p>
          <a:p>
            <a:r>
              <a:rPr lang="en-US" sz="1100" dirty="0">
                <a:solidFill>
                  <a:srgbClr val="000000"/>
                </a:solidFill>
                <a:latin typeface="Cascadia Mono" panose="020B0609020000020004" pitchFamily="49" charset="0"/>
              </a:rPr>
              <a:t>	</a:t>
            </a:r>
            <a:endParaRPr lang="en-US" sz="1100" dirty="0"/>
          </a:p>
        </p:txBody>
      </p:sp>
      <p:pic>
        <p:nvPicPr>
          <p:cNvPr id="3" name="Picture 2">
            <a:extLst>
              <a:ext uri="{FF2B5EF4-FFF2-40B4-BE49-F238E27FC236}">
                <a16:creationId xmlns:a16="http://schemas.microsoft.com/office/drawing/2014/main" id="{E03DF1AB-1770-42A1-9494-1DBDECE94881}"/>
              </a:ext>
            </a:extLst>
          </p:cNvPr>
          <p:cNvPicPr>
            <a:picLocks noChangeAspect="1"/>
          </p:cNvPicPr>
          <p:nvPr/>
        </p:nvPicPr>
        <p:blipFill>
          <a:blip r:embed="rId2"/>
          <a:stretch>
            <a:fillRect/>
          </a:stretch>
        </p:blipFill>
        <p:spPr>
          <a:xfrm>
            <a:off x="698372" y="2661989"/>
            <a:ext cx="7731253" cy="3046879"/>
          </a:xfrm>
          <a:prstGeom prst="rect">
            <a:avLst/>
          </a:prstGeom>
        </p:spPr>
      </p:pic>
    </p:spTree>
    <p:extLst>
      <p:ext uri="{BB962C8B-B14F-4D97-AF65-F5344CB8AC3E}">
        <p14:creationId xmlns:p14="http://schemas.microsoft.com/office/powerpoint/2010/main" val="5869424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Undefined behavior</a:t>
            </a:r>
          </a:p>
        </p:txBody>
      </p:sp>
      <p:sp>
        <p:nvSpPr>
          <p:cNvPr id="6" name="TextBox 5">
            <a:extLst>
              <a:ext uri="{FF2B5EF4-FFF2-40B4-BE49-F238E27FC236}">
                <a16:creationId xmlns:a16="http://schemas.microsoft.com/office/drawing/2014/main" id="{7A05E7C1-60E7-4F31-9739-D9484B7F0E4C}"/>
              </a:ext>
            </a:extLst>
          </p:cNvPr>
          <p:cNvSpPr txBox="1"/>
          <p:nvPr/>
        </p:nvSpPr>
        <p:spPr>
          <a:xfrm>
            <a:off x="676870" y="1640205"/>
            <a:ext cx="1666280" cy="1015663"/>
          </a:xfrm>
          <a:prstGeom prst="rect">
            <a:avLst/>
          </a:prstGeom>
          <a:noFill/>
        </p:spPr>
        <p:txBody>
          <a:bodyPr wrap="square">
            <a:spAutoFit/>
          </a:bodyPr>
          <a:lstStyle/>
          <a:p>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&amp; fun()</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 = 15;</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a:t>
            </a:r>
          </a:p>
          <a:p>
            <a:r>
              <a:rPr lang="en-US" sz="1200" dirty="0">
                <a:solidFill>
                  <a:srgbClr val="000000"/>
                </a:solidFill>
                <a:latin typeface="Cascadia Mono" panose="020B0609020000020004" pitchFamily="49" charset="0"/>
              </a:rPr>
              <a:t>}</a:t>
            </a:r>
            <a:endParaRPr lang="en-US" sz="1200" dirty="0"/>
          </a:p>
        </p:txBody>
      </p:sp>
      <p:sp>
        <p:nvSpPr>
          <p:cNvPr id="9" name="TextBox 8">
            <a:extLst>
              <a:ext uri="{FF2B5EF4-FFF2-40B4-BE49-F238E27FC236}">
                <a16:creationId xmlns:a16="http://schemas.microsoft.com/office/drawing/2014/main" id="{F86DCE59-9BB3-4139-86C2-2FBB9BAAB9E9}"/>
              </a:ext>
            </a:extLst>
          </p:cNvPr>
          <p:cNvSpPr txBox="1"/>
          <p:nvPr/>
        </p:nvSpPr>
        <p:spPr>
          <a:xfrm>
            <a:off x="700980" y="2942421"/>
            <a:ext cx="6097190" cy="2123658"/>
          </a:xfrm>
          <a:prstGeom prst="rect">
            <a:avLst/>
          </a:prstGeom>
          <a:noFill/>
        </p:spPr>
        <p:txBody>
          <a:bodyPr wrap="square">
            <a:spAutoFit/>
          </a:bodyPr>
          <a:lstStyle/>
          <a:p>
            <a:r>
              <a:rPr lang="fr-FR" sz="1200" dirty="0" err="1">
                <a:solidFill>
                  <a:srgbClr val="0000FF"/>
                </a:solidFill>
                <a:latin typeface="Cascadia Mono" panose="020B0609020000020004" pitchFamily="49" charset="0"/>
              </a:rPr>
              <a:t>void</a:t>
            </a:r>
            <a:r>
              <a:rPr lang="fr-FR" sz="1200" dirty="0">
                <a:solidFill>
                  <a:srgbClr val="000000"/>
                </a:solidFill>
                <a:latin typeface="Cascadia Mono" panose="020B0609020000020004" pitchFamily="49" charset="0"/>
              </a:rPr>
              <a:t> </a:t>
            </a:r>
            <a:r>
              <a:rPr lang="fr-FR" sz="1200" dirty="0" err="1">
                <a:solidFill>
                  <a:srgbClr val="000000"/>
                </a:solidFill>
                <a:latin typeface="Cascadia Mono" panose="020B0609020000020004" pitchFamily="49" charset="0"/>
              </a:rPr>
              <a:t>iters</a:t>
            </a:r>
            <a:r>
              <a:rPr lang="fr-FR" sz="1200" dirty="0">
                <a:solidFill>
                  <a:srgbClr val="000000"/>
                </a:solidFill>
                <a:latin typeface="Cascadia Mono" panose="020B0609020000020004" pitchFamily="49" charset="0"/>
              </a:rPr>
              <a:t>(</a:t>
            </a:r>
            <a:r>
              <a:rPr lang="fr-FR" sz="1200" dirty="0">
                <a:solidFill>
                  <a:srgbClr val="2B91AF"/>
                </a:solidFill>
                <a:latin typeface="Cascadia Mono" panose="020B0609020000020004" pitchFamily="49" charset="0"/>
              </a:rPr>
              <a:t>uint32_t</a:t>
            </a:r>
            <a:r>
              <a:rPr lang="fr-FR" sz="1200" dirty="0">
                <a:solidFill>
                  <a:srgbClr val="000000"/>
                </a:solidFill>
                <a:latin typeface="Cascadia Mono" panose="020B0609020000020004" pitchFamily="49" charset="0"/>
              </a:rPr>
              <a:t> </a:t>
            </a:r>
            <a:r>
              <a:rPr lang="fr-FR" sz="1200" dirty="0" err="1">
                <a:solidFill>
                  <a:srgbClr val="808080"/>
                </a:solidFill>
                <a:latin typeface="Cascadia Mono" panose="020B0609020000020004" pitchFamily="49" charset="0"/>
              </a:rPr>
              <a:t>val_t</a:t>
            </a:r>
            <a:r>
              <a:rPr lang="fr-FR"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uint32_t</a:t>
            </a:r>
            <a:r>
              <a:rPr lang="en-US" sz="1200" dirty="0">
                <a:solidFill>
                  <a:srgbClr val="000000"/>
                </a:solidFill>
                <a:latin typeface="Cascadia Mono" panose="020B0609020000020004" pitchFamily="49" charset="0"/>
              </a:rPr>
              <a:t>&gt; v{ 0,1,2,3,44,5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for</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auto</a:t>
            </a:r>
            <a:r>
              <a:rPr lang="en-US" sz="1200" dirty="0">
                <a:solidFill>
                  <a:srgbClr val="000000"/>
                </a:solidFill>
                <a:latin typeface="Cascadia Mono" panose="020B0609020000020004" pitchFamily="49" charset="0"/>
              </a:rPr>
              <a:t> it = </a:t>
            </a:r>
            <a:r>
              <a:rPr lang="en-US" sz="1200" dirty="0" err="1">
                <a:solidFill>
                  <a:srgbClr val="000000"/>
                </a:solidFill>
                <a:latin typeface="Cascadia Mono" panose="020B0609020000020004" pitchFamily="49" charset="0"/>
              </a:rPr>
              <a:t>v.begin</a:t>
            </a:r>
            <a:r>
              <a:rPr lang="en-US" sz="1200" dirty="0">
                <a:solidFill>
                  <a:srgbClr val="000000"/>
                </a:solidFill>
                <a:latin typeface="Cascadia Mono" panose="020B0609020000020004" pitchFamily="49" charset="0"/>
              </a:rPr>
              <a:t>(); it </a:t>
            </a:r>
            <a:r>
              <a:rPr lang="en-US" sz="1200" dirty="0">
                <a:solidFill>
                  <a:srgbClr val="008080"/>
                </a:solidFill>
                <a:latin typeface="Cascadia Mono" panose="020B0609020000020004" pitchFamily="49" charset="0"/>
              </a:rPr>
              <a:t>!=</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v.end</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a:t>
            </a:r>
            <a:r>
              <a:rPr lang="en-US" sz="1200" dirty="0">
                <a:solidFill>
                  <a:srgbClr val="000000"/>
                </a:solidFill>
                <a:latin typeface="Cascadia Mono" panose="020B0609020000020004" pitchFamily="49" charset="0"/>
              </a:rPr>
              <a:t>it)</a:t>
            </a: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if</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a:t>
            </a:r>
            <a:r>
              <a:rPr lang="en-US" sz="1200" dirty="0">
                <a:solidFill>
                  <a:srgbClr val="000000"/>
                </a:solidFill>
                <a:latin typeface="Cascadia Mono" panose="020B0609020000020004" pitchFamily="49" charset="0"/>
              </a:rPr>
              <a:t>it == </a:t>
            </a:r>
            <a:r>
              <a:rPr lang="en-US" sz="1200" dirty="0" err="1">
                <a:solidFill>
                  <a:srgbClr val="808080"/>
                </a:solidFill>
                <a:latin typeface="Cascadia Mono" panose="020B0609020000020004" pitchFamily="49" charset="0"/>
              </a:rPr>
              <a:t>val_t</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v.erase</a:t>
            </a:r>
            <a:r>
              <a:rPr lang="en-US" sz="1200" dirty="0">
                <a:solidFill>
                  <a:srgbClr val="000000"/>
                </a:solidFill>
                <a:latin typeface="Cascadia Mono" panose="020B0609020000020004" pitchFamily="49" charset="0"/>
              </a:rPr>
              <a:t>(it);</a:t>
            </a: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a:t>
            </a:r>
            <a:endParaRPr lang="en-US" sz="1200" dirty="0"/>
          </a:p>
        </p:txBody>
      </p:sp>
      <p:sp>
        <p:nvSpPr>
          <p:cNvPr id="10" name="TextBox 9">
            <a:extLst>
              <a:ext uri="{FF2B5EF4-FFF2-40B4-BE49-F238E27FC236}">
                <a16:creationId xmlns:a16="http://schemas.microsoft.com/office/drawing/2014/main" id="{E21F4A85-D9A2-4626-971E-A791CC40E8C1}"/>
              </a:ext>
            </a:extLst>
          </p:cNvPr>
          <p:cNvSpPr txBox="1"/>
          <p:nvPr/>
        </p:nvSpPr>
        <p:spPr>
          <a:xfrm>
            <a:off x="2569963" y="1632641"/>
            <a:ext cx="1944887" cy="830997"/>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fun2()</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char</a:t>
            </a:r>
            <a:r>
              <a:rPr lang="en-US" sz="1200" dirty="0">
                <a:solidFill>
                  <a:srgbClr val="000000"/>
                </a:solidFill>
                <a:latin typeface="Cascadia Mono" panose="020B0609020000020004" pitchFamily="49" charset="0"/>
              </a:rPr>
              <a:t>*)0 = 0;</a:t>
            </a:r>
          </a:p>
          <a:p>
            <a:r>
              <a:rPr lang="en-US" sz="1200" dirty="0">
                <a:solidFill>
                  <a:srgbClr val="000000"/>
                </a:solidFill>
                <a:latin typeface="Cascadia Mono" panose="020B0609020000020004" pitchFamily="49" charset="0"/>
              </a:rPr>
              <a:t>}</a:t>
            </a:r>
          </a:p>
        </p:txBody>
      </p:sp>
      <p:sp>
        <p:nvSpPr>
          <p:cNvPr id="11" name="TextBox 10">
            <a:extLst>
              <a:ext uri="{FF2B5EF4-FFF2-40B4-BE49-F238E27FC236}">
                <a16:creationId xmlns:a16="http://schemas.microsoft.com/office/drawing/2014/main" id="{682E7B2C-A095-4037-93C1-34AC94FA0FA5}"/>
              </a:ext>
            </a:extLst>
          </p:cNvPr>
          <p:cNvSpPr txBox="1"/>
          <p:nvPr/>
        </p:nvSpPr>
        <p:spPr>
          <a:xfrm>
            <a:off x="5059254" y="1640205"/>
            <a:ext cx="8584019" cy="430887"/>
          </a:xfrm>
          <a:prstGeom prst="rect">
            <a:avLst/>
          </a:prstGeom>
          <a:noFill/>
        </p:spPr>
        <p:txBody>
          <a:bodyPr wrap="square">
            <a:spAutoFit/>
          </a:bodyPr>
          <a:lstStyle/>
          <a:p>
            <a:r>
              <a:rPr lang="en-US" sz="1100" dirty="0">
                <a:solidFill>
                  <a:srgbClr val="000000"/>
                </a:solidFill>
                <a:latin typeface="Cascadia Mono" panose="020B0609020000020004" pitchFamily="49" charset="0"/>
              </a:rPr>
              <a:t>sign integer (int/int32_t) overflow is UB</a:t>
            </a:r>
          </a:p>
          <a:p>
            <a:r>
              <a:rPr lang="en-US" sz="1100" dirty="0">
                <a:solidFill>
                  <a:srgbClr val="000000"/>
                </a:solidFill>
                <a:latin typeface="Cascadia Mono" panose="020B0609020000020004" pitchFamily="49" charset="0"/>
              </a:rPr>
              <a:t>unsigned integer (unsigned int/uint32_t) overflow is not UB</a:t>
            </a:r>
            <a:endParaRPr lang="en-US" sz="1100" dirty="0"/>
          </a:p>
        </p:txBody>
      </p:sp>
      <p:sp>
        <p:nvSpPr>
          <p:cNvPr id="13" name="TextBox 12">
            <a:extLst>
              <a:ext uri="{FF2B5EF4-FFF2-40B4-BE49-F238E27FC236}">
                <a16:creationId xmlns:a16="http://schemas.microsoft.com/office/drawing/2014/main" id="{A847C673-CC90-4281-868C-D6CB9069A7D5}"/>
              </a:ext>
            </a:extLst>
          </p:cNvPr>
          <p:cNvSpPr txBox="1"/>
          <p:nvPr/>
        </p:nvSpPr>
        <p:spPr>
          <a:xfrm>
            <a:off x="5059254" y="2140472"/>
            <a:ext cx="6822280" cy="646331"/>
          </a:xfrm>
          <a:prstGeom prst="rect">
            <a:avLst/>
          </a:prstGeom>
          <a:noFill/>
        </p:spPr>
        <p:txBody>
          <a:bodyPr wrap="square">
            <a:spAutoFit/>
          </a:bodyPr>
          <a:lstStyle/>
          <a:p>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main() {</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std::</a:t>
            </a:r>
            <a:r>
              <a:rPr lang="en-US" sz="1200" dirty="0" err="1">
                <a:solidFill>
                  <a:srgbClr val="2B91AF"/>
                </a:solidFill>
                <a:latin typeface="Cascadia Mono" panose="020B0609020000020004" pitchFamily="49" charset="0"/>
              </a:rPr>
              <a:t>numeric_limits</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uint32_t</a:t>
            </a:r>
            <a:r>
              <a:rPr lang="en-US" sz="1200" dirty="0">
                <a:solidFill>
                  <a:srgbClr val="000000"/>
                </a:solidFill>
                <a:latin typeface="Cascadia Mono" panose="020B0609020000020004" pitchFamily="49" charset="0"/>
              </a:rPr>
              <a:t>&gt;::max() + 1;</a:t>
            </a:r>
          </a:p>
          <a:p>
            <a:r>
              <a:rPr lang="en-US" sz="1200" dirty="0">
                <a:solidFill>
                  <a:srgbClr val="000000"/>
                </a:solidFill>
                <a:latin typeface="Cascadia Mono" panose="020B0609020000020004" pitchFamily="49" charset="0"/>
              </a:rPr>
              <a:t>}</a:t>
            </a:r>
            <a:endParaRPr lang="en-US" sz="1200" dirty="0"/>
          </a:p>
        </p:txBody>
      </p:sp>
    </p:spTree>
    <p:extLst>
      <p:ext uri="{BB962C8B-B14F-4D97-AF65-F5344CB8AC3E}">
        <p14:creationId xmlns:p14="http://schemas.microsoft.com/office/powerpoint/2010/main" val="19193894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Undefined behavior</a:t>
            </a:r>
          </a:p>
        </p:txBody>
      </p:sp>
      <p:pic>
        <p:nvPicPr>
          <p:cNvPr id="4" name="Picture 3">
            <a:extLst>
              <a:ext uri="{FF2B5EF4-FFF2-40B4-BE49-F238E27FC236}">
                <a16:creationId xmlns:a16="http://schemas.microsoft.com/office/drawing/2014/main" id="{A6D75F6C-5613-4C64-A756-CDFD1A67547C}"/>
              </a:ext>
            </a:extLst>
          </p:cNvPr>
          <p:cNvPicPr>
            <a:picLocks noChangeAspect="1"/>
          </p:cNvPicPr>
          <p:nvPr/>
        </p:nvPicPr>
        <p:blipFill>
          <a:blip r:embed="rId2"/>
          <a:stretch>
            <a:fillRect/>
          </a:stretch>
        </p:blipFill>
        <p:spPr>
          <a:xfrm>
            <a:off x="785195" y="2416780"/>
            <a:ext cx="8849960" cy="2695951"/>
          </a:xfrm>
          <a:prstGeom prst="rect">
            <a:avLst/>
          </a:prstGeom>
        </p:spPr>
      </p:pic>
    </p:spTree>
    <p:extLst>
      <p:ext uri="{BB962C8B-B14F-4D97-AF65-F5344CB8AC3E}">
        <p14:creationId xmlns:p14="http://schemas.microsoft.com/office/powerpoint/2010/main" val="39324283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C-style cast vs CPP casts</a:t>
            </a:r>
          </a:p>
        </p:txBody>
      </p:sp>
      <p:sp>
        <p:nvSpPr>
          <p:cNvPr id="9" name="TextBox 8">
            <a:extLst>
              <a:ext uri="{FF2B5EF4-FFF2-40B4-BE49-F238E27FC236}">
                <a16:creationId xmlns:a16="http://schemas.microsoft.com/office/drawing/2014/main" id="{DD39FEF5-FB3F-4CCF-AE9E-E5C4C5EF2BBF}"/>
              </a:ext>
            </a:extLst>
          </p:cNvPr>
          <p:cNvSpPr txBox="1"/>
          <p:nvPr/>
        </p:nvSpPr>
        <p:spPr>
          <a:xfrm>
            <a:off x="652131" y="1847488"/>
            <a:ext cx="2076892" cy="1754326"/>
          </a:xfrm>
          <a:prstGeom prst="rect">
            <a:avLst/>
          </a:prstGeom>
          <a:noFill/>
        </p:spPr>
        <p:txBody>
          <a:bodyPr wrap="square">
            <a:spAutoFit/>
          </a:bodyPr>
          <a:lstStyle/>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MyStructA</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MyStructB</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b;</a:t>
            </a:r>
          </a:p>
          <a:p>
            <a:r>
              <a:rPr lang="en-US" sz="1200" dirty="0">
                <a:solidFill>
                  <a:srgbClr val="000000"/>
                </a:solidFill>
                <a:latin typeface="Cascadia Mono" panose="020B0609020000020004" pitchFamily="49" charset="0"/>
              </a:rPr>
              <a:t>};</a:t>
            </a:r>
            <a:endParaRPr lang="en-US" sz="1200" dirty="0"/>
          </a:p>
        </p:txBody>
      </p:sp>
      <p:sp>
        <p:nvSpPr>
          <p:cNvPr id="10" name="TextBox 9">
            <a:extLst>
              <a:ext uri="{FF2B5EF4-FFF2-40B4-BE49-F238E27FC236}">
                <a16:creationId xmlns:a16="http://schemas.microsoft.com/office/drawing/2014/main" id="{EF45FAE3-7E44-4BC2-B6C4-D36DE272A345}"/>
              </a:ext>
            </a:extLst>
          </p:cNvPr>
          <p:cNvSpPr txBox="1"/>
          <p:nvPr/>
        </p:nvSpPr>
        <p:spPr>
          <a:xfrm>
            <a:off x="2729023" y="1847488"/>
            <a:ext cx="3643424" cy="1015663"/>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cast_test1()</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uint64_t</a:t>
            </a:r>
            <a:r>
              <a:rPr lang="en-US" sz="1200" dirty="0">
                <a:solidFill>
                  <a:srgbClr val="000000"/>
                </a:solidFill>
                <a:latin typeface="Cascadia Mono" panose="020B0609020000020004" pitchFamily="49" charset="0"/>
              </a:rPr>
              <a:t> a = 42;</a:t>
            </a:r>
          </a:p>
          <a:p>
            <a:r>
              <a:rPr lang="fr-FR" sz="1200" dirty="0">
                <a:solidFill>
                  <a:srgbClr val="000000"/>
                </a:solidFill>
                <a:latin typeface="Cascadia Mono" panose="020B0609020000020004" pitchFamily="49" charset="0"/>
              </a:rPr>
              <a:t>    </a:t>
            </a:r>
            <a:r>
              <a:rPr lang="fr-FR" sz="1200" dirty="0">
                <a:solidFill>
                  <a:srgbClr val="2B91AF"/>
                </a:solidFill>
                <a:latin typeface="Cascadia Mono" panose="020B0609020000020004" pitchFamily="49" charset="0"/>
              </a:rPr>
              <a:t>uint32_t</a:t>
            </a:r>
            <a:r>
              <a:rPr lang="fr-FR" sz="1200" dirty="0">
                <a:solidFill>
                  <a:srgbClr val="000000"/>
                </a:solidFill>
                <a:latin typeface="Cascadia Mono" panose="020B0609020000020004" pitchFamily="49" charset="0"/>
              </a:rPr>
              <a:t> b = (</a:t>
            </a:r>
            <a:r>
              <a:rPr lang="fr-FR" sz="1200" dirty="0">
                <a:solidFill>
                  <a:srgbClr val="2B91AF"/>
                </a:solidFill>
                <a:latin typeface="Cascadia Mono" panose="020B0609020000020004" pitchFamily="49" charset="0"/>
              </a:rPr>
              <a:t>uint64_t</a:t>
            </a:r>
            <a:r>
              <a:rPr lang="fr-FR" sz="1200" dirty="0">
                <a:solidFill>
                  <a:srgbClr val="000000"/>
                </a:solidFill>
                <a:latin typeface="Cascadia Mono" panose="020B0609020000020004" pitchFamily="49" charset="0"/>
              </a:rPr>
              <a:t>)42; </a:t>
            </a:r>
          </a:p>
          <a:p>
            <a:r>
              <a:rPr lang="en-US" sz="1200" dirty="0">
                <a:solidFill>
                  <a:srgbClr val="000000"/>
                </a:solidFill>
                <a:latin typeface="Cascadia Mono" panose="020B0609020000020004" pitchFamily="49" charset="0"/>
              </a:rPr>
              <a:t>}</a:t>
            </a:r>
            <a:endParaRPr lang="en-US" sz="1200" dirty="0"/>
          </a:p>
        </p:txBody>
      </p:sp>
      <p:sp>
        <p:nvSpPr>
          <p:cNvPr id="14" name="TextBox 13">
            <a:extLst>
              <a:ext uri="{FF2B5EF4-FFF2-40B4-BE49-F238E27FC236}">
                <a16:creationId xmlns:a16="http://schemas.microsoft.com/office/drawing/2014/main" id="{E956D603-DCFC-421F-85BB-9707E29024FA}"/>
              </a:ext>
            </a:extLst>
          </p:cNvPr>
          <p:cNvSpPr txBox="1"/>
          <p:nvPr/>
        </p:nvSpPr>
        <p:spPr>
          <a:xfrm>
            <a:off x="2729023" y="3114671"/>
            <a:ext cx="4075814" cy="1015663"/>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cast_test2(</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MyStructA</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ptr</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fr-FR" sz="1200" dirty="0">
                <a:solidFill>
                  <a:srgbClr val="000000"/>
                </a:solidFill>
                <a:latin typeface="Cascadia Mono" panose="020B0609020000020004" pitchFamily="49" charset="0"/>
              </a:rPr>
              <a:t>    </a:t>
            </a:r>
            <a:r>
              <a:rPr lang="fr-FR" sz="1200" dirty="0" err="1">
                <a:solidFill>
                  <a:srgbClr val="2B91AF"/>
                </a:solidFill>
                <a:latin typeface="Cascadia Mono" panose="020B0609020000020004" pitchFamily="49" charset="0"/>
              </a:rPr>
              <a:t>MyStructA</a:t>
            </a:r>
            <a:r>
              <a:rPr lang="fr-FR" sz="1200" dirty="0">
                <a:solidFill>
                  <a:srgbClr val="000000"/>
                </a:solidFill>
                <a:latin typeface="Cascadia Mono" panose="020B0609020000020004" pitchFamily="49" charset="0"/>
              </a:rPr>
              <a:t>* </a:t>
            </a:r>
            <a:r>
              <a:rPr lang="fr-FR" sz="1200" dirty="0" err="1">
                <a:solidFill>
                  <a:srgbClr val="000000"/>
                </a:solidFill>
                <a:latin typeface="Cascadia Mono" panose="020B0609020000020004" pitchFamily="49" charset="0"/>
              </a:rPr>
              <a:t>non_const</a:t>
            </a:r>
            <a:r>
              <a:rPr lang="fr-FR" sz="1200" dirty="0">
                <a:solidFill>
                  <a:srgbClr val="000000"/>
                </a:solidFill>
                <a:latin typeface="Cascadia Mono" panose="020B0609020000020004" pitchFamily="49" charset="0"/>
              </a:rPr>
              <a:t> = (</a:t>
            </a:r>
            <a:r>
              <a:rPr lang="fr-FR" sz="1200" dirty="0" err="1">
                <a:solidFill>
                  <a:srgbClr val="2B91AF"/>
                </a:solidFill>
                <a:latin typeface="Cascadia Mono" panose="020B0609020000020004" pitchFamily="49" charset="0"/>
              </a:rPr>
              <a:t>MyStructA</a:t>
            </a:r>
            <a:r>
              <a:rPr lang="fr-FR" sz="1200" dirty="0">
                <a:solidFill>
                  <a:srgbClr val="000000"/>
                </a:solidFill>
                <a:latin typeface="Cascadia Mono" panose="020B0609020000020004" pitchFamily="49" charset="0"/>
              </a:rPr>
              <a:t>*)</a:t>
            </a:r>
            <a:r>
              <a:rPr lang="fr-FR" sz="1200" dirty="0" err="1">
                <a:solidFill>
                  <a:srgbClr val="808080"/>
                </a:solidFill>
                <a:latin typeface="Cascadia Mono" panose="020B0609020000020004" pitchFamily="49" charset="0"/>
              </a:rPr>
              <a:t>ptr</a:t>
            </a:r>
            <a:r>
              <a:rPr lang="fr-FR"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endParaRPr lang="en-US" sz="1200" dirty="0"/>
          </a:p>
        </p:txBody>
      </p:sp>
      <p:sp>
        <p:nvSpPr>
          <p:cNvPr id="15" name="TextBox 14">
            <a:extLst>
              <a:ext uri="{FF2B5EF4-FFF2-40B4-BE49-F238E27FC236}">
                <a16:creationId xmlns:a16="http://schemas.microsoft.com/office/drawing/2014/main" id="{E84DDC8C-D23D-4B99-991B-B3AE08F11BC6}"/>
              </a:ext>
            </a:extLst>
          </p:cNvPr>
          <p:cNvSpPr txBox="1"/>
          <p:nvPr/>
        </p:nvSpPr>
        <p:spPr>
          <a:xfrm>
            <a:off x="2729023" y="4378770"/>
            <a:ext cx="6096000" cy="1015663"/>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cast_test3(</a:t>
            </a:r>
            <a:r>
              <a:rPr lang="en-US" sz="1200" dirty="0" err="1">
                <a:solidFill>
                  <a:srgbClr val="2B91AF"/>
                </a:solidFill>
                <a:latin typeface="Cascadia Mono" panose="020B0609020000020004" pitchFamily="49" charset="0"/>
              </a:rPr>
              <a:t>MyStructA</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ptr</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fr-FR" sz="1200" dirty="0">
                <a:solidFill>
                  <a:srgbClr val="000000"/>
                </a:solidFill>
                <a:latin typeface="Cascadia Mono" panose="020B0609020000020004" pitchFamily="49" charset="0"/>
              </a:rPr>
              <a:t>    </a:t>
            </a:r>
            <a:r>
              <a:rPr lang="fr-FR" sz="1200" dirty="0" err="1">
                <a:solidFill>
                  <a:srgbClr val="2B91AF"/>
                </a:solidFill>
                <a:latin typeface="Cascadia Mono" panose="020B0609020000020004" pitchFamily="49" charset="0"/>
              </a:rPr>
              <a:t>MyStructB</a:t>
            </a:r>
            <a:r>
              <a:rPr lang="fr-FR" sz="1200" dirty="0">
                <a:solidFill>
                  <a:srgbClr val="000000"/>
                </a:solidFill>
                <a:latin typeface="Cascadia Mono" panose="020B0609020000020004" pitchFamily="49" charset="0"/>
              </a:rPr>
              <a:t>* </a:t>
            </a:r>
            <a:r>
              <a:rPr lang="fr-FR" sz="1200" dirty="0" err="1">
                <a:solidFill>
                  <a:srgbClr val="000000"/>
                </a:solidFill>
                <a:latin typeface="Cascadia Mono" panose="020B0609020000020004" pitchFamily="49" charset="0"/>
              </a:rPr>
              <a:t>non_const</a:t>
            </a:r>
            <a:r>
              <a:rPr lang="fr-FR" sz="1200" dirty="0">
                <a:solidFill>
                  <a:srgbClr val="000000"/>
                </a:solidFill>
                <a:latin typeface="Cascadia Mono" panose="020B0609020000020004" pitchFamily="49" charset="0"/>
              </a:rPr>
              <a:t> = (</a:t>
            </a:r>
            <a:r>
              <a:rPr lang="fr-FR" sz="1200" dirty="0" err="1">
                <a:solidFill>
                  <a:srgbClr val="2B91AF"/>
                </a:solidFill>
                <a:latin typeface="Cascadia Mono" panose="020B0609020000020004" pitchFamily="49" charset="0"/>
              </a:rPr>
              <a:t>MyStructB</a:t>
            </a:r>
            <a:r>
              <a:rPr lang="fr-FR" sz="1200" dirty="0">
                <a:solidFill>
                  <a:srgbClr val="000000"/>
                </a:solidFill>
                <a:latin typeface="Cascadia Mono" panose="020B0609020000020004" pitchFamily="49" charset="0"/>
              </a:rPr>
              <a:t>*)</a:t>
            </a:r>
            <a:r>
              <a:rPr lang="fr-FR" sz="1200" dirty="0" err="1">
                <a:solidFill>
                  <a:srgbClr val="808080"/>
                </a:solidFill>
                <a:latin typeface="Cascadia Mono" panose="020B0609020000020004" pitchFamily="49" charset="0"/>
              </a:rPr>
              <a:t>ptr</a:t>
            </a:r>
            <a:r>
              <a:rPr lang="fr-FR"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endParaRPr lang="en-US" sz="1200" dirty="0"/>
          </a:p>
        </p:txBody>
      </p:sp>
    </p:spTree>
    <p:extLst>
      <p:ext uri="{BB962C8B-B14F-4D97-AF65-F5344CB8AC3E}">
        <p14:creationId xmlns:p14="http://schemas.microsoft.com/office/powerpoint/2010/main" val="40053887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C-style cast vs CPP casts</a:t>
            </a:r>
          </a:p>
        </p:txBody>
      </p:sp>
      <p:sp>
        <p:nvSpPr>
          <p:cNvPr id="9" name="TextBox 8">
            <a:extLst>
              <a:ext uri="{FF2B5EF4-FFF2-40B4-BE49-F238E27FC236}">
                <a16:creationId xmlns:a16="http://schemas.microsoft.com/office/drawing/2014/main" id="{DD39FEF5-FB3F-4CCF-AE9E-E5C4C5EF2BBF}"/>
              </a:ext>
            </a:extLst>
          </p:cNvPr>
          <p:cNvSpPr txBox="1"/>
          <p:nvPr/>
        </p:nvSpPr>
        <p:spPr>
          <a:xfrm>
            <a:off x="521207" y="1871319"/>
            <a:ext cx="2076892" cy="1754326"/>
          </a:xfrm>
          <a:prstGeom prst="rect">
            <a:avLst/>
          </a:prstGeom>
          <a:noFill/>
        </p:spPr>
        <p:txBody>
          <a:bodyPr wrap="square">
            <a:spAutoFit/>
          </a:bodyPr>
          <a:lstStyle/>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MyStructA</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MyStructB</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b;</a:t>
            </a:r>
          </a:p>
          <a:p>
            <a:r>
              <a:rPr lang="en-US" sz="1200" dirty="0">
                <a:solidFill>
                  <a:srgbClr val="000000"/>
                </a:solidFill>
                <a:latin typeface="Cascadia Mono" panose="020B0609020000020004" pitchFamily="49" charset="0"/>
              </a:rPr>
              <a:t>};</a:t>
            </a:r>
            <a:endParaRPr lang="en-US" sz="1200" dirty="0"/>
          </a:p>
        </p:txBody>
      </p:sp>
      <p:sp>
        <p:nvSpPr>
          <p:cNvPr id="10" name="TextBox 9">
            <a:extLst>
              <a:ext uri="{FF2B5EF4-FFF2-40B4-BE49-F238E27FC236}">
                <a16:creationId xmlns:a16="http://schemas.microsoft.com/office/drawing/2014/main" id="{EF45FAE3-7E44-4BC2-B6C4-D36DE272A345}"/>
              </a:ext>
            </a:extLst>
          </p:cNvPr>
          <p:cNvSpPr txBox="1"/>
          <p:nvPr/>
        </p:nvSpPr>
        <p:spPr>
          <a:xfrm>
            <a:off x="2296632" y="1885485"/>
            <a:ext cx="3643424" cy="1015663"/>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cast_test1()</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uint64_t</a:t>
            </a:r>
            <a:r>
              <a:rPr lang="en-US" sz="1200" dirty="0">
                <a:solidFill>
                  <a:srgbClr val="000000"/>
                </a:solidFill>
                <a:latin typeface="Cascadia Mono" panose="020B0609020000020004" pitchFamily="49" charset="0"/>
              </a:rPr>
              <a:t> a = 42;</a:t>
            </a:r>
          </a:p>
          <a:p>
            <a:r>
              <a:rPr lang="fr-FR" sz="1200" dirty="0">
                <a:solidFill>
                  <a:srgbClr val="000000"/>
                </a:solidFill>
                <a:latin typeface="Cascadia Mono" panose="020B0609020000020004" pitchFamily="49" charset="0"/>
              </a:rPr>
              <a:t>    </a:t>
            </a:r>
            <a:r>
              <a:rPr lang="fr-FR" sz="1200" dirty="0">
                <a:solidFill>
                  <a:srgbClr val="2B91AF"/>
                </a:solidFill>
                <a:latin typeface="Cascadia Mono" panose="020B0609020000020004" pitchFamily="49" charset="0"/>
              </a:rPr>
              <a:t>uint32_t</a:t>
            </a:r>
            <a:r>
              <a:rPr lang="fr-FR" sz="1200" dirty="0">
                <a:solidFill>
                  <a:srgbClr val="000000"/>
                </a:solidFill>
                <a:latin typeface="Cascadia Mono" panose="020B0609020000020004" pitchFamily="49" charset="0"/>
              </a:rPr>
              <a:t> b = (</a:t>
            </a:r>
            <a:r>
              <a:rPr lang="fr-FR" sz="1200" dirty="0">
                <a:solidFill>
                  <a:srgbClr val="2B91AF"/>
                </a:solidFill>
                <a:latin typeface="Cascadia Mono" panose="020B0609020000020004" pitchFamily="49" charset="0"/>
              </a:rPr>
              <a:t>uint64_t</a:t>
            </a:r>
            <a:r>
              <a:rPr lang="fr-FR" sz="1200" dirty="0">
                <a:solidFill>
                  <a:srgbClr val="000000"/>
                </a:solidFill>
                <a:latin typeface="Cascadia Mono" panose="020B0609020000020004" pitchFamily="49" charset="0"/>
              </a:rPr>
              <a:t>)a; </a:t>
            </a:r>
          </a:p>
          <a:p>
            <a:r>
              <a:rPr lang="en-US" sz="1200" dirty="0">
                <a:solidFill>
                  <a:srgbClr val="000000"/>
                </a:solidFill>
                <a:latin typeface="Cascadia Mono" panose="020B0609020000020004" pitchFamily="49" charset="0"/>
              </a:rPr>
              <a:t>}</a:t>
            </a:r>
            <a:endParaRPr lang="en-US" sz="1200" dirty="0"/>
          </a:p>
        </p:txBody>
      </p:sp>
      <p:sp>
        <p:nvSpPr>
          <p:cNvPr id="14" name="TextBox 13">
            <a:extLst>
              <a:ext uri="{FF2B5EF4-FFF2-40B4-BE49-F238E27FC236}">
                <a16:creationId xmlns:a16="http://schemas.microsoft.com/office/drawing/2014/main" id="{E956D603-DCFC-421F-85BB-9707E29024FA}"/>
              </a:ext>
            </a:extLst>
          </p:cNvPr>
          <p:cNvSpPr txBox="1"/>
          <p:nvPr/>
        </p:nvSpPr>
        <p:spPr>
          <a:xfrm>
            <a:off x="2296632" y="3108363"/>
            <a:ext cx="4075814" cy="1015663"/>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cast_test2(</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MyStructA</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ptr</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fr-FR" sz="1200" dirty="0">
                <a:solidFill>
                  <a:srgbClr val="000000"/>
                </a:solidFill>
                <a:latin typeface="Cascadia Mono" panose="020B0609020000020004" pitchFamily="49" charset="0"/>
              </a:rPr>
              <a:t>    </a:t>
            </a:r>
            <a:r>
              <a:rPr lang="fr-FR" sz="1200" dirty="0" err="1">
                <a:solidFill>
                  <a:srgbClr val="2B91AF"/>
                </a:solidFill>
                <a:latin typeface="Cascadia Mono" panose="020B0609020000020004" pitchFamily="49" charset="0"/>
              </a:rPr>
              <a:t>MyStructA</a:t>
            </a:r>
            <a:r>
              <a:rPr lang="fr-FR" sz="1200" dirty="0">
                <a:solidFill>
                  <a:srgbClr val="000000"/>
                </a:solidFill>
                <a:latin typeface="Cascadia Mono" panose="020B0609020000020004" pitchFamily="49" charset="0"/>
              </a:rPr>
              <a:t>* </a:t>
            </a:r>
            <a:r>
              <a:rPr lang="fr-FR" sz="1200" dirty="0" err="1">
                <a:solidFill>
                  <a:srgbClr val="000000"/>
                </a:solidFill>
                <a:latin typeface="Cascadia Mono" panose="020B0609020000020004" pitchFamily="49" charset="0"/>
              </a:rPr>
              <a:t>non_const</a:t>
            </a:r>
            <a:r>
              <a:rPr lang="fr-FR" sz="1200" dirty="0">
                <a:solidFill>
                  <a:srgbClr val="000000"/>
                </a:solidFill>
                <a:latin typeface="Cascadia Mono" panose="020B0609020000020004" pitchFamily="49" charset="0"/>
              </a:rPr>
              <a:t> = (</a:t>
            </a:r>
            <a:r>
              <a:rPr lang="fr-FR" sz="1200" dirty="0" err="1">
                <a:solidFill>
                  <a:srgbClr val="2B91AF"/>
                </a:solidFill>
                <a:latin typeface="Cascadia Mono" panose="020B0609020000020004" pitchFamily="49" charset="0"/>
              </a:rPr>
              <a:t>MyStructA</a:t>
            </a:r>
            <a:r>
              <a:rPr lang="fr-FR" sz="1200" dirty="0">
                <a:solidFill>
                  <a:srgbClr val="000000"/>
                </a:solidFill>
                <a:latin typeface="Cascadia Mono" panose="020B0609020000020004" pitchFamily="49" charset="0"/>
              </a:rPr>
              <a:t>*)</a:t>
            </a:r>
            <a:r>
              <a:rPr lang="fr-FR" sz="1200" dirty="0" err="1">
                <a:solidFill>
                  <a:srgbClr val="808080"/>
                </a:solidFill>
                <a:latin typeface="Cascadia Mono" panose="020B0609020000020004" pitchFamily="49" charset="0"/>
              </a:rPr>
              <a:t>ptr</a:t>
            </a:r>
            <a:r>
              <a:rPr lang="fr-FR"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endParaRPr lang="en-US" sz="1200" dirty="0"/>
          </a:p>
        </p:txBody>
      </p:sp>
      <p:sp>
        <p:nvSpPr>
          <p:cNvPr id="15" name="TextBox 14">
            <a:extLst>
              <a:ext uri="{FF2B5EF4-FFF2-40B4-BE49-F238E27FC236}">
                <a16:creationId xmlns:a16="http://schemas.microsoft.com/office/drawing/2014/main" id="{E84DDC8C-D23D-4B99-991B-B3AE08F11BC6}"/>
              </a:ext>
            </a:extLst>
          </p:cNvPr>
          <p:cNvSpPr txBox="1"/>
          <p:nvPr/>
        </p:nvSpPr>
        <p:spPr>
          <a:xfrm>
            <a:off x="2296632" y="4316186"/>
            <a:ext cx="6096000" cy="1015663"/>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cast_test3(</a:t>
            </a:r>
            <a:r>
              <a:rPr lang="en-US" sz="1200" dirty="0" err="1">
                <a:solidFill>
                  <a:srgbClr val="2B91AF"/>
                </a:solidFill>
                <a:latin typeface="Cascadia Mono" panose="020B0609020000020004" pitchFamily="49" charset="0"/>
              </a:rPr>
              <a:t>MyStructA</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ptr</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fr-FR" sz="1200" dirty="0">
                <a:solidFill>
                  <a:srgbClr val="000000"/>
                </a:solidFill>
                <a:latin typeface="Cascadia Mono" panose="020B0609020000020004" pitchFamily="49" charset="0"/>
              </a:rPr>
              <a:t>    </a:t>
            </a:r>
            <a:r>
              <a:rPr lang="fr-FR" sz="1200" dirty="0" err="1">
                <a:solidFill>
                  <a:srgbClr val="2B91AF"/>
                </a:solidFill>
                <a:latin typeface="Cascadia Mono" panose="020B0609020000020004" pitchFamily="49" charset="0"/>
              </a:rPr>
              <a:t>MyStructB</a:t>
            </a:r>
            <a:r>
              <a:rPr lang="fr-FR" sz="1200" dirty="0">
                <a:solidFill>
                  <a:srgbClr val="000000"/>
                </a:solidFill>
                <a:latin typeface="Cascadia Mono" panose="020B0609020000020004" pitchFamily="49" charset="0"/>
              </a:rPr>
              <a:t>* </a:t>
            </a:r>
            <a:r>
              <a:rPr lang="fr-FR" sz="1200" dirty="0" err="1">
                <a:solidFill>
                  <a:srgbClr val="000000"/>
                </a:solidFill>
                <a:latin typeface="Cascadia Mono" panose="020B0609020000020004" pitchFamily="49" charset="0"/>
              </a:rPr>
              <a:t>non_const</a:t>
            </a:r>
            <a:r>
              <a:rPr lang="fr-FR" sz="1200" dirty="0">
                <a:solidFill>
                  <a:srgbClr val="000000"/>
                </a:solidFill>
                <a:latin typeface="Cascadia Mono" panose="020B0609020000020004" pitchFamily="49" charset="0"/>
              </a:rPr>
              <a:t> = (</a:t>
            </a:r>
            <a:r>
              <a:rPr lang="fr-FR" sz="1200" dirty="0" err="1">
                <a:solidFill>
                  <a:srgbClr val="2B91AF"/>
                </a:solidFill>
                <a:latin typeface="Cascadia Mono" panose="020B0609020000020004" pitchFamily="49" charset="0"/>
              </a:rPr>
              <a:t>MyStructB</a:t>
            </a:r>
            <a:r>
              <a:rPr lang="fr-FR" sz="1200" dirty="0">
                <a:solidFill>
                  <a:srgbClr val="000000"/>
                </a:solidFill>
                <a:latin typeface="Cascadia Mono" panose="020B0609020000020004" pitchFamily="49" charset="0"/>
              </a:rPr>
              <a:t>*)</a:t>
            </a:r>
            <a:r>
              <a:rPr lang="fr-FR" sz="1200" dirty="0" err="1">
                <a:solidFill>
                  <a:srgbClr val="808080"/>
                </a:solidFill>
                <a:latin typeface="Cascadia Mono" panose="020B0609020000020004" pitchFamily="49" charset="0"/>
              </a:rPr>
              <a:t>ptr</a:t>
            </a:r>
            <a:r>
              <a:rPr lang="fr-FR"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endParaRPr lang="en-US" sz="1200" dirty="0"/>
          </a:p>
        </p:txBody>
      </p:sp>
      <p:sp>
        <p:nvSpPr>
          <p:cNvPr id="11" name="TextBox 10">
            <a:extLst>
              <a:ext uri="{FF2B5EF4-FFF2-40B4-BE49-F238E27FC236}">
                <a16:creationId xmlns:a16="http://schemas.microsoft.com/office/drawing/2014/main" id="{39B820AC-5342-4A29-966A-70D2D6EDC7C5}"/>
              </a:ext>
            </a:extLst>
          </p:cNvPr>
          <p:cNvSpPr txBox="1"/>
          <p:nvPr/>
        </p:nvSpPr>
        <p:spPr>
          <a:xfrm>
            <a:off x="6411431" y="1871319"/>
            <a:ext cx="6096000" cy="1015663"/>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cast_test1()</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uint64_t</a:t>
            </a:r>
            <a:r>
              <a:rPr lang="en-US" sz="1200" dirty="0">
                <a:solidFill>
                  <a:srgbClr val="000000"/>
                </a:solidFill>
                <a:latin typeface="Cascadia Mono" panose="020B0609020000020004" pitchFamily="49" charset="0"/>
              </a:rPr>
              <a:t> a = 42;</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uint32_t</a:t>
            </a:r>
            <a:r>
              <a:rPr lang="en-US" sz="1200" dirty="0">
                <a:solidFill>
                  <a:srgbClr val="000000"/>
                </a:solidFill>
                <a:latin typeface="Cascadia Mono" panose="020B0609020000020004" pitchFamily="49" charset="0"/>
              </a:rPr>
              <a:t> b = </a:t>
            </a:r>
            <a:r>
              <a:rPr lang="en-US" sz="1200" dirty="0" err="1">
                <a:solidFill>
                  <a:srgbClr val="0000FF"/>
                </a:solidFill>
                <a:latin typeface="Cascadia Mono" panose="020B0609020000020004" pitchFamily="49" charset="0"/>
              </a:rPr>
              <a:t>static_cast</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uint32_t</a:t>
            </a:r>
            <a:r>
              <a:rPr lang="en-US" sz="1200" dirty="0">
                <a:solidFill>
                  <a:srgbClr val="000000"/>
                </a:solidFill>
                <a:latin typeface="Cascadia Mono" panose="020B0609020000020004" pitchFamily="49" charset="0"/>
              </a:rPr>
              <a:t>&gt;(a);</a:t>
            </a:r>
          </a:p>
          <a:p>
            <a:r>
              <a:rPr lang="en-US" sz="1200" dirty="0">
                <a:solidFill>
                  <a:srgbClr val="000000"/>
                </a:solidFill>
                <a:latin typeface="Cascadia Mono" panose="020B0609020000020004" pitchFamily="49" charset="0"/>
              </a:rPr>
              <a:t>}</a:t>
            </a:r>
            <a:endParaRPr lang="en-US" sz="1200" dirty="0"/>
          </a:p>
        </p:txBody>
      </p:sp>
      <p:sp>
        <p:nvSpPr>
          <p:cNvPr id="13" name="TextBox 12">
            <a:extLst>
              <a:ext uri="{FF2B5EF4-FFF2-40B4-BE49-F238E27FC236}">
                <a16:creationId xmlns:a16="http://schemas.microsoft.com/office/drawing/2014/main" id="{E82E0EBF-57DC-4177-9FBF-C31C0E4C6EC0}"/>
              </a:ext>
            </a:extLst>
          </p:cNvPr>
          <p:cNvSpPr txBox="1"/>
          <p:nvPr/>
        </p:nvSpPr>
        <p:spPr>
          <a:xfrm>
            <a:off x="6411431" y="3056929"/>
            <a:ext cx="6503580" cy="1015663"/>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cast_test2(</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MyStructA</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ptr</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MyStructA</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non_const</a:t>
            </a:r>
            <a:r>
              <a:rPr lang="en-US" sz="1200" dirty="0">
                <a:solidFill>
                  <a:srgbClr val="000000"/>
                </a:solidFill>
                <a:latin typeface="Cascadia Mono" panose="020B0609020000020004" pitchFamily="49" charset="0"/>
              </a:rPr>
              <a:t> = </a:t>
            </a:r>
            <a:r>
              <a:rPr lang="en-US" sz="1200" dirty="0" err="1">
                <a:solidFill>
                  <a:srgbClr val="0000FF"/>
                </a:solidFill>
                <a:latin typeface="Cascadia Mono" panose="020B0609020000020004" pitchFamily="49" charset="0"/>
              </a:rPr>
              <a:t>const_cast</a:t>
            </a:r>
            <a:r>
              <a:rPr lang="en-US" sz="1200" dirty="0">
                <a:solidFill>
                  <a:srgbClr val="000000"/>
                </a:solidFill>
                <a:latin typeface="Cascadia Mono" panose="020B0609020000020004" pitchFamily="49" charset="0"/>
              </a:rPr>
              <a:t>&lt;</a:t>
            </a:r>
            <a:r>
              <a:rPr lang="en-US" sz="1200" dirty="0" err="1">
                <a:solidFill>
                  <a:srgbClr val="2B91AF"/>
                </a:solidFill>
                <a:latin typeface="Cascadia Mono" panose="020B0609020000020004" pitchFamily="49" charset="0"/>
              </a:rPr>
              <a:t>MyStructA</a:t>
            </a:r>
            <a:r>
              <a:rPr lang="en-US" sz="1200" dirty="0">
                <a:solidFill>
                  <a:srgbClr val="000000"/>
                </a:solidFill>
                <a:latin typeface="Cascadia Mono" panose="020B0609020000020004" pitchFamily="49" charset="0"/>
              </a:rPr>
              <a:t>*&gt;(</a:t>
            </a:r>
            <a:r>
              <a:rPr lang="en-US" sz="1200" dirty="0" err="1">
                <a:solidFill>
                  <a:srgbClr val="808080"/>
                </a:solidFill>
                <a:latin typeface="Cascadia Mono" panose="020B0609020000020004" pitchFamily="49" charset="0"/>
              </a:rPr>
              <a:t>ptr</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endParaRPr lang="en-US" sz="1200" dirty="0"/>
          </a:p>
        </p:txBody>
      </p:sp>
      <p:sp>
        <p:nvSpPr>
          <p:cNvPr id="17" name="TextBox 16">
            <a:extLst>
              <a:ext uri="{FF2B5EF4-FFF2-40B4-BE49-F238E27FC236}">
                <a16:creationId xmlns:a16="http://schemas.microsoft.com/office/drawing/2014/main" id="{C6C5A1F9-5055-4E52-9225-A69639EBAAF4}"/>
              </a:ext>
            </a:extLst>
          </p:cNvPr>
          <p:cNvSpPr txBox="1"/>
          <p:nvPr/>
        </p:nvSpPr>
        <p:spPr>
          <a:xfrm>
            <a:off x="6411431" y="4279362"/>
            <a:ext cx="6705600" cy="1015663"/>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cast_test3(</a:t>
            </a:r>
            <a:r>
              <a:rPr lang="en-US" sz="1200" dirty="0" err="1">
                <a:solidFill>
                  <a:srgbClr val="2B91AF"/>
                </a:solidFill>
                <a:latin typeface="Cascadia Mono" panose="020B0609020000020004" pitchFamily="49" charset="0"/>
              </a:rPr>
              <a:t>MyStructA</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ptr</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fr-FR" sz="1200" dirty="0">
                <a:solidFill>
                  <a:srgbClr val="000000"/>
                </a:solidFill>
                <a:latin typeface="Cascadia Mono" panose="020B0609020000020004" pitchFamily="49" charset="0"/>
              </a:rPr>
              <a:t>    </a:t>
            </a:r>
            <a:r>
              <a:rPr lang="fr-FR" sz="1200" dirty="0" err="1">
                <a:solidFill>
                  <a:srgbClr val="2B91AF"/>
                </a:solidFill>
                <a:latin typeface="Cascadia Mono" panose="020B0609020000020004" pitchFamily="49" charset="0"/>
              </a:rPr>
              <a:t>MyStructB</a:t>
            </a:r>
            <a:r>
              <a:rPr lang="fr-FR" sz="1200" dirty="0">
                <a:solidFill>
                  <a:srgbClr val="000000"/>
                </a:solidFill>
                <a:latin typeface="Cascadia Mono" panose="020B0609020000020004" pitchFamily="49" charset="0"/>
              </a:rPr>
              <a:t>* </a:t>
            </a:r>
            <a:r>
              <a:rPr lang="fr-FR" sz="1200" dirty="0" err="1">
                <a:solidFill>
                  <a:srgbClr val="000000"/>
                </a:solidFill>
                <a:latin typeface="Cascadia Mono" panose="020B0609020000020004" pitchFamily="49" charset="0"/>
              </a:rPr>
              <a:t>non_const</a:t>
            </a:r>
            <a:r>
              <a:rPr lang="fr-FR" sz="1200" dirty="0">
                <a:solidFill>
                  <a:srgbClr val="000000"/>
                </a:solidFill>
                <a:latin typeface="Cascadia Mono" panose="020B0609020000020004" pitchFamily="49" charset="0"/>
              </a:rPr>
              <a:t> = </a:t>
            </a:r>
            <a:r>
              <a:rPr lang="fr-FR" sz="1200" dirty="0" err="1">
                <a:solidFill>
                  <a:srgbClr val="0000FF"/>
                </a:solidFill>
                <a:latin typeface="Cascadia Mono" panose="020B0609020000020004" pitchFamily="49" charset="0"/>
              </a:rPr>
              <a:t>reinterpret_cast</a:t>
            </a:r>
            <a:r>
              <a:rPr lang="fr-FR" sz="1200" dirty="0">
                <a:solidFill>
                  <a:srgbClr val="000000"/>
                </a:solidFill>
                <a:latin typeface="Cascadia Mono" panose="020B0609020000020004" pitchFamily="49" charset="0"/>
              </a:rPr>
              <a:t>&lt;</a:t>
            </a:r>
            <a:r>
              <a:rPr lang="fr-FR" sz="1200" dirty="0" err="1">
                <a:solidFill>
                  <a:srgbClr val="2B91AF"/>
                </a:solidFill>
                <a:latin typeface="Cascadia Mono" panose="020B0609020000020004" pitchFamily="49" charset="0"/>
              </a:rPr>
              <a:t>MyStructB</a:t>
            </a:r>
            <a:r>
              <a:rPr lang="fr-FR" sz="1200" dirty="0">
                <a:solidFill>
                  <a:srgbClr val="000000"/>
                </a:solidFill>
                <a:latin typeface="Cascadia Mono" panose="020B0609020000020004" pitchFamily="49" charset="0"/>
              </a:rPr>
              <a:t>*&gt;(</a:t>
            </a:r>
            <a:r>
              <a:rPr lang="fr-FR" sz="1200" dirty="0" err="1">
                <a:solidFill>
                  <a:srgbClr val="808080"/>
                </a:solidFill>
                <a:latin typeface="Cascadia Mono" panose="020B0609020000020004" pitchFamily="49" charset="0"/>
              </a:rPr>
              <a:t>ptr</a:t>
            </a:r>
            <a:r>
              <a:rPr lang="fr-FR"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endParaRPr lang="en-US" sz="1200" dirty="0"/>
          </a:p>
        </p:txBody>
      </p:sp>
    </p:spTree>
    <p:extLst>
      <p:ext uri="{BB962C8B-B14F-4D97-AF65-F5344CB8AC3E}">
        <p14:creationId xmlns:p14="http://schemas.microsoft.com/office/powerpoint/2010/main" val="28548683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err="1">
                <a:latin typeface="Segoe UI Light" panose="020B0502040204020203" pitchFamily="34" charset="0"/>
                <a:cs typeface="Segoe UI Light" panose="020B0502040204020203" pitchFamily="34" charset="0"/>
              </a:rPr>
              <a:t>reinterpret_cast</a:t>
            </a:r>
            <a:endParaRPr lang="en-US" dirty="0">
              <a:latin typeface="Segoe UI Light" panose="020B0502040204020203" pitchFamily="34" charset="0"/>
              <a:cs typeface="Segoe UI Light" panose="020B0502040204020203" pitchFamily="34" charset="0"/>
            </a:endParaRPr>
          </a:p>
        </p:txBody>
      </p:sp>
      <p:sp>
        <p:nvSpPr>
          <p:cNvPr id="5" name="TextBox 4">
            <a:extLst>
              <a:ext uri="{FF2B5EF4-FFF2-40B4-BE49-F238E27FC236}">
                <a16:creationId xmlns:a16="http://schemas.microsoft.com/office/drawing/2014/main" id="{22C00916-0C43-4F3A-93E4-53612878E434}"/>
              </a:ext>
            </a:extLst>
          </p:cNvPr>
          <p:cNvSpPr txBox="1"/>
          <p:nvPr/>
        </p:nvSpPr>
        <p:spPr>
          <a:xfrm>
            <a:off x="592835" y="1347294"/>
            <a:ext cx="8584019" cy="430887"/>
          </a:xfrm>
          <a:prstGeom prst="rect">
            <a:avLst/>
          </a:prstGeom>
          <a:noFill/>
        </p:spPr>
        <p:txBody>
          <a:bodyPr wrap="square">
            <a:spAutoFit/>
          </a:bodyPr>
          <a:lstStyle/>
          <a:p>
            <a:r>
              <a:rPr lang="ru-RU" sz="1100" dirty="0">
                <a:solidFill>
                  <a:srgbClr val="000000"/>
                </a:solidFill>
                <a:latin typeface="Cascadia Mono" panose="020B0609020000020004" pitchFamily="49" charset="0"/>
              </a:rPr>
              <a:t>Использованние на свой страх и риск, никаких гарантий компилятор не дает </a:t>
            </a:r>
            <a:r>
              <a:rPr lang="en-US" sz="1100" dirty="0">
                <a:solidFill>
                  <a:srgbClr val="000000"/>
                </a:solidFill>
                <a:latin typeface="Cascadia Mono" panose="020B0609020000020004" pitchFamily="49" charset="0"/>
              </a:rPr>
              <a:t>(</a:t>
            </a:r>
            <a:r>
              <a:rPr lang="ru-RU" sz="1100" dirty="0">
                <a:solidFill>
                  <a:srgbClr val="000000"/>
                </a:solidFill>
                <a:latin typeface="Cascadia Mono" panose="020B0609020000020004" pitchFamily="49" charset="0"/>
              </a:rPr>
              <a:t>Легко получить </a:t>
            </a:r>
            <a:r>
              <a:rPr lang="en-US" sz="1100" dirty="0">
                <a:solidFill>
                  <a:srgbClr val="000000"/>
                </a:solidFill>
                <a:latin typeface="Cascadia Mono" panose="020B0609020000020004" pitchFamily="49" charset="0"/>
              </a:rPr>
              <a:t>UB)</a:t>
            </a:r>
          </a:p>
          <a:p>
            <a:endParaRPr lang="en-US" sz="1100" dirty="0"/>
          </a:p>
        </p:txBody>
      </p:sp>
      <p:sp>
        <p:nvSpPr>
          <p:cNvPr id="7" name="TextBox 6">
            <a:extLst>
              <a:ext uri="{FF2B5EF4-FFF2-40B4-BE49-F238E27FC236}">
                <a16:creationId xmlns:a16="http://schemas.microsoft.com/office/drawing/2014/main" id="{C4FF7B81-BAF6-4461-B8F8-E035F67443C4}"/>
              </a:ext>
            </a:extLst>
          </p:cNvPr>
          <p:cNvSpPr txBox="1"/>
          <p:nvPr/>
        </p:nvSpPr>
        <p:spPr>
          <a:xfrm>
            <a:off x="592835" y="3668601"/>
            <a:ext cx="7345561" cy="1569660"/>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cast_test</a:t>
            </a:r>
            <a:r>
              <a:rPr lang="en-US" sz="1200" dirty="0">
                <a:solidFill>
                  <a:srgbClr val="000000"/>
                </a:solidFill>
                <a:latin typeface="Cascadia Mono" panose="020B0609020000020004" pitchFamily="49" charset="0"/>
              </a:rPr>
              <a:t>(</a:t>
            </a:r>
            <a:r>
              <a:rPr lang="en-US" sz="1200" dirty="0" err="1">
                <a:solidFill>
                  <a:srgbClr val="2B91AF"/>
                </a:solidFill>
                <a:latin typeface="Cascadia Mono" panose="020B0609020000020004" pitchFamily="49" charset="0"/>
              </a:rPr>
              <a:t>MyStructA</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ptr</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uintptr_t</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pointer_num</a:t>
            </a:r>
            <a:r>
              <a:rPr lang="en-US" sz="1200" dirty="0">
                <a:solidFill>
                  <a:srgbClr val="000000"/>
                </a:solidFill>
                <a:latin typeface="Cascadia Mono" panose="020B0609020000020004" pitchFamily="49" charset="0"/>
              </a:rPr>
              <a:t> = </a:t>
            </a:r>
            <a:r>
              <a:rPr lang="en-US" sz="1200" dirty="0" err="1">
                <a:solidFill>
                  <a:srgbClr val="0000FF"/>
                </a:solidFill>
                <a:latin typeface="Cascadia Mono" panose="020B0609020000020004" pitchFamily="49" charset="0"/>
              </a:rPr>
              <a:t>reinterpret_cast</a:t>
            </a:r>
            <a:r>
              <a:rPr lang="en-US" sz="1200" dirty="0">
                <a:solidFill>
                  <a:srgbClr val="000000"/>
                </a:solidFill>
                <a:latin typeface="Cascadia Mono" panose="020B0609020000020004" pitchFamily="49" charset="0"/>
              </a:rPr>
              <a:t>&lt;</a:t>
            </a:r>
            <a:r>
              <a:rPr lang="en-US" sz="1200" dirty="0" err="1">
                <a:solidFill>
                  <a:srgbClr val="2B91AF"/>
                </a:solidFill>
                <a:latin typeface="Cascadia Mono" panose="020B0609020000020004" pitchFamily="49" charset="0"/>
              </a:rPr>
              <a:t>uintptr_t</a:t>
            </a:r>
            <a:r>
              <a:rPr lang="en-US" sz="1200" dirty="0">
                <a:solidFill>
                  <a:srgbClr val="000000"/>
                </a:solidFill>
                <a:latin typeface="Cascadia Mono" panose="020B0609020000020004" pitchFamily="49" charset="0"/>
              </a:rPr>
              <a:t>&gt;(</a:t>
            </a:r>
            <a:r>
              <a:rPr lang="en-US" sz="1200" dirty="0" err="1">
                <a:solidFill>
                  <a:srgbClr val="808080"/>
                </a:solidFill>
                <a:latin typeface="Cascadia Mono" panose="020B0609020000020004" pitchFamily="49" charset="0"/>
              </a:rPr>
              <a:t>ptr</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MyStructA</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ptr_from_num</a:t>
            </a:r>
            <a:r>
              <a:rPr lang="en-US" sz="1200" dirty="0">
                <a:solidFill>
                  <a:srgbClr val="000000"/>
                </a:solidFill>
                <a:latin typeface="Cascadia Mono" panose="020B0609020000020004" pitchFamily="49" charset="0"/>
              </a:rPr>
              <a:t> = </a:t>
            </a:r>
            <a:r>
              <a:rPr lang="en-US" sz="1200" dirty="0" err="1">
                <a:solidFill>
                  <a:srgbClr val="0000FF"/>
                </a:solidFill>
                <a:latin typeface="Cascadia Mono" panose="020B0609020000020004" pitchFamily="49" charset="0"/>
              </a:rPr>
              <a:t>reinterpret_cast</a:t>
            </a:r>
            <a:r>
              <a:rPr lang="en-US" sz="1200" dirty="0">
                <a:solidFill>
                  <a:srgbClr val="000000"/>
                </a:solidFill>
                <a:latin typeface="Cascadia Mono" panose="020B0609020000020004" pitchFamily="49" charset="0"/>
              </a:rPr>
              <a:t>&lt;</a:t>
            </a:r>
            <a:r>
              <a:rPr lang="en-US" sz="1200" dirty="0" err="1">
                <a:solidFill>
                  <a:srgbClr val="2B91AF"/>
                </a:solidFill>
                <a:latin typeface="Cascadia Mono" panose="020B0609020000020004" pitchFamily="49" charset="0"/>
              </a:rPr>
              <a:t>MyStructA</a:t>
            </a:r>
            <a:r>
              <a:rPr lang="en-US" sz="1200" dirty="0">
                <a:solidFill>
                  <a:srgbClr val="000000"/>
                </a:solidFill>
                <a:latin typeface="Cascadia Mono" panose="020B0609020000020004" pitchFamily="49" charset="0"/>
              </a:rPr>
              <a:t>*&gt;(</a:t>
            </a:r>
            <a:r>
              <a:rPr lang="en-US" sz="1200" dirty="0" err="1">
                <a:solidFill>
                  <a:srgbClr val="000000"/>
                </a:solidFill>
                <a:latin typeface="Cascadia Mono" panose="020B0609020000020004" pitchFamily="49" charset="0"/>
              </a:rPr>
              <a:t>pointer_num</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a:solidFill>
                  <a:srgbClr val="2B91AF"/>
                </a:solidFill>
                <a:latin typeface="Cascadia Mono" panose="020B0609020000020004" pitchFamily="49" charset="0"/>
              </a:rPr>
              <a:t>byte</a:t>
            </a:r>
            <a:r>
              <a:rPr lang="en-US" sz="1200" dirty="0">
                <a:solidFill>
                  <a:srgbClr val="000000"/>
                </a:solidFill>
                <a:latin typeface="Cascadia Mono" panose="020B0609020000020004" pitchFamily="49" charset="0"/>
              </a:rPr>
              <a:t>* bytes = </a:t>
            </a:r>
            <a:r>
              <a:rPr lang="en-US" sz="1200" dirty="0" err="1">
                <a:solidFill>
                  <a:srgbClr val="0000FF"/>
                </a:solidFill>
                <a:latin typeface="Cascadia Mono" panose="020B0609020000020004" pitchFamily="49" charset="0"/>
              </a:rPr>
              <a:t>reinterpret_cast</a:t>
            </a:r>
            <a:r>
              <a:rPr lang="en-US" sz="1200" dirty="0">
                <a:solidFill>
                  <a:srgbClr val="000000"/>
                </a:solidFill>
                <a:latin typeface="Cascadia Mono" panose="020B0609020000020004" pitchFamily="49" charset="0"/>
              </a:rPr>
              <a:t>&lt;std::</a:t>
            </a:r>
            <a:r>
              <a:rPr lang="en-US" sz="1200" dirty="0">
                <a:solidFill>
                  <a:srgbClr val="2B91AF"/>
                </a:solidFill>
                <a:latin typeface="Cascadia Mono" panose="020B0609020000020004" pitchFamily="49" charset="0"/>
              </a:rPr>
              <a:t>byte</a:t>
            </a:r>
            <a:r>
              <a:rPr lang="en-US" sz="1200" dirty="0">
                <a:solidFill>
                  <a:srgbClr val="000000"/>
                </a:solidFill>
                <a:latin typeface="Cascadia Mono" panose="020B0609020000020004" pitchFamily="49" charset="0"/>
              </a:rPr>
              <a:t>*&gt;(</a:t>
            </a:r>
            <a:r>
              <a:rPr lang="en-US" sz="1200" dirty="0" err="1">
                <a:solidFill>
                  <a:srgbClr val="808080"/>
                </a:solidFill>
                <a:latin typeface="Cascadia Mono" panose="020B0609020000020004" pitchFamily="49" charset="0"/>
              </a:rPr>
              <a:t>ptr</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MyStructA</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a_str</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MyStructB</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b_str</a:t>
            </a:r>
            <a:r>
              <a:rPr lang="en-US" sz="1200" dirty="0">
                <a:solidFill>
                  <a:srgbClr val="000000"/>
                </a:solidFill>
                <a:latin typeface="Cascadia Mono" panose="020B0609020000020004" pitchFamily="49" charset="0"/>
              </a:rPr>
              <a:t> = </a:t>
            </a:r>
            <a:r>
              <a:rPr lang="en-US" sz="1200" dirty="0" err="1">
                <a:solidFill>
                  <a:srgbClr val="0000FF"/>
                </a:solidFill>
                <a:latin typeface="Cascadia Mono" panose="020B0609020000020004" pitchFamily="49" charset="0"/>
              </a:rPr>
              <a:t>reinterpret_cast</a:t>
            </a:r>
            <a:r>
              <a:rPr lang="en-US" sz="1200" dirty="0">
                <a:solidFill>
                  <a:srgbClr val="000000"/>
                </a:solidFill>
                <a:latin typeface="Cascadia Mono" panose="020B0609020000020004" pitchFamily="49" charset="0"/>
              </a:rPr>
              <a:t>&lt;</a:t>
            </a:r>
            <a:r>
              <a:rPr lang="en-US" sz="1200" dirty="0" err="1">
                <a:solidFill>
                  <a:srgbClr val="2B91AF"/>
                </a:solidFill>
                <a:latin typeface="Cascadia Mono" panose="020B0609020000020004" pitchFamily="49" charset="0"/>
              </a:rPr>
              <a:t>MyStructB</a:t>
            </a:r>
            <a:r>
              <a:rPr lang="en-US" sz="1200" dirty="0">
                <a:solidFill>
                  <a:srgbClr val="000000"/>
                </a:solidFill>
                <a:latin typeface="Cascadia Mono" panose="020B0609020000020004" pitchFamily="49" charset="0"/>
              </a:rPr>
              <a:t>&gt;(</a:t>
            </a:r>
            <a:r>
              <a:rPr lang="en-US" sz="1200" dirty="0" err="1">
                <a:solidFill>
                  <a:srgbClr val="000000"/>
                </a:solidFill>
                <a:latin typeface="Cascadia Mono" panose="020B0609020000020004" pitchFamily="49" charset="0"/>
              </a:rPr>
              <a:t>a_str</a:t>
            </a: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compilation error</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endParaRPr lang="en-US" sz="1200" dirty="0"/>
          </a:p>
        </p:txBody>
      </p:sp>
      <p:sp>
        <p:nvSpPr>
          <p:cNvPr id="9" name="TextBox 8">
            <a:extLst>
              <a:ext uri="{FF2B5EF4-FFF2-40B4-BE49-F238E27FC236}">
                <a16:creationId xmlns:a16="http://schemas.microsoft.com/office/drawing/2014/main" id="{4EFA9207-CF36-4351-B4DC-7924550E121D}"/>
              </a:ext>
            </a:extLst>
          </p:cNvPr>
          <p:cNvSpPr txBox="1"/>
          <p:nvPr/>
        </p:nvSpPr>
        <p:spPr>
          <a:xfrm>
            <a:off x="592835" y="1778181"/>
            <a:ext cx="6097190" cy="1754326"/>
          </a:xfrm>
          <a:prstGeom prst="rect">
            <a:avLst/>
          </a:prstGeom>
          <a:noFill/>
        </p:spPr>
        <p:txBody>
          <a:bodyPr wrap="square">
            <a:spAutoFit/>
          </a:bodyPr>
          <a:lstStyle/>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A</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B</a:t>
            </a:r>
            <a:r>
              <a:rPr lang="en-US" sz="1200" dirty="0">
                <a:solidFill>
                  <a:srgbClr val="000000"/>
                </a:solidFill>
                <a:latin typeface="Cascadia Mono" panose="020B0609020000020004" pitchFamily="49" charset="0"/>
              </a:rPr>
              <a:t> : </a:t>
            </a:r>
            <a:r>
              <a:rPr lang="en-US" sz="1200" dirty="0">
                <a:solidFill>
                  <a:srgbClr val="2B91AF"/>
                </a:solidFill>
                <a:latin typeface="Cascadia Mono" panose="020B0609020000020004" pitchFamily="49" charset="0"/>
              </a:rPr>
              <a:t>A</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31756190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Explicit/implicit</a:t>
            </a:r>
          </a:p>
        </p:txBody>
      </p:sp>
      <p:sp>
        <p:nvSpPr>
          <p:cNvPr id="6" name="TextBox 5">
            <a:extLst>
              <a:ext uri="{FF2B5EF4-FFF2-40B4-BE49-F238E27FC236}">
                <a16:creationId xmlns:a16="http://schemas.microsoft.com/office/drawing/2014/main" id="{A6DB57B3-8AB4-4A71-BC69-E578DBC74E22}"/>
              </a:ext>
            </a:extLst>
          </p:cNvPr>
          <p:cNvSpPr txBox="1"/>
          <p:nvPr/>
        </p:nvSpPr>
        <p:spPr>
          <a:xfrm>
            <a:off x="521207" y="1397051"/>
            <a:ext cx="6097190" cy="3231654"/>
          </a:xfrm>
          <a:prstGeom prst="rect">
            <a:avLst/>
          </a:prstGeom>
          <a:noFill/>
        </p:spPr>
        <p:txBody>
          <a:bodyPr wrap="square">
            <a:spAutoFit/>
          </a:bodyPr>
          <a:lstStyle/>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MyStructA</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MyStructA</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a_arg</a:t>
            </a:r>
            <a:r>
              <a:rPr lang="en-US" sz="1200" dirty="0">
                <a:solidFill>
                  <a:srgbClr val="000000"/>
                </a:solidFill>
                <a:latin typeface="Cascadia Mono" panose="020B0609020000020004" pitchFamily="49" charset="0"/>
              </a:rPr>
              <a:t>) : a{</a:t>
            </a:r>
            <a:r>
              <a:rPr lang="en-US" sz="1200" dirty="0" err="1">
                <a:solidFill>
                  <a:srgbClr val="808080"/>
                </a:solidFill>
                <a:latin typeface="Cascadia Mono" panose="020B0609020000020004" pitchFamily="49" charset="0"/>
              </a:rPr>
              <a:t>a_arg</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 = 0;</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fun()</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i</a:t>
            </a:r>
            <a:r>
              <a:rPr lang="en-US" sz="1200" dirty="0">
                <a:solidFill>
                  <a:srgbClr val="000000"/>
                </a:solidFill>
                <a:latin typeface="Cascadia Mono" panose="020B0609020000020004" pitchFamily="49" charset="0"/>
              </a:rPr>
              <a:t> = 15;</a:t>
            </a:r>
          </a:p>
          <a:p>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MyStructA</a:t>
            </a:r>
            <a:r>
              <a:rPr lang="en-US" sz="1200" dirty="0">
                <a:solidFill>
                  <a:srgbClr val="000000"/>
                </a:solidFill>
                <a:latin typeface="Cascadia Mono" panose="020B0609020000020004" pitchFamily="49" charset="0"/>
              </a:rPr>
              <a:t> str = </a:t>
            </a:r>
            <a:r>
              <a:rPr lang="en-US" sz="1200" dirty="0" err="1">
                <a:solidFill>
                  <a:srgbClr val="000000"/>
                </a:solidFill>
                <a:latin typeface="Cascadia Mono" panose="020B0609020000020004" pitchFamily="49" charset="0"/>
              </a:rPr>
              <a:t>i</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MyStructA</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explicit</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MyStructA</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a_arg</a:t>
            </a:r>
            <a:r>
              <a:rPr lang="en-US" sz="1200" dirty="0">
                <a:solidFill>
                  <a:srgbClr val="000000"/>
                </a:solidFill>
                <a:latin typeface="Cascadia Mono" panose="020B0609020000020004" pitchFamily="49" charset="0"/>
              </a:rPr>
              <a:t>) : a{ </a:t>
            </a:r>
            <a:r>
              <a:rPr lang="en-US" sz="1200" dirty="0" err="1">
                <a:solidFill>
                  <a:srgbClr val="808080"/>
                </a:solidFill>
                <a:latin typeface="Cascadia Mono" panose="020B0609020000020004" pitchFamily="49" charset="0"/>
              </a:rPr>
              <a:t>a_arg</a:t>
            </a:r>
            <a:r>
              <a:rPr lang="en-US" sz="1200" dirty="0">
                <a:solidFill>
                  <a:srgbClr val="000000"/>
                </a:solidFill>
                <a:latin typeface="Cascadia Mono" panose="020B0609020000020004" pitchFamily="49" charset="0"/>
              </a:rPr>
              <a:t> }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 = 0;</a:t>
            </a:r>
          </a:p>
          <a:p>
            <a:r>
              <a:rPr lang="en-US" sz="1200" dirty="0">
                <a:solidFill>
                  <a:srgbClr val="000000"/>
                </a:solidFill>
                <a:latin typeface="Cascadia Mono" panose="020B0609020000020004" pitchFamily="49" charset="0"/>
              </a:rPr>
              <a:t>};</a:t>
            </a:r>
            <a:endParaRPr lang="en-US" sz="1200" dirty="0"/>
          </a:p>
        </p:txBody>
      </p:sp>
      <p:sp>
        <p:nvSpPr>
          <p:cNvPr id="9" name="TextBox 8">
            <a:extLst>
              <a:ext uri="{FF2B5EF4-FFF2-40B4-BE49-F238E27FC236}">
                <a16:creationId xmlns:a16="http://schemas.microsoft.com/office/drawing/2014/main" id="{54F4948F-DDE9-4012-898C-B41695A6CC20}"/>
              </a:ext>
            </a:extLst>
          </p:cNvPr>
          <p:cNvSpPr txBox="1"/>
          <p:nvPr/>
        </p:nvSpPr>
        <p:spPr>
          <a:xfrm>
            <a:off x="5820370" y="1397051"/>
            <a:ext cx="6097190" cy="1569660"/>
          </a:xfrm>
          <a:prstGeom prst="rect">
            <a:avLst/>
          </a:prstGeom>
          <a:noFill/>
        </p:spPr>
        <p:txBody>
          <a:bodyPr wrap="square">
            <a:spAutoFit/>
          </a:bodyPr>
          <a:lstStyle/>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X</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implicit conversion</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operator</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7; }</a:t>
            </a:r>
          </a:p>
          <a:p>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explicit conversion</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explicit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operator</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err="1">
                <a:solidFill>
                  <a:srgbClr val="0000FF"/>
                </a:solidFill>
                <a:latin typeface="Cascadia Mono" panose="020B0609020000020004" pitchFamily="49" charset="0"/>
              </a:rPr>
              <a:t>nullptr</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a:t>
            </a:r>
            <a:endParaRPr lang="en-US" sz="1200" dirty="0"/>
          </a:p>
        </p:txBody>
      </p:sp>
    </p:spTree>
    <p:extLst>
      <p:ext uri="{BB962C8B-B14F-4D97-AF65-F5344CB8AC3E}">
        <p14:creationId xmlns:p14="http://schemas.microsoft.com/office/powerpoint/2010/main" val="4858870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err="1">
                <a:latin typeface="Segoe UI Light" panose="020B0502040204020203" pitchFamily="34" charset="0"/>
                <a:cs typeface="Segoe UI Light" panose="020B0502040204020203" pitchFamily="34" charset="0"/>
              </a:rPr>
              <a:t>static_cast</a:t>
            </a:r>
            <a:endParaRPr lang="en-US" dirty="0">
              <a:latin typeface="Segoe UI Light" panose="020B0502040204020203" pitchFamily="34" charset="0"/>
              <a:cs typeface="Segoe UI Light" panose="020B0502040204020203" pitchFamily="34" charset="0"/>
            </a:endParaRPr>
          </a:p>
        </p:txBody>
      </p:sp>
      <p:sp>
        <p:nvSpPr>
          <p:cNvPr id="12" name="TextBox 11">
            <a:extLst>
              <a:ext uri="{FF2B5EF4-FFF2-40B4-BE49-F238E27FC236}">
                <a16:creationId xmlns:a16="http://schemas.microsoft.com/office/drawing/2014/main" id="{040201AC-44B4-4C8C-8CEB-BB334E3204F0}"/>
              </a:ext>
            </a:extLst>
          </p:cNvPr>
          <p:cNvSpPr txBox="1"/>
          <p:nvPr/>
        </p:nvSpPr>
        <p:spPr>
          <a:xfrm>
            <a:off x="576856" y="1532067"/>
            <a:ext cx="7024093" cy="3970318"/>
          </a:xfrm>
          <a:prstGeom prst="rect">
            <a:avLst/>
          </a:prstGeom>
          <a:noFill/>
        </p:spPr>
        <p:txBody>
          <a:bodyPr wrap="square">
            <a:spAutoFit/>
          </a:bodyPr>
          <a:lstStyle/>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A</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B</a:t>
            </a:r>
            <a:r>
              <a:rPr lang="en-US" sz="1200" dirty="0">
                <a:solidFill>
                  <a:srgbClr val="000000"/>
                </a:solidFill>
                <a:latin typeface="Cascadia Mono" panose="020B0609020000020004" pitchFamily="49" charset="0"/>
              </a:rPr>
              <a:t> : </a:t>
            </a:r>
            <a:r>
              <a:rPr lang="en-US" sz="1200" dirty="0">
                <a:solidFill>
                  <a:srgbClr val="2B91AF"/>
                </a:solidFill>
                <a:latin typeface="Cascadia Mono" panose="020B0609020000020004" pitchFamily="49" charset="0"/>
              </a:rPr>
              <a:t>A</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main() {</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B</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object_b</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new</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B</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A</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object_b_to_a</a:t>
            </a:r>
            <a:r>
              <a:rPr lang="en-US" sz="1200" dirty="0">
                <a:solidFill>
                  <a:srgbClr val="000000"/>
                </a:solidFill>
                <a:latin typeface="Cascadia Mono" panose="020B0609020000020004" pitchFamily="49" charset="0"/>
              </a:rPr>
              <a:t> = </a:t>
            </a:r>
            <a:r>
              <a:rPr lang="en-US" sz="1200" dirty="0" err="1">
                <a:solidFill>
                  <a:srgbClr val="0000FF"/>
                </a:solidFill>
                <a:latin typeface="Cascadia Mono" panose="020B0609020000020004" pitchFamily="49" charset="0"/>
              </a:rPr>
              <a:t>static_cast</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A</a:t>
            </a:r>
            <a:r>
              <a:rPr lang="en-US" sz="1200" dirty="0">
                <a:solidFill>
                  <a:srgbClr val="000000"/>
                </a:solidFill>
                <a:latin typeface="Cascadia Mono" panose="020B0609020000020004" pitchFamily="49" charset="0"/>
              </a:rPr>
              <a:t>*&gt;(</a:t>
            </a:r>
            <a:r>
              <a:rPr lang="en-US" sz="1200" dirty="0" err="1">
                <a:solidFill>
                  <a:srgbClr val="000000"/>
                </a:solidFill>
                <a:latin typeface="Cascadia Mono" panose="020B0609020000020004" pitchFamily="49" charset="0"/>
              </a:rPr>
              <a:t>object_b</a:t>
            </a: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downcast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B</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object_b_to_a_to_b</a:t>
            </a:r>
            <a:r>
              <a:rPr lang="en-US" sz="1200" dirty="0">
                <a:solidFill>
                  <a:srgbClr val="000000"/>
                </a:solidFill>
                <a:latin typeface="Cascadia Mono" panose="020B0609020000020004" pitchFamily="49" charset="0"/>
              </a:rPr>
              <a:t> = </a:t>
            </a:r>
            <a:r>
              <a:rPr lang="en-US" sz="1200" dirty="0" err="1">
                <a:solidFill>
                  <a:srgbClr val="0000FF"/>
                </a:solidFill>
                <a:latin typeface="Cascadia Mono" panose="020B0609020000020004" pitchFamily="49" charset="0"/>
              </a:rPr>
              <a:t>static_cast</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B</a:t>
            </a:r>
            <a:r>
              <a:rPr lang="en-US" sz="1200" dirty="0">
                <a:solidFill>
                  <a:srgbClr val="000000"/>
                </a:solidFill>
                <a:latin typeface="Cascadia Mono" panose="020B0609020000020004" pitchFamily="49" charset="0"/>
              </a:rPr>
              <a:t>*&gt;(</a:t>
            </a:r>
            <a:r>
              <a:rPr lang="en-US" sz="1200" dirty="0" err="1">
                <a:solidFill>
                  <a:srgbClr val="000000"/>
                </a:solidFill>
                <a:latin typeface="Cascadia Mono" panose="020B0609020000020004" pitchFamily="49" charset="0"/>
              </a:rPr>
              <a:t>object_b_to_a</a:t>
            </a: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upcast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main2() {</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B</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object_b</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new</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B</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A</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object_b_to_a</a:t>
            </a:r>
            <a:r>
              <a:rPr lang="en-US" sz="1200" dirty="0">
                <a:solidFill>
                  <a:srgbClr val="000000"/>
                </a:solidFill>
                <a:latin typeface="Cascadia Mono" panose="020B0609020000020004" pitchFamily="49" charset="0"/>
              </a:rPr>
              <a:t> = </a:t>
            </a:r>
            <a:r>
              <a:rPr lang="en-US" sz="1200" dirty="0" err="1">
                <a:solidFill>
                  <a:srgbClr val="0000FF"/>
                </a:solidFill>
                <a:latin typeface="Cascadia Mono" panose="020B0609020000020004" pitchFamily="49" charset="0"/>
              </a:rPr>
              <a:t>reinterpret_cast</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A</a:t>
            </a:r>
            <a:r>
              <a:rPr lang="en-US" sz="1200" dirty="0">
                <a:solidFill>
                  <a:srgbClr val="000000"/>
                </a:solidFill>
                <a:latin typeface="Cascadia Mono" panose="020B0609020000020004" pitchFamily="49" charset="0"/>
              </a:rPr>
              <a:t>*&gt;(</a:t>
            </a:r>
            <a:r>
              <a:rPr lang="en-US" sz="1200" dirty="0" err="1">
                <a:solidFill>
                  <a:srgbClr val="000000"/>
                </a:solidFill>
                <a:latin typeface="Cascadia Mono" panose="020B0609020000020004" pitchFamily="49" charset="0"/>
              </a:rPr>
              <a:t>object_b</a:t>
            </a: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downcast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B</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object_b_to_a_to_b</a:t>
            </a:r>
            <a:r>
              <a:rPr lang="en-US" sz="1200" dirty="0">
                <a:solidFill>
                  <a:srgbClr val="000000"/>
                </a:solidFill>
                <a:latin typeface="Cascadia Mono" panose="020B0609020000020004" pitchFamily="49" charset="0"/>
              </a:rPr>
              <a:t> = </a:t>
            </a:r>
            <a:r>
              <a:rPr lang="en-US" sz="1200" dirty="0" err="1">
                <a:solidFill>
                  <a:srgbClr val="0000FF"/>
                </a:solidFill>
                <a:latin typeface="Cascadia Mono" panose="020B0609020000020004" pitchFamily="49" charset="0"/>
              </a:rPr>
              <a:t>reinterpret_cast</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B</a:t>
            </a:r>
            <a:r>
              <a:rPr lang="en-US" sz="1200" dirty="0">
                <a:solidFill>
                  <a:srgbClr val="000000"/>
                </a:solidFill>
                <a:latin typeface="Cascadia Mono" panose="020B0609020000020004" pitchFamily="49" charset="0"/>
              </a:rPr>
              <a:t>*&gt;(</a:t>
            </a:r>
            <a:r>
              <a:rPr lang="en-US" sz="1200" dirty="0" err="1">
                <a:solidFill>
                  <a:srgbClr val="000000"/>
                </a:solidFill>
                <a:latin typeface="Cascadia Mono" panose="020B0609020000020004" pitchFamily="49" charset="0"/>
              </a:rPr>
              <a:t>object_b_to_a</a:t>
            </a: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upcast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endParaRPr lang="en-US" sz="1200" dirty="0"/>
          </a:p>
        </p:txBody>
      </p:sp>
      <p:sp>
        <p:nvSpPr>
          <p:cNvPr id="16" name="TextBox 15">
            <a:extLst>
              <a:ext uri="{FF2B5EF4-FFF2-40B4-BE49-F238E27FC236}">
                <a16:creationId xmlns:a16="http://schemas.microsoft.com/office/drawing/2014/main" id="{76AD0391-4B6E-45E3-BAD4-41D8F714A3FA}"/>
              </a:ext>
            </a:extLst>
          </p:cNvPr>
          <p:cNvSpPr txBox="1"/>
          <p:nvPr/>
        </p:nvSpPr>
        <p:spPr>
          <a:xfrm>
            <a:off x="4936235" y="1454451"/>
            <a:ext cx="8584019" cy="769441"/>
          </a:xfrm>
          <a:prstGeom prst="rect">
            <a:avLst/>
          </a:prstGeom>
          <a:noFill/>
        </p:spPr>
        <p:txBody>
          <a:bodyPr wrap="square">
            <a:spAutoFit/>
          </a:bodyPr>
          <a:lstStyle/>
          <a:p>
            <a:r>
              <a:rPr lang="en-US" sz="1100" dirty="0">
                <a:solidFill>
                  <a:srgbClr val="000000"/>
                </a:solidFill>
                <a:latin typeface="Cascadia Mono" panose="020B0609020000020004" pitchFamily="49" charset="0"/>
              </a:rPr>
              <a:t>implicit conversions between types (such as int to float, or pointer to void*)</a:t>
            </a:r>
          </a:p>
          <a:p>
            <a:r>
              <a:rPr lang="en-US" sz="1100" dirty="0">
                <a:solidFill>
                  <a:srgbClr val="000000"/>
                </a:solidFill>
                <a:latin typeface="Cascadia Mono" panose="020B0609020000020004" pitchFamily="49" charset="0"/>
              </a:rPr>
              <a:t>explicit conversion functions (or implicit ones)</a:t>
            </a:r>
          </a:p>
          <a:p>
            <a:r>
              <a:rPr lang="en-US" sz="1100" dirty="0">
                <a:solidFill>
                  <a:srgbClr val="000000"/>
                </a:solidFill>
                <a:latin typeface="Cascadia Mono" panose="020B0609020000020004" pitchFamily="49" charset="0"/>
              </a:rPr>
              <a:t>cast through inheritance hierarchies</a:t>
            </a:r>
          </a:p>
          <a:p>
            <a:endParaRPr lang="en-US" sz="1100" dirty="0"/>
          </a:p>
        </p:txBody>
      </p:sp>
    </p:spTree>
    <p:extLst>
      <p:ext uri="{BB962C8B-B14F-4D97-AF65-F5344CB8AC3E}">
        <p14:creationId xmlns:p14="http://schemas.microsoft.com/office/powerpoint/2010/main" val="3182307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C-style cast vs CPP casts</a:t>
            </a:r>
          </a:p>
        </p:txBody>
      </p:sp>
      <p:sp>
        <p:nvSpPr>
          <p:cNvPr id="12" name="Content Placeholder 17">
            <a:extLst>
              <a:ext uri="{FF2B5EF4-FFF2-40B4-BE49-F238E27FC236}">
                <a16:creationId xmlns:a16="http://schemas.microsoft.com/office/drawing/2014/main" id="{5412DA73-E6D4-47DD-B0A4-64A35993CD5B}"/>
              </a:ext>
            </a:extLst>
          </p:cNvPr>
          <p:cNvSpPr txBox="1">
            <a:spLocks/>
          </p:cNvSpPr>
          <p:nvPr/>
        </p:nvSpPr>
        <p:spPr>
          <a:xfrm>
            <a:off x="585003" y="1251707"/>
            <a:ext cx="6333249" cy="4475698"/>
          </a:xfrm>
          <a:prstGeom prst="rect">
            <a:avLst/>
          </a:prstGeom>
        </p:spPr>
        <p:txBody>
          <a:bodyPr vert="horz" lIns="91440" tIns="45720" rIns="91440" bIns="45720" rtlCol="0">
            <a:normAutofit fontScale="32500" lnSpcReduction="20000"/>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sz="4800" dirty="0"/>
              <a:t>1) When the C-style cast expression is encountered, the compiler attempts to interpret it as the following cast expressions, in this order:</a:t>
            </a:r>
            <a:br>
              <a:rPr lang="en-US" sz="4800" dirty="0"/>
            </a:br>
            <a:r>
              <a:rPr lang="en-US" sz="4800" dirty="0"/>
              <a:t>	a) </a:t>
            </a:r>
            <a:r>
              <a:rPr lang="en-US" sz="4800" b="1" dirty="0" err="1"/>
              <a:t>const_cast</a:t>
            </a:r>
            <a:r>
              <a:rPr lang="en-US" sz="4800" dirty="0"/>
              <a:t>&lt;target-type&gt;(expression);</a:t>
            </a:r>
            <a:br>
              <a:rPr lang="en-US" sz="4800" dirty="0"/>
            </a:br>
            <a:r>
              <a:rPr lang="en-US" sz="4800" dirty="0"/>
              <a:t>	b) </a:t>
            </a:r>
            <a:r>
              <a:rPr lang="en-US" sz="4800" b="1" dirty="0" err="1"/>
              <a:t>static_cast</a:t>
            </a:r>
            <a:r>
              <a:rPr lang="en-US" sz="4800" dirty="0"/>
              <a:t>&lt;target-type&gt;(expression), </a:t>
            </a:r>
            <a:br>
              <a:rPr lang="en-US" sz="4800" dirty="0"/>
            </a:br>
            <a:r>
              <a:rPr lang="en-US" sz="4800" dirty="0"/>
              <a:t>	c) </a:t>
            </a:r>
            <a:r>
              <a:rPr lang="en-US" sz="4800" b="1" dirty="0" err="1"/>
              <a:t>static_cast</a:t>
            </a:r>
            <a:r>
              <a:rPr lang="en-US" sz="4800" dirty="0"/>
              <a:t> (with extensions) followed by </a:t>
            </a:r>
            <a:r>
              <a:rPr lang="en-US" sz="4800" b="1" dirty="0" err="1"/>
              <a:t>const_cast</a:t>
            </a:r>
            <a:r>
              <a:rPr lang="en-US" sz="4800" dirty="0"/>
              <a:t>;</a:t>
            </a:r>
            <a:br>
              <a:rPr lang="en-US" sz="4800" dirty="0"/>
            </a:br>
            <a:r>
              <a:rPr lang="en-US" sz="4800" dirty="0"/>
              <a:t>	d) </a:t>
            </a:r>
            <a:r>
              <a:rPr lang="en-US" sz="4800" b="1" dirty="0" err="1"/>
              <a:t>reinterpret_cast</a:t>
            </a:r>
            <a:r>
              <a:rPr lang="en-US" sz="4800" dirty="0"/>
              <a:t>&lt;target-type&gt;(expression);</a:t>
            </a:r>
            <a:br>
              <a:rPr lang="en-US" sz="4800" dirty="0"/>
            </a:br>
            <a:r>
              <a:rPr lang="en-US" sz="4800" dirty="0"/>
              <a:t>	e) </a:t>
            </a:r>
            <a:r>
              <a:rPr lang="en-US" sz="4800" b="1" dirty="0" err="1"/>
              <a:t>reinterpret_cast</a:t>
            </a:r>
            <a:r>
              <a:rPr lang="en-US" sz="4800" b="1" dirty="0"/>
              <a:t> </a:t>
            </a:r>
            <a:r>
              <a:rPr lang="en-US" sz="4800" dirty="0"/>
              <a:t>followed by </a:t>
            </a:r>
            <a:r>
              <a:rPr lang="en-US" sz="4800" b="1" dirty="0" err="1"/>
              <a:t>const_cast</a:t>
            </a:r>
            <a:r>
              <a:rPr lang="en-US" sz="4800" dirty="0"/>
              <a:t>.</a:t>
            </a:r>
          </a:p>
          <a:p>
            <a:pPr marL="0" lvl="0" indent="0">
              <a:spcAft>
                <a:spcPts val="600"/>
              </a:spcAft>
              <a:buNone/>
              <a:defRPr/>
            </a:pPr>
            <a:r>
              <a:rPr lang="en-US" sz="4800" dirty="0"/>
              <a:t> The first choice that satisfies the requirements of the respective cast operator is selected, even if it cannot be compiled (see example). If the cast can be interpreted in more than one way as </a:t>
            </a:r>
            <a:r>
              <a:rPr lang="en-US" sz="4800" dirty="0" err="1"/>
              <a:t>static_cast</a:t>
            </a:r>
            <a:r>
              <a:rPr lang="en-US" sz="4800" dirty="0"/>
              <a:t> followed by a </a:t>
            </a:r>
            <a:r>
              <a:rPr lang="en-US" sz="4800" dirty="0" err="1"/>
              <a:t>const_cast</a:t>
            </a:r>
            <a:r>
              <a:rPr lang="en-US" sz="4800" dirty="0"/>
              <a:t>, it cannot be compiled.</a:t>
            </a:r>
          </a:p>
          <a:p>
            <a:pPr marL="0" lvl="0" indent="0">
              <a:spcAft>
                <a:spcPts val="600"/>
              </a:spcAft>
              <a:buNone/>
              <a:defRPr/>
            </a:pPr>
            <a:r>
              <a:rPr lang="en-US" sz="4800" dirty="0"/>
              <a:t> In addition, C-style cast notation is allowed to cast from, to, and between pointers to incomplete class type. If both expression and target-type are pointers to incomplete class types, it is unspecified whether </a:t>
            </a:r>
            <a:r>
              <a:rPr lang="en-US" sz="4800" dirty="0" err="1"/>
              <a:t>static_cast</a:t>
            </a:r>
            <a:r>
              <a:rPr lang="en-US" sz="4800" dirty="0"/>
              <a:t> or </a:t>
            </a:r>
            <a:r>
              <a:rPr lang="en-US" sz="4800" dirty="0" err="1"/>
              <a:t>reinterpret_cast</a:t>
            </a:r>
            <a:r>
              <a:rPr lang="en-US" sz="4800" dirty="0"/>
              <a:t> gets selected.</a:t>
            </a:r>
            <a:r>
              <a:rPr lang="ru-RU" dirty="0"/>
              <a:t>	</a:t>
            </a:r>
            <a:endParaRPr lang="en-US" dirty="0"/>
          </a:p>
          <a:p>
            <a:pPr marL="0" lvl="0" indent="0">
              <a:spcAft>
                <a:spcPts val="600"/>
              </a:spcAft>
              <a:buNone/>
              <a:defRPr/>
            </a:pPr>
            <a:r>
              <a:rPr lang="en-US" dirty="0"/>
              <a:t>	</a:t>
            </a:r>
          </a:p>
        </p:txBody>
      </p:sp>
      <p:sp>
        <p:nvSpPr>
          <p:cNvPr id="16" name="TextBox 15">
            <a:extLst>
              <a:ext uri="{FF2B5EF4-FFF2-40B4-BE49-F238E27FC236}">
                <a16:creationId xmlns:a16="http://schemas.microsoft.com/office/drawing/2014/main" id="{2F126E62-41BD-44CD-AA01-2BC55AECA955}"/>
              </a:ext>
            </a:extLst>
          </p:cNvPr>
          <p:cNvSpPr txBox="1"/>
          <p:nvPr/>
        </p:nvSpPr>
        <p:spPr>
          <a:xfrm>
            <a:off x="703627" y="5877338"/>
            <a:ext cx="6096000" cy="369332"/>
          </a:xfrm>
          <a:prstGeom prst="rect">
            <a:avLst/>
          </a:prstGeom>
          <a:noFill/>
        </p:spPr>
        <p:txBody>
          <a:bodyPr wrap="square">
            <a:spAutoFit/>
          </a:bodyPr>
          <a:lstStyle/>
          <a:p>
            <a:r>
              <a:rPr lang="en-US" dirty="0">
                <a:hlinkClick r:id="rId2"/>
              </a:rPr>
              <a:t>https://en.cppreference.com/w/cpp/language/explicit_cast</a:t>
            </a:r>
            <a:r>
              <a:rPr lang="en-US" dirty="0"/>
              <a:t> </a:t>
            </a:r>
          </a:p>
        </p:txBody>
      </p:sp>
    </p:spTree>
    <p:extLst>
      <p:ext uri="{BB962C8B-B14F-4D97-AF65-F5344CB8AC3E}">
        <p14:creationId xmlns:p14="http://schemas.microsoft.com/office/powerpoint/2010/main" val="4978794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Operator overloading</a:t>
            </a:r>
          </a:p>
        </p:txBody>
      </p:sp>
      <p:sp>
        <p:nvSpPr>
          <p:cNvPr id="3" name="TextBox 2">
            <a:extLst>
              <a:ext uri="{FF2B5EF4-FFF2-40B4-BE49-F238E27FC236}">
                <a16:creationId xmlns:a16="http://schemas.microsoft.com/office/drawing/2014/main" id="{709AA02C-70FA-435A-9592-38CB7F66F81B}"/>
              </a:ext>
            </a:extLst>
          </p:cNvPr>
          <p:cNvSpPr txBox="1"/>
          <p:nvPr/>
        </p:nvSpPr>
        <p:spPr>
          <a:xfrm>
            <a:off x="644225" y="1425877"/>
            <a:ext cx="8584019" cy="938719"/>
          </a:xfrm>
          <a:prstGeom prst="rect">
            <a:avLst/>
          </a:prstGeom>
          <a:noFill/>
        </p:spPr>
        <p:txBody>
          <a:bodyPr wrap="square">
            <a:spAutoFit/>
          </a:bodyPr>
          <a:lstStyle/>
          <a:p>
            <a:r>
              <a:rPr lang="en-US" sz="1100" dirty="0">
                <a:solidFill>
                  <a:srgbClr val="000000"/>
                </a:solidFill>
                <a:latin typeface="Cascadia Mono" panose="020B0609020000020004" pitchFamily="49" charset="0"/>
              </a:rPr>
              <a:t>implicit conversions between types (such as int to float, or pointer to void*)</a:t>
            </a:r>
          </a:p>
          <a:p>
            <a:r>
              <a:rPr lang="en-US" sz="1100" dirty="0">
                <a:solidFill>
                  <a:srgbClr val="000000"/>
                </a:solidFill>
                <a:latin typeface="Cascadia Mono" panose="020B0609020000020004" pitchFamily="49" charset="0"/>
              </a:rPr>
              <a:t>explicit conversion functions (or implicit ones)</a:t>
            </a:r>
            <a:endParaRPr lang="ru-RU"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different operator types</a:t>
            </a:r>
          </a:p>
          <a:p>
            <a:r>
              <a:rPr lang="en-US" sz="1100" dirty="0">
                <a:solidFill>
                  <a:srgbClr val="000000"/>
                </a:solidFill>
                <a:latin typeface="Cascadia Mono" panose="020B0609020000020004" pitchFamily="49" charset="0"/>
              </a:rPr>
              <a:t>overload resolution</a:t>
            </a:r>
          </a:p>
          <a:p>
            <a:endParaRPr lang="en-US" sz="1100" dirty="0"/>
          </a:p>
        </p:txBody>
      </p:sp>
    </p:spTree>
    <p:extLst>
      <p:ext uri="{BB962C8B-B14F-4D97-AF65-F5344CB8AC3E}">
        <p14:creationId xmlns:p14="http://schemas.microsoft.com/office/powerpoint/2010/main" val="5256769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Operator overloading</a:t>
            </a:r>
          </a:p>
        </p:txBody>
      </p:sp>
      <p:sp>
        <p:nvSpPr>
          <p:cNvPr id="4" name="TextBox 3">
            <a:extLst>
              <a:ext uri="{FF2B5EF4-FFF2-40B4-BE49-F238E27FC236}">
                <a16:creationId xmlns:a16="http://schemas.microsoft.com/office/drawing/2014/main" id="{0715C95B-6D5A-4A77-ADA3-AD59616F2619}"/>
              </a:ext>
            </a:extLst>
          </p:cNvPr>
          <p:cNvSpPr txBox="1"/>
          <p:nvPr/>
        </p:nvSpPr>
        <p:spPr>
          <a:xfrm>
            <a:off x="644225" y="1425877"/>
            <a:ext cx="8584019" cy="3970318"/>
          </a:xfrm>
          <a:prstGeom prst="rect">
            <a:avLst/>
          </a:prstGeom>
          <a:noFill/>
        </p:spPr>
        <p:txBody>
          <a:bodyPr wrap="square">
            <a:spAutoFit/>
          </a:bodyPr>
          <a:lstStyle/>
          <a:p>
            <a:r>
              <a:rPr lang="ru-RU" sz="1400" dirty="0"/>
              <a:t>Почти в любой технической области разработана своя традиционная удобная нотация, чтобы сделать бы презентовать и обсуждать часто используемые абстракции. </a:t>
            </a:r>
            <a:endParaRPr lang="en-US" sz="1400" dirty="0"/>
          </a:p>
          <a:p>
            <a:endParaRPr lang="ru-RU" sz="1400" dirty="0"/>
          </a:p>
          <a:p>
            <a:r>
              <a:rPr lang="ru-RU" sz="1400" dirty="0"/>
              <a:t>Для примера</a:t>
            </a:r>
            <a:r>
              <a:rPr lang="en-US" sz="1400" dirty="0"/>
              <a:t>:</a:t>
            </a:r>
          </a:p>
          <a:p>
            <a:r>
              <a:rPr lang="en-US" sz="1400" dirty="0">
                <a:solidFill>
                  <a:schemeClr val="accent1">
                    <a:lumMod val="50000"/>
                  </a:schemeClr>
                </a:solidFill>
              </a:rPr>
              <a:t>	X+Y*Z </a:t>
            </a:r>
            <a:r>
              <a:rPr lang="ru-RU" sz="1400" dirty="0">
                <a:solidFill>
                  <a:schemeClr val="accent1">
                    <a:lumMod val="50000"/>
                  </a:schemeClr>
                </a:solidFill>
              </a:rPr>
              <a:t>- </a:t>
            </a:r>
            <a:r>
              <a:rPr lang="ru-RU" sz="1400" dirty="0"/>
              <a:t>гораздо понятней чем</a:t>
            </a:r>
            <a:r>
              <a:rPr lang="en-US" sz="1400" dirty="0"/>
              <a:t>:</a:t>
            </a:r>
          </a:p>
          <a:p>
            <a:r>
              <a:rPr lang="en-US" sz="1400" dirty="0">
                <a:solidFill>
                  <a:schemeClr val="accent1">
                    <a:lumMod val="50000"/>
                  </a:schemeClr>
                </a:solidFill>
              </a:rPr>
              <a:t>	</a:t>
            </a:r>
            <a:r>
              <a:rPr lang="ru-RU" sz="1400" dirty="0">
                <a:solidFill>
                  <a:schemeClr val="accent1">
                    <a:lumMod val="50000"/>
                  </a:schemeClr>
                </a:solidFill>
              </a:rPr>
              <a:t>умножить</a:t>
            </a:r>
            <a:r>
              <a:rPr lang="en-US" sz="1400" dirty="0">
                <a:solidFill>
                  <a:schemeClr val="accent1">
                    <a:lumMod val="50000"/>
                  </a:schemeClr>
                </a:solidFill>
              </a:rPr>
              <a:t> Y </a:t>
            </a:r>
            <a:r>
              <a:rPr lang="ru-RU" sz="1400" dirty="0">
                <a:solidFill>
                  <a:schemeClr val="accent1">
                    <a:lumMod val="50000"/>
                  </a:schemeClr>
                </a:solidFill>
              </a:rPr>
              <a:t>на</a:t>
            </a:r>
            <a:r>
              <a:rPr lang="en-US" sz="1400" dirty="0">
                <a:solidFill>
                  <a:schemeClr val="accent1">
                    <a:lumMod val="50000"/>
                  </a:schemeClr>
                </a:solidFill>
              </a:rPr>
              <a:t> Z </a:t>
            </a:r>
            <a:r>
              <a:rPr lang="ru-RU" sz="1400" dirty="0">
                <a:solidFill>
                  <a:schemeClr val="accent1">
                    <a:lumMod val="50000"/>
                  </a:schemeClr>
                </a:solidFill>
              </a:rPr>
              <a:t>а затем добавить к результату</a:t>
            </a:r>
            <a:r>
              <a:rPr lang="en-US" sz="1400" dirty="0">
                <a:solidFill>
                  <a:schemeClr val="accent1">
                    <a:lumMod val="50000"/>
                  </a:schemeClr>
                </a:solidFill>
              </a:rPr>
              <a:t> X</a:t>
            </a:r>
            <a:endParaRPr lang="ru-RU" sz="1400" dirty="0">
              <a:solidFill>
                <a:schemeClr val="accent1">
                  <a:lumMod val="50000"/>
                </a:schemeClr>
              </a:solidFill>
            </a:endParaRPr>
          </a:p>
          <a:p>
            <a:endParaRPr lang="ru-RU" sz="1400" dirty="0">
              <a:solidFill>
                <a:schemeClr val="accent1">
                  <a:lumMod val="50000"/>
                </a:schemeClr>
              </a:solidFill>
            </a:endParaRPr>
          </a:p>
          <a:p>
            <a:r>
              <a:rPr lang="ru-RU" sz="1400" dirty="0"/>
              <a:t>Как и большинство других языков </a:t>
            </a:r>
            <a:r>
              <a:rPr lang="en-US" sz="1400" dirty="0"/>
              <a:t>C++ </a:t>
            </a:r>
            <a:r>
              <a:rPr lang="ru-RU" sz="1400" dirty="0"/>
              <a:t>поддерживает набор операторов (</a:t>
            </a:r>
            <a:r>
              <a:rPr lang="en-US" sz="1400" dirty="0"/>
              <a:t>+, -, /, </a:t>
            </a:r>
            <a:r>
              <a:rPr lang="en-US" sz="1400" dirty="0" err="1"/>
              <a:t>etc</a:t>
            </a:r>
            <a:r>
              <a:rPr lang="ru-RU" sz="1400" dirty="0"/>
              <a:t>) для встроенных типов</a:t>
            </a:r>
            <a:r>
              <a:rPr lang="en-US" sz="1400" dirty="0"/>
              <a:t>.</a:t>
            </a:r>
            <a:r>
              <a:rPr lang="ru-RU" sz="1400" dirty="0"/>
              <a:t> (</a:t>
            </a:r>
            <a:r>
              <a:rPr lang="en-US" sz="1400" dirty="0"/>
              <a:t>float, int, double, </a:t>
            </a:r>
            <a:r>
              <a:rPr lang="en-US" sz="1400" dirty="0" err="1"/>
              <a:t>etc</a:t>
            </a:r>
            <a:r>
              <a:rPr lang="ru-RU" sz="1400" dirty="0"/>
              <a:t>)</a:t>
            </a:r>
          </a:p>
          <a:p>
            <a:endParaRPr lang="en-US" sz="1400" dirty="0">
              <a:solidFill>
                <a:schemeClr val="accent1">
                  <a:lumMod val="50000"/>
                </a:schemeClr>
              </a:solidFill>
            </a:endParaRPr>
          </a:p>
          <a:p>
            <a:r>
              <a:rPr lang="ru-RU" sz="1400" dirty="0"/>
              <a:t>Однако, чаще всего операторы используются для абстракций, создаваемых программистами на </a:t>
            </a:r>
            <a:r>
              <a:rPr lang="en-US" sz="1400" dirty="0"/>
              <a:t>C++</a:t>
            </a:r>
            <a:r>
              <a:rPr lang="ru-RU" sz="1400" dirty="0"/>
              <a:t> (</a:t>
            </a:r>
            <a:r>
              <a:rPr lang="en-US" sz="1400" dirty="0"/>
              <a:t>user defined types</a:t>
            </a:r>
            <a:r>
              <a:rPr lang="ru-RU" sz="1400" dirty="0"/>
              <a:t>).</a:t>
            </a:r>
            <a:endParaRPr lang="en-US" sz="1400" dirty="0"/>
          </a:p>
          <a:p>
            <a:endParaRPr lang="ru-RU" sz="1400" dirty="0"/>
          </a:p>
          <a:p>
            <a:r>
              <a:rPr lang="ru-RU" sz="1400" dirty="0"/>
              <a:t>Унарный оператор - применяется к одному операнду</a:t>
            </a:r>
          </a:p>
          <a:p>
            <a:r>
              <a:rPr lang="en-US" sz="1400" dirty="0"/>
              <a:t>X = -X;</a:t>
            </a:r>
          </a:p>
          <a:p>
            <a:endParaRPr lang="en-US" sz="1400" dirty="0"/>
          </a:p>
          <a:p>
            <a:r>
              <a:rPr lang="ru-RU" sz="1400" dirty="0"/>
              <a:t>Бинарный оператор – применяется к двум операндам</a:t>
            </a:r>
          </a:p>
          <a:p>
            <a:r>
              <a:rPr lang="en-US" sz="1400" dirty="0"/>
              <a:t>X = X – Y;</a:t>
            </a:r>
          </a:p>
        </p:txBody>
      </p:sp>
    </p:spTree>
    <p:extLst>
      <p:ext uri="{BB962C8B-B14F-4D97-AF65-F5344CB8AC3E}">
        <p14:creationId xmlns:p14="http://schemas.microsoft.com/office/powerpoint/2010/main" val="18209193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Operator overloading</a:t>
            </a:r>
          </a:p>
        </p:txBody>
      </p:sp>
      <p:sp>
        <p:nvSpPr>
          <p:cNvPr id="9" name="TextBox 8">
            <a:extLst>
              <a:ext uri="{FF2B5EF4-FFF2-40B4-BE49-F238E27FC236}">
                <a16:creationId xmlns:a16="http://schemas.microsoft.com/office/drawing/2014/main" id="{4CBDFACA-C6C0-408A-87C0-85EE481D5CF2}"/>
              </a:ext>
            </a:extLst>
          </p:cNvPr>
          <p:cNvSpPr txBox="1"/>
          <p:nvPr/>
        </p:nvSpPr>
        <p:spPr>
          <a:xfrm>
            <a:off x="691158" y="1710482"/>
            <a:ext cx="6097190" cy="1384995"/>
          </a:xfrm>
          <a:prstGeom prst="rect">
            <a:avLst/>
          </a:prstGeom>
          <a:noFill/>
        </p:spPr>
        <p:txBody>
          <a:bodyPr wrap="square">
            <a:spAutoFit/>
          </a:bodyPr>
          <a:lstStyle/>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re, </a:t>
            </a:r>
            <a:r>
              <a:rPr lang="en-US" sz="1200" dirty="0" err="1">
                <a:solidFill>
                  <a:srgbClr val="000000"/>
                </a:solidFill>
                <a:latin typeface="Cascadia Mono" panose="020B0609020000020004" pitchFamily="49" charset="0"/>
              </a:rPr>
              <a:t>im</a:t>
            </a:r>
            <a:r>
              <a:rPr lang="en-US" sz="1200" dirty="0">
                <a:solidFill>
                  <a:srgbClr val="000000"/>
                </a:solidFill>
                <a:latin typeface="Cascadia Mono" panose="020B0609020000020004" pitchFamily="49" charset="0"/>
              </a:rPr>
              <a:t>;</a:t>
            </a:r>
          </a:p>
          <a:p>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complex(</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r</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i</a:t>
            </a:r>
            <a:r>
              <a:rPr lang="en-US" sz="1200" dirty="0">
                <a:solidFill>
                  <a:srgbClr val="000000"/>
                </a:solidFill>
                <a:latin typeface="Cascadia Mono" panose="020B0609020000020004" pitchFamily="49" charset="0"/>
              </a:rPr>
              <a:t>) :re{ </a:t>
            </a:r>
            <a:r>
              <a:rPr lang="en-US" sz="1200" dirty="0">
                <a:solidFill>
                  <a:srgbClr val="808080"/>
                </a:solidFill>
                <a:latin typeface="Cascadia Mono" panose="020B0609020000020004" pitchFamily="49" charset="0"/>
              </a:rPr>
              <a:t>r</a:t>
            </a:r>
            <a:r>
              <a:rPr lang="en-US" sz="1200" dirty="0">
                <a:solidFill>
                  <a:srgbClr val="000000"/>
                </a:solidFill>
                <a:latin typeface="Cascadia Mono" panose="020B0609020000020004" pitchFamily="49" charset="0"/>
              </a:rPr>
              <a:t> }, </a:t>
            </a:r>
            <a:r>
              <a:rPr lang="en-US" sz="1200" dirty="0" err="1">
                <a:solidFill>
                  <a:srgbClr val="000000"/>
                </a:solidFill>
                <a:latin typeface="Cascadia Mono" panose="020B0609020000020004" pitchFamily="49" charset="0"/>
              </a:rPr>
              <a:t>im</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i</a:t>
            </a:r>
            <a:r>
              <a:rPr lang="en-US" sz="1200" dirty="0">
                <a:solidFill>
                  <a:srgbClr val="000000"/>
                </a:solidFill>
                <a:latin typeface="Cascadia Mono" panose="020B0609020000020004" pitchFamily="49" charset="0"/>
              </a:rPr>
              <a:t> } { }</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operator∗(</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p:txBody>
      </p:sp>
      <p:sp>
        <p:nvSpPr>
          <p:cNvPr id="15" name="TextBox 14">
            <a:extLst>
              <a:ext uri="{FF2B5EF4-FFF2-40B4-BE49-F238E27FC236}">
                <a16:creationId xmlns:a16="http://schemas.microsoft.com/office/drawing/2014/main" id="{AA7310D6-654E-4ED5-A87B-E54CF0F2CECD}"/>
              </a:ext>
            </a:extLst>
          </p:cNvPr>
          <p:cNvSpPr txBox="1"/>
          <p:nvPr/>
        </p:nvSpPr>
        <p:spPr>
          <a:xfrm>
            <a:off x="691158" y="1410560"/>
            <a:ext cx="5723930" cy="738664"/>
          </a:xfrm>
          <a:prstGeom prst="rect">
            <a:avLst/>
          </a:prstGeom>
          <a:noFill/>
        </p:spPr>
        <p:txBody>
          <a:bodyPr wrap="square">
            <a:spAutoFit/>
          </a:bodyPr>
          <a:lstStyle/>
          <a:p>
            <a:r>
              <a:rPr lang="ru-RU" sz="1400" dirty="0"/>
              <a:t>Упрощенная реализация класса комплексных чисел для </a:t>
            </a:r>
            <a:r>
              <a:rPr lang="en-US" sz="1400" dirty="0"/>
              <a:t>C++:</a:t>
            </a:r>
          </a:p>
          <a:p>
            <a:endParaRPr lang="ru-RU" sz="1400" dirty="0"/>
          </a:p>
          <a:p>
            <a:r>
              <a:rPr lang="ru-RU" sz="1400" dirty="0"/>
              <a:t> </a:t>
            </a:r>
            <a:endParaRPr lang="en-US" sz="1400" dirty="0"/>
          </a:p>
        </p:txBody>
      </p:sp>
      <p:sp>
        <p:nvSpPr>
          <p:cNvPr id="16" name="TextBox 15">
            <a:extLst>
              <a:ext uri="{FF2B5EF4-FFF2-40B4-BE49-F238E27FC236}">
                <a16:creationId xmlns:a16="http://schemas.microsoft.com/office/drawing/2014/main" id="{FEA11949-F3E9-42C9-9CA5-18D1D27D27F2}"/>
              </a:ext>
            </a:extLst>
          </p:cNvPr>
          <p:cNvSpPr txBox="1"/>
          <p:nvPr/>
        </p:nvSpPr>
        <p:spPr>
          <a:xfrm>
            <a:off x="691158" y="3095477"/>
            <a:ext cx="3773686" cy="954107"/>
          </a:xfrm>
          <a:prstGeom prst="rect">
            <a:avLst/>
          </a:prstGeom>
          <a:noFill/>
        </p:spPr>
        <p:txBody>
          <a:bodyPr wrap="square">
            <a:spAutoFit/>
          </a:bodyPr>
          <a:lstStyle/>
          <a:p>
            <a:r>
              <a:rPr lang="en-US" sz="1400" dirty="0"/>
              <a:t>C++</a:t>
            </a:r>
            <a:r>
              <a:rPr lang="ru-RU" sz="1400" dirty="0"/>
              <a:t> позволяет программистам самим определеять смысл операторов</a:t>
            </a:r>
            <a:r>
              <a:rPr lang="en-US" sz="1400" dirty="0"/>
              <a:t>:</a:t>
            </a:r>
          </a:p>
          <a:p>
            <a:endParaRPr lang="ru-RU" sz="1400" dirty="0"/>
          </a:p>
          <a:p>
            <a:r>
              <a:rPr lang="ru-RU" sz="1400" dirty="0"/>
              <a:t> </a:t>
            </a:r>
            <a:endParaRPr lang="en-US" sz="1400" dirty="0"/>
          </a:p>
        </p:txBody>
      </p:sp>
      <p:sp>
        <p:nvSpPr>
          <p:cNvPr id="19" name="TextBox 18">
            <a:extLst>
              <a:ext uri="{FF2B5EF4-FFF2-40B4-BE49-F238E27FC236}">
                <a16:creationId xmlns:a16="http://schemas.microsoft.com/office/drawing/2014/main" id="{47F93D0D-177B-4B6F-A587-C3704382C587}"/>
              </a:ext>
            </a:extLst>
          </p:cNvPr>
          <p:cNvSpPr txBox="1"/>
          <p:nvPr/>
        </p:nvSpPr>
        <p:spPr>
          <a:xfrm>
            <a:off x="691158" y="3717823"/>
            <a:ext cx="6097190" cy="1754326"/>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f()</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 =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1,3.1 };</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b{ 1.2, 2 };</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c{ b };</a:t>
            </a:r>
          </a:p>
          <a:p>
            <a:r>
              <a:rPr lang="en-US" sz="1200" dirty="0">
                <a:solidFill>
                  <a:srgbClr val="000000"/>
                </a:solidFill>
                <a:latin typeface="Cascadia Mono" panose="020B0609020000020004" pitchFamily="49" charset="0"/>
              </a:rPr>
              <a:t>    a </a:t>
            </a:r>
            <a:r>
              <a:rPr lang="en-US" sz="1200" dirty="0">
                <a:solidFill>
                  <a:srgbClr val="008080"/>
                </a:solidFill>
                <a:latin typeface="Cascadia Mono" panose="020B0609020000020004" pitchFamily="49" charset="0"/>
              </a:rPr>
              <a:t>=</a:t>
            </a:r>
            <a:r>
              <a:rPr lang="en-US" sz="1200" dirty="0">
                <a:solidFill>
                  <a:srgbClr val="000000"/>
                </a:solidFill>
                <a:latin typeface="Cascadia Mono" panose="020B0609020000020004" pitchFamily="49" charset="0"/>
              </a:rPr>
              <a:t> b </a:t>
            </a:r>
            <a:r>
              <a:rPr lang="en-US" sz="1200" dirty="0">
                <a:solidFill>
                  <a:srgbClr val="008080"/>
                </a:solidFill>
                <a:latin typeface="Cascadia Mono" panose="020B0609020000020004" pitchFamily="49" charset="0"/>
              </a:rPr>
              <a:t>+</a:t>
            </a:r>
            <a:r>
              <a:rPr lang="en-US" sz="1200" dirty="0">
                <a:solidFill>
                  <a:srgbClr val="000000"/>
                </a:solidFill>
                <a:latin typeface="Cascadia Mono" panose="020B0609020000020004" pitchFamily="49" charset="0"/>
              </a:rPr>
              <a:t> c;     </a:t>
            </a:r>
            <a:r>
              <a:rPr lang="en-US" sz="1200" dirty="0">
                <a:solidFill>
                  <a:srgbClr val="008000"/>
                </a:solidFill>
                <a:latin typeface="Cascadia Mono" panose="020B0609020000020004" pitchFamily="49" charset="0"/>
              </a:rPr>
              <a:t>// </a:t>
            </a:r>
            <a:r>
              <a:rPr lang="en-US" sz="1200" dirty="0" err="1">
                <a:solidFill>
                  <a:srgbClr val="008000"/>
                </a:solidFill>
                <a:latin typeface="Cascadia Mono" panose="020B0609020000020004" pitchFamily="49" charset="0"/>
              </a:rPr>
              <a:t>a.operator</a:t>
            </a:r>
            <a:r>
              <a:rPr lang="en-US" sz="1200" dirty="0">
                <a:solidFill>
                  <a:srgbClr val="008000"/>
                </a:solidFill>
                <a:latin typeface="Cascadia Mono" panose="020B0609020000020004" pitchFamily="49" charset="0"/>
              </a:rPr>
              <a:t>=(</a:t>
            </a:r>
            <a:r>
              <a:rPr lang="en-US" sz="1200" dirty="0" err="1">
                <a:solidFill>
                  <a:srgbClr val="008000"/>
                </a:solidFill>
                <a:latin typeface="Cascadia Mono" panose="020B0609020000020004" pitchFamily="49" charset="0"/>
              </a:rPr>
              <a:t>b.operator</a:t>
            </a:r>
            <a:r>
              <a:rPr lang="en-US" sz="1200" dirty="0">
                <a:solidFill>
                  <a:srgbClr val="008000"/>
                </a:solidFill>
                <a:latin typeface="Cascadia Mono" panose="020B0609020000020004" pitchFamily="49" charset="0"/>
              </a:rPr>
              <a:t>+(c))</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b </a:t>
            </a:r>
            <a:r>
              <a:rPr lang="en-US" sz="1200" dirty="0">
                <a:solidFill>
                  <a:srgbClr val="008080"/>
                </a:solidFill>
                <a:latin typeface="Cascadia Mono" panose="020B0609020000020004" pitchFamily="49" charset="0"/>
              </a:rPr>
              <a:t>=</a:t>
            </a:r>
            <a:r>
              <a:rPr lang="en-US" sz="1200" dirty="0">
                <a:solidFill>
                  <a:srgbClr val="000000"/>
                </a:solidFill>
                <a:latin typeface="Cascadia Mono" panose="020B0609020000020004" pitchFamily="49" charset="0"/>
              </a:rPr>
              <a:t> b </a:t>
            </a:r>
            <a:r>
              <a:rPr lang="en-US" sz="1200" dirty="0">
                <a:solidFill>
                  <a:srgbClr val="008080"/>
                </a:solidFill>
                <a:latin typeface="Cascadia Mono" panose="020B0609020000020004" pitchFamily="49" charset="0"/>
              </a:rPr>
              <a:t>+</a:t>
            </a:r>
            <a:r>
              <a:rPr lang="en-US" sz="1200" dirty="0">
                <a:solidFill>
                  <a:srgbClr val="000000"/>
                </a:solidFill>
                <a:latin typeface="Cascadia Mono" panose="020B0609020000020004" pitchFamily="49" charset="0"/>
              </a:rPr>
              <a:t> c ∗ a; </a:t>
            </a:r>
            <a:r>
              <a:rPr lang="en-US" sz="1200" dirty="0">
                <a:solidFill>
                  <a:srgbClr val="008000"/>
                </a:solidFill>
                <a:latin typeface="Cascadia Mono" panose="020B0609020000020004" pitchFamily="49" charset="0"/>
              </a:rPr>
              <a:t>// </a:t>
            </a:r>
            <a:r>
              <a:rPr lang="en-US" sz="1200" dirty="0" err="1">
                <a:solidFill>
                  <a:srgbClr val="008000"/>
                </a:solidFill>
                <a:latin typeface="Cascadia Mono" panose="020B0609020000020004" pitchFamily="49" charset="0"/>
              </a:rPr>
              <a:t>b.operator</a:t>
            </a:r>
            <a:r>
              <a:rPr lang="en-US" sz="1200" dirty="0">
                <a:solidFill>
                  <a:srgbClr val="008000"/>
                </a:solidFill>
                <a:latin typeface="Cascadia Mono" panose="020B0609020000020004" pitchFamily="49" charset="0"/>
              </a:rPr>
              <a:t>=(</a:t>
            </a:r>
            <a:r>
              <a:rPr lang="en-US" sz="1200" dirty="0" err="1">
                <a:solidFill>
                  <a:srgbClr val="008000"/>
                </a:solidFill>
                <a:latin typeface="Cascadia Mono" panose="020B0609020000020004" pitchFamily="49" charset="0"/>
              </a:rPr>
              <a:t>b.operator</a:t>
            </a:r>
            <a:r>
              <a:rPr lang="en-US" sz="1200" dirty="0">
                <a:solidFill>
                  <a:srgbClr val="008000"/>
                </a:solidFill>
                <a:latin typeface="Cascadia Mono" panose="020B0609020000020004" pitchFamily="49" charset="0"/>
              </a:rPr>
              <a:t>+(</a:t>
            </a:r>
            <a:r>
              <a:rPr lang="en-US" sz="1200" dirty="0" err="1">
                <a:solidFill>
                  <a:srgbClr val="008000"/>
                </a:solidFill>
                <a:latin typeface="Cascadia Mono" panose="020B0609020000020004" pitchFamily="49" charset="0"/>
              </a:rPr>
              <a:t>c.operator</a:t>
            </a:r>
            <a:r>
              <a:rPr lang="en-US" sz="1200" dirty="0">
                <a:solidFill>
                  <a:srgbClr val="008000"/>
                </a:solidFill>
                <a:latin typeface="Cascadia Mono" panose="020B0609020000020004" pitchFamily="49" charset="0"/>
              </a:rPr>
              <a:t>∗(a)));</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c </a:t>
            </a:r>
            <a:r>
              <a:rPr lang="en-US" sz="1200" dirty="0">
                <a:solidFill>
                  <a:srgbClr val="008080"/>
                </a:solidFill>
                <a:latin typeface="Cascadia Mono" panose="020B0609020000020004" pitchFamily="49" charset="0"/>
              </a:rPr>
              <a:t>=</a:t>
            </a:r>
            <a:r>
              <a:rPr lang="en-US" sz="1200" dirty="0">
                <a:solidFill>
                  <a:srgbClr val="000000"/>
                </a:solidFill>
                <a:latin typeface="Cascadia Mono" panose="020B0609020000020004" pitchFamily="49" charset="0"/>
              </a:rPr>
              <a:t> a ∗ b + complex(1, 2);</a:t>
            </a:r>
          </a:p>
          <a:p>
            <a:r>
              <a:rPr lang="en-US" sz="1200" dirty="0">
                <a:solidFill>
                  <a:srgbClr val="000000"/>
                </a:solidFill>
                <a:latin typeface="Cascadia Mono" panose="020B0609020000020004" pitchFamily="49" charset="0"/>
              </a:rPr>
              <a:t>}</a:t>
            </a:r>
            <a:endParaRPr lang="en-US" sz="1200" dirty="0"/>
          </a:p>
        </p:txBody>
      </p:sp>
    </p:spTree>
    <p:extLst>
      <p:ext uri="{BB962C8B-B14F-4D97-AF65-F5344CB8AC3E}">
        <p14:creationId xmlns:p14="http://schemas.microsoft.com/office/powerpoint/2010/main" val="36826473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Operator overloading</a:t>
            </a:r>
          </a:p>
        </p:txBody>
      </p:sp>
      <p:pic>
        <p:nvPicPr>
          <p:cNvPr id="13" name="Picture 12">
            <a:extLst>
              <a:ext uri="{FF2B5EF4-FFF2-40B4-BE49-F238E27FC236}">
                <a16:creationId xmlns:a16="http://schemas.microsoft.com/office/drawing/2014/main" id="{8AB887A3-DBA0-4FD5-B1D0-F19EE47493B3}"/>
              </a:ext>
            </a:extLst>
          </p:cNvPr>
          <p:cNvPicPr>
            <a:picLocks noChangeAspect="1"/>
          </p:cNvPicPr>
          <p:nvPr/>
        </p:nvPicPr>
        <p:blipFill>
          <a:blip r:embed="rId2"/>
          <a:stretch>
            <a:fillRect/>
          </a:stretch>
        </p:blipFill>
        <p:spPr>
          <a:xfrm>
            <a:off x="731878" y="1946421"/>
            <a:ext cx="6811326" cy="1752845"/>
          </a:xfrm>
          <a:prstGeom prst="rect">
            <a:avLst/>
          </a:prstGeom>
        </p:spPr>
      </p:pic>
      <p:sp>
        <p:nvSpPr>
          <p:cNvPr id="14" name="TextBox 13">
            <a:extLst>
              <a:ext uri="{FF2B5EF4-FFF2-40B4-BE49-F238E27FC236}">
                <a16:creationId xmlns:a16="http://schemas.microsoft.com/office/drawing/2014/main" id="{BCD4D6C8-0228-4373-B38C-71AE267637DE}"/>
              </a:ext>
            </a:extLst>
          </p:cNvPr>
          <p:cNvSpPr txBox="1"/>
          <p:nvPr/>
        </p:nvSpPr>
        <p:spPr>
          <a:xfrm>
            <a:off x="652462" y="1577089"/>
            <a:ext cx="4690228" cy="738664"/>
          </a:xfrm>
          <a:prstGeom prst="rect">
            <a:avLst/>
          </a:prstGeom>
          <a:noFill/>
        </p:spPr>
        <p:txBody>
          <a:bodyPr wrap="square">
            <a:spAutoFit/>
          </a:bodyPr>
          <a:lstStyle/>
          <a:p>
            <a:r>
              <a:rPr lang="ru-RU" sz="1400" dirty="0"/>
              <a:t>Набор переопределяемых операторов в </a:t>
            </a:r>
            <a:r>
              <a:rPr lang="en-US" sz="1400" dirty="0"/>
              <a:t>C++:</a:t>
            </a:r>
          </a:p>
          <a:p>
            <a:endParaRPr lang="ru-RU" sz="1400" dirty="0"/>
          </a:p>
          <a:p>
            <a:r>
              <a:rPr lang="ru-RU" sz="1400" dirty="0"/>
              <a:t> </a:t>
            </a:r>
            <a:endParaRPr lang="en-US" sz="1400" dirty="0"/>
          </a:p>
        </p:txBody>
      </p:sp>
      <p:sp>
        <p:nvSpPr>
          <p:cNvPr id="10" name="TextBox 9">
            <a:extLst>
              <a:ext uri="{FF2B5EF4-FFF2-40B4-BE49-F238E27FC236}">
                <a16:creationId xmlns:a16="http://schemas.microsoft.com/office/drawing/2014/main" id="{EBC6671A-4874-4444-9E36-C9444A56C484}"/>
              </a:ext>
            </a:extLst>
          </p:cNvPr>
          <p:cNvSpPr txBox="1"/>
          <p:nvPr/>
        </p:nvSpPr>
        <p:spPr>
          <a:xfrm>
            <a:off x="652461" y="3886902"/>
            <a:ext cx="6662739" cy="1169551"/>
          </a:xfrm>
          <a:prstGeom prst="rect">
            <a:avLst/>
          </a:prstGeom>
          <a:noFill/>
        </p:spPr>
        <p:txBody>
          <a:bodyPr wrap="square">
            <a:spAutoFit/>
          </a:bodyPr>
          <a:lstStyle/>
          <a:p>
            <a:r>
              <a:rPr lang="ru-RU" sz="1400" dirty="0"/>
              <a:t>Набор специальных именованных непереопределяемых операторов в </a:t>
            </a:r>
            <a:r>
              <a:rPr lang="en-US" sz="1400" dirty="0"/>
              <a:t>C++:</a:t>
            </a:r>
          </a:p>
          <a:p>
            <a:r>
              <a:rPr lang="en-US" sz="1400" dirty="0" err="1"/>
              <a:t>sizeof</a:t>
            </a:r>
            <a:r>
              <a:rPr lang="en-US" sz="1400" dirty="0"/>
              <a:t> obj</a:t>
            </a:r>
          </a:p>
          <a:p>
            <a:r>
              <a:rPr lang="en-US" sz="1400" dirty="0" err="1"/>
              <a:t>alignof</a:t>
            </a:r>
            <a:r>
              <a:rPr lang="en-US" sz="1400" dirty="0"/>
              <a:t> obj</a:t>
            </a:r>
          </a:p>
          <a:p>
            <a:r>
              <a:rPr lang="en-US" sz="1400" dirty="0" err="1"/>
              <a:t>typeid</a:t>
            </a:r>
            <a:r>
              <a:rPr lang="en-US" sz="1400" dirty="0"/>
              <a:t> obj</a:t>
            </a:r>
            <a:endParaRPr lang="ru-RU" sz="1400" dirty="0"/>
          </a:p>
          <a:p>
            <a:r>
              <a:rPr lang="ru-RU" sz="1400" dirty="0"/>
              <a:t> </a:t>
            </a:r>
            <a:endParaRPr lang="en-US" sz="1400" dirty="0"/>
          </a:p>
        </p:txBody>
      </p:sp>
    </p:spTree>
    <p:extLst>
      <p:ext uri="{BB962C8B-B14F-4D97-AF65-F5344CB8AC3E}">
        <p14:creationId xmlns:p14="http://schemas.microsoft.com/office/powerpoint/2010/main" val="4247872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Binary/Unary operator overloading</a:t>
            </a:r>
          </a:p>
        </p:txBody>
      </p:sp>
      <p:sp>
        <p:nvSpPr>
          <p:cNvPr id="4" name="TextBox 3">
            <a:extLst>
              <a:ext uri="{FF2B5EF4-FFF2-40B4-BE49-F238E27FC236}">
                <a16:creationId xmlns:a16="http://schemas.microsoft.com/office/drawing/2014/main" id="{E16722B3-9C66-4550-8275-51042F16BB8D}"/>
              </a:ext>
            </a:extLst>
          </p:cNvPr>
          <p:cNvSpPr txBox="1"/>
          <p:nvPr/>
        </p:nvSpPr>
        <p:spPr>
          <a:xfrm>
            <a:off x="5729940" y="1439329"/>
            <a:ext cx="6222493" cy="1384995"/>
          </a:xfrm>
          <a:prstGeom prst="rect">
            <a:avLst/>
          </a:prstGeom>
          <a:noFill/>
        </p:spPr>
        <p:txBody>
          <a:bodyPr wrap="square">
            <a:spAutoFit/>
          </a:bodyPr>
          <a:lstStyle/>
          <a:p>
            <a:r>
              <a:rPr lang="ru-RU" sz="1400" dirty="0"/>
              <a:t>Бинарный оператор может быть определен</a:t>
            </a:r>
            <a:endParaRPr lang="en-US" sz="1400" dirty="0"/>
          </a:p>
          <a:p>
            <a:r>
              <a:rPr lang="en-US" sz="1400" dirty="0"/>
              <a:t> - </a:t>
            </a:r>
            <a:r>
              <a:rPr lang="ru-RU" sz="1400" dirty="0"/>
              <a:t>не статической функцией класса (</a:t>
            </a:r>
            <a:r>
              <a:rPr lang="en-US" sz="1400" dirty="0"/>
              <a:t>member function</a:t>
            </a:r>
            <a:r>
              <a:rPr lang="ru-RU" sz="1400" dirty="0"/>
              <a:t>) принимающей 1 аргумент </a:t>
            </a:r>
            <a:endParaRPr lang="en-US" sz="1400" dirty="0"/>
          </a:p>
          <a:p>
            <a:r>
              <a:rPr lang="en-US" sz="1400" dirty="0"/>
              <a:t> - </a:t>
            </a:r>
            <a:r>
              <a:rPr lang="ru-RU" sz="1400" dirty="0"/>
              <a:t>функцией вне класса (</a:t>
            </a:r>
            <a:r>
              <a:rPr lang="en-US" sz="1400" dirty="0"/>
              <a:t>nonmember function</a:t>
            </a:r>
            <a:r>
              <a:rPr lang="ru-RU" sz="1400" dirty="0"/>
              <a:t>)</a:t>
            </a:r>
            <a:r>
              <a:rPr lang="en-US" sz="1400" dirty="0"/>
              <a:t> </a:t>
            </a:r>
            <a:r>
              <a:rPr lang="ru-RU" sz="1400" dirty="0"/>
              <a:t>принимающей 2 аргумента.</a:t>
            </a:r>
            <a:endParaRPr lang="en-US" sz="1400" dirty="0"/>
          </a:p>
          <a:p>
            <a:r>
              <a:rPr lang="ru-RU" sz="1400" dirty="0"/>
              <a:t> </a:t>
            </a:r>
            <a:endParaRPr lang="en-US" sz="1400" dirty="0"/>
          </a:p>
        </p:txBody>
      </p:sp>
      <p:sp>
        <p:nvSpPr>
          <p:cNvPr id="5" name="TextBox 4">
            <a:extLst>
              <a:ext uri="{FF2B5EF4-FFF2-40B4-BE49-F238E27FC236}">
                <a16:creationId xmlns:a16="http://schemas.microsoft.com/office/drawing/2014/main" id="{3439C652-12AA-44E7-AC66-7FDCC59FC41C}"/>
              </a:ext>
            </a:extLst>
          </p:cNvPr>
          <p:cNvSpPr txBox="1"/>
          <p:nvPr/>
        </p:nvSpPr>
        <p:spPr>
          <a:xfrm>
            <a:off x="791025" y="3486150"/>
            <a:ext cx="7217117" cy="2308324"/>
          </a:xfrm>
          <a:prstGeom prst="rect">
            <a:avLst/>
          </a:prstGeom>
          <a:noFill/>
        </p:spPr>
        <p:txBody>
          <a:bodyPr wrap="square">
            <a:spAutoFit/>
          </a:bodyPr>
          <a:lstStyle/>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X</a:t>
            </a:r>
            <a:r>
              <a:rPr lang="en-US" sz="1200" dirty="0">
                <a:solidFill>
                  <a:srgbClr val="000000"/>
                </a:solidFill>
                <a:latin typeface="Cascadia Mono" panose="020B0609020000020004" pitchFamily="49" charset="0"/>
              </a:rPr>
              <a:t> {</a:t>
            </a:r>
          </a:p>
          <a:p>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X</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operator&amp;</a:t>
            </a: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prefix unary  &amp;a</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X</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operator&amp;</a:t>
            </a:r>
            <a:r>
              <a:rPr lang="en-US" sz="1200" dirty="0">
                <a:solidFill>
                  <a:srgbClr val="000000"/>
                </a:solidFill>
                <a:latin typeface="Cascadia Mono" panose="020B0609020000020004" pitchFamily="49" charset="0"/>
              </a:rPr>
              <a:t>(</a:t>
            </a:r>
            <a:r>
              <a:rPr lang="en-US" sz="1200" dirty="0">
                <a:solidFill>
                  <a:srgbClr val="2B91AF"/>
                </a:solidFill>
                <a:latin typeface="Cascadia Mono" panose="020B0609020000020004" pitchFamily="49" charset="0"/>
              </a:rPr>
              <a:t>X</a:t>
            </a: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binary        </a:t>
            </a:r>
            <a:r>
              <a:rPr lang="en-US" sz="1200" dirty="0" err="1">
                <a:solidFill>
                  <a:srgbClr val="008000"/>
                </a:solidFill>
                <a:latin typeface="Cascadia Mono" panose="020B0609020000020004" pitchFamily="49" charset="0"/>
              </a:rPr>
              <a:t>a&amp;b</a:t>
            </a:r>
            <a:endParaRPr lang="en-US" sz="1200" dirty="0">
              <a:solidFill>
                <a:srgbClr val="000000"/>
              </a:solidFill>
              <a:latin typeface="Cascadia Mono" panose="020B0609020000020004" pitchFamily="49" charset="0"/>
            </a:endParaRPr>
          </a:p>
          <a:p>
            <a:r>
              <a:rPr lang="ru-RU" sz="1200" dirty="0">
                <a:solidFill>
                  <a:srgbClr val="000000"/>
                </a:solidFill>
                <a:latin typeface="Cascadia Mono" panose="020B0609020000020004" pitchFamily="49" charset="0"/>
              </a:rPr>
              <a:t>    </a:t>
            </a:r>
            <a:r>
              <a:rPr lang="ru-RU" sz="1200" dirty="0">
                <a:solidFill>
                  <a:srgbClr val="2B91AF"/>
                </a:solidFill>
                <a:latin typeface="Cascadia Mono" panose="020B0609020000020004" pitchFamily="49" charset="0"/>
              </a:rPr>
              <a:t>X</a:t>
            </a:r>
            <a:r>
              <a:rPr lang="ru-RU" sz="1200" dirty="0">
                <a:solidFill>
                  <a:srgbClr val="000000"/>
                </a:solidFill>
                <a:latin typeface="Cascadia Mono" panose="020B0609020000020004" pitchFamily="49" charset="0"/>
              </a:rPr>
              <a:t> </a:t>
            </a:r>
            <a:r>
              <a:rPr lang="ru-RU" sz="1200" dirty="0">
                <a:solidFill>
                  <a:srgbClr val="008080"/>
                </a:solidFill>
                <a:latin typeface="Cascadia Mono" panose="020B0609020000020004" pitchFamily="49" charset="0"/>
              </a:rPr>
              <a:t>operator++</a:t>
            </a:r>
            <a:r>
              <a:rPr lang="ru-RU" sz="1200" dirty="0">
                <a:solidFill>
                  <a:srgbClr val="000000"/>
                </a:solidFill>
                <a:latin typeface="Cascadia Mono" panose="020B0609020000020004" pitchFamily="49" charset="0"/>
              </a:rPr>
              <a:t>(</a:t>
            </a:r>
            <a:r>
              <a:rPr lang="ru-RU" sz="1200" dirty="0">
                <a:solidFill>
                  <a:srgbClr val="0000FF"/>
                </a:solidFill>
                <a:latin typeface="Cascadia Mono" panose="020B0609020000020004" pitchFamily="49" charset="0"/>
              </a:rPr>
              <a:t>int</a:t>
            </a:r>
            <a:r>
              <a:rPr lang="ru-RU" sz="1200" dirty="0">
                <a:solidFill>
                  <a:srgbClr val="000000"/>
                </a:solidFill>
                <a:latin typeface="Cascadia Mono" panose="020B0609020000020004" pitchFamily="49" charset="0"/>
              </a:rPr>
              <a:t>); </a:t>
            </a:r>
            <a:r>
              <a:rPr lang="ru-RU" sz="1200" dirty="0">
                <a:solidFill>
                  <a:srgbClr val="008000"/>
                </a:solidFill>
                <a:latin typeface="Cascadia Mono" panose="020B0609020000020004" pitchFamily="49" charset="0"/>
              </a:rPr>
              <a:t>// postfix unary a++ int - никогда не используется!</a:t>
            </a:r>
            <a:endParaRPr lang="ru-RU"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X</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prefix unary  ++a</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2B91AF"/>
                </a:solidFill>
                <a:latin typeface="Cascadia Mono" panose="020B0609020000020004" pitchFamily="49" charset="0"/>
              </a:rPr>
              <a:t>X</a:t>
            </a:r>
            <a:r>
              <a:rPr lang="en-US" sz="1200" dirty="0">
                <a:solidFill>
                  <a:srgbClr val="000000"/>
                </a:solidFill>
                <a:latin typeface="Cascadia Mono" panose="020B0609020000020004" pitchFamily="49" charset="0"/>
              </a:rPr>
              <a:t> operator−(</a:t>
            </a:r>
            <a:r>
              <a:rPr lang="en-US" sz="1200" dirty="0">
                <a:solidFill>
                  <a:srgbClr val="2B91AF"/>
                </a:solidFill>
                <a:latin typeface="Cascadia Mono" panose="020B0609020000020004" pitchFamily="49" charset="0"/>
              </a:rPr>
              <a:t>X</a:t>
            </a: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prefix unary  &amp;a</a:t>
            </a:r>
            <a:endParaRPr lang="en-US" sz="1200" dirty="0">
              <a:solidFill>
                <a:srgbClr val="000000"/>
              </a:solidFill>
              <a:latin typeface="Cascadia Mono" panose="020B0609020000020004" pitchFamily="49" charset="0"/>
            </a:endParaRPr>
          </a:p>
          <a:p>
            <a:r>
              <a:rPr lang="en-US" sz="1200" dirty="0">
                <a:solidFill>
                  <a:srgbClr val="2B91AF"/>
                </a:solidFill>
                <a:latin typeface="Cascadia Mono" panose="020B0609020000020004" pitchFamily="49" charset="0"/>
              </a:rPr>
              <a:t>X</a:t>
            </a:r>
            <a:r>
              <a:rPr lang="en-US" sz="1200" dirty="0">
                <a:solidFill>
                  <a:srgbClr val="000000"/>
                </a:solidFill>
                <a:latin typeface="Cascadia Mono" panose="020B0609020000020004" pitchFamily="49" charset="0"/>
              </a:rPr>
              <a:t> operator−(</a:t>
            </a:r>
            <a:r>
              <a:rPr lang="en-US" sz="1200" dirty="0">
                <a:solidFill>
                  <a:srgbClr val="2B91AF"/>
                </a:solidFill>
                <a:latin typeface="Cascadia Mono" panose="020B0609020000020004" pitchFamily="49" charset="0"/>
              </a:rPr>
              <a:t>X</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X</a:t>
            </a: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binary        </a:t>
            </a:r>
            <a:r>
              <a:rPr lang="en-US" sz="1200" dirty="0" err="1">
                <a:solidFill>
                  <a:srgbClr val="008000"/>
                </a:solidFill>
                <a:latin typeface="Cascadia Mono" panose="020B0609020000020004" pitchFamily="49" charset="0"/>
              </a:rPr>
              <a:t>a&amp;b</a:t>
            </a:r>
            <a:endParaRPr lang="en-US" sz="1200" dirty="0">
              <a:solidFill>
                <a:srgbClr val="000000"/>
              </a:solidFill>
              <a:latin typeface="Cascadia Mono" panose="020B0609020000020004" pitchFamily="49" charset="0"/>
            </a:endParaRPr>
          </a:p>
          <a:p>
            <a:r>
              <a:rPr lang="en-US" sz="1200" dirty="0">
                <a:solidFill>
                  <a:srgbClr val="2B91AF"/>
                </a:solidFill>
                <a:latin typeface="Cascadia Mono" panose="020B0609020000020004" pitchFamily="49" charset="0"/>
              </a:rPr>
              <a:t>X</a:t>
            </a:r>
            <a:r>
              <a:rPr lang="en-US" sz="1200" dirty="0">
                <a:solidFill>
                  <a:srgbClr val="000000"/>
                </a:solidFill>
                <a:latin typeface="Cascadia Mono" panose="020B0609020000020004" pitchFamily="49" charset="0"/>
              </a:rPr>
              <a:t> operator−−(</a:t>
            </a:r>
            <a:r>
              <a:rPr lang="en-US" sz="1200" dirty="0">
                <a:solidFill>
                  <a:srgbClr val="2B91AF"/>
                </a:solidFill>
                <a:latin typeface="Cascadia Mono" panose="020B0609020000020004" pitchFamily="49" charset="0"/>
              </a:rPr>
              <a:t>X</a:t>
            </a:r>
            <a:r>
              <a:rPr lang="en-US" sz="1200" dirty="0">
                <a:solidFill>
                  <a:srgbClr val="000000"/>
                </a:solidFill>
                <a:latin typeface="Cascadia Mono" panose="020B0609020000020004" pitchFamily="49" charset="0"/>
              </a:rPr>
              <a:t>&amp;,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postfix unary a++ int - </a:t>
            </a:r>
            <a:r>
              <a:rPr lang="ru-RU" sz="1200" dirty="0">
                <a:solidFill>
                  <a:srgbClr val="008000"/>
                </a:solidFill>
                <a:latin typeface="Cascadia Mono" panose="020B0609020000020004" pitchFamily="49" charset="0"/>
              </a:rPr>
              <a:t>никогда не используется!</a:t>
            </a:r>
            <a:endParaRPr lang="ru-RU" sz="1200" dirty="0">
              <a:solidFill>
                <a:srgbClr val="000000"/>
              </a:solidFill>
              <a:latin typeface="Cascadia Mono" panose="020B0609020000020004" pitchFamily="49" charset="0"/>
            </a:endParaRPr>
          </a:p>
          <a:p>
            <a:r>
              <a:rPr lang="en-US" sz="1200" dirty="0">
                <a:solidFill>
                  <a:srgbClr val="2B91AF"/>
                </a:solidFill>
                <a:latin typeface="Cascadia Mono" panose="020B0609020000020004" pitchFamily="49" charset="0"/>
              </a:rPr>
              <a:t>X</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2B91AF"/>
                </a:solidFill>
                <a:latin typeface="Cascadia Mono" panose="020B0609020000020004" pitchFamily="49" charset="0"/>
              </a:rPr>
              <a:t>X</a:t>
            </a:r>
            <a:r>
              <a:rPr lang="en-US" sz="1200" dirty="0">
                <a:solidFill>
                  <a:srgbClr val="000000"/>
                </a:solidFill>
                <a:latin typeface="Cascadia Mono" panose="020B0609020000020004" pitchFamily="49" charset="0"/>
              </a:rPr>
              <a:t>&amp;);      </a:t>
            </a:r>
            <a:r>
              <a:rPr lang="en-US" sz="1200" dirty="0">
                <a:solidFill>
                  <a:srgbClr val="008000"/>
                </a:solidFill>
                <a:latin typeface="Cascadia Mono" panose="020B0609020000020004" pitchFamily="49" charset="0"/>
              </a:rPr>
              <a:t>// prefix unary  ++a</a:t>
            </a:r>
            <a:endParaRPr lang="en-US" sz="1200" dirty="0"/>
          </a:p>
        </p:txBody>
      </p:sp>
      <p:sp>
        <p:nvSpPr>
          <p:cNvPr id="6" name="TextBox 5">
            <a:extLst>
              <a:ext uri="{FF2B5EF4-FFF2-40B4-BE49-F238E27FC236}">
                <a16:creationId xmlns:a16="http://schemas.microsoft.com/office/drawing/2014/main" id="{D5A65BBF-37E5-4A5F-A343-66CAF2D3D623}"/>
              </a:ext>
            </a:extLst>
          </p:cNvPr>
          <p:cNvSpPr txBox="1"/>
          <p:nvPr/>
        </p:nvSpPr>
        <p:spPr>
          <a:xfrm>
            <a:off x="3731620" y="2859426"/>
            <a:ext cx="5723930" cy="738664"/>
          </a:xfrm>
          <a:prstGeom prst="rect">
            <a:avLst/>
          </a:prstGeom>
          <a:noFill/>
        </p:spPr>
        <p:txBody>
          <a:bodyPr wrap="square">
            <a:spAutoFit/>
          </a:bodyPr>
          <a:lstStyle/>
          <a:p>
            <a:r>
              <a:rPr lang="ru-RU" sz="1400" dirty="0"/>
              <a:t>Если обе функции объявлены вступает в силу разрещение перегрузки (</a:t>
            </a:r>
            <a:r>
              <a:rPr lang="en-US" sz="1400" dirty="0"/>
              <a:t>overload resolution</a:t>
            </a:r>
            <a:r>
              <a:rPr lang="ru-RU" sz="1400" dirty="0"/>
              <a:t>)</a:t>
            </a:r>
          </a:p>
          <a:p>
            <a:r>
              <a:rPr lang="ru-RU" sz="1400" dirty="0"/>
              <a:t> </a:t>
            </a:r>
            <a:endParaRPr lang="en-US" sz="1400" dirty="0"/>
          </a:p>
        </p:txBody>
      </p:sp>
      <p:sp>
        <p:nvSpPr>
          <p:cNvPr id="10" name="TextBox 9">
            <a:extLst>
              <a:ext uri="{FF2B5EF4-FFF2-40B4-BE49-F238E27FC236}">
                <a16:creationId xmlns:a16="http://schemas.microsoft.com/office/drawing/2014/main" id="{2A7A4F5C-85F5-4F8C-A2EB-5611253CFDD8}"/>
              </a:ext>
            </a:extLst>
          </p:cNvPr>
          <p:cNvSpPr txBox="1"/>
          <p:nvPr/>
        </p:nvSpPr>
        <p:spPr>
          <a:xfrm>
            <a:off x="669131" y="1492570"/>
            <a:ext cx="5003006" cy="1169551"/>
          </a:xfrm>
          <a:prstGeom prst="rect">
            <a:avLst/>
          </a:prstGeom>
          <a:noFill/>
        </p:spPr>
        <p:txBody>
          <a:bodyPr wrap="square">
            <a:spAutoFit/>
          </a:bodyPr>
          <a:lstStyle/>
          <a:p>
            <a:r>
              <a:rPr lang="ru-RU" sz="1400" dirty="0"/>
              <a:t>Унарный оператор может быть определен</a:t>
            </a:r>
            <a:r>
              <a:rPr lang="en-US" sz="1400" dirty="0"/>
              <a:t>:</a:t>
            </a:r>
          </a:p>
          <a:p>
            <a:r>
              <a:rPr lang="en-US" sz="1400" dirty="0"/>
              <a:t> - </a:t>
            </a:r>
            <a:r>
              <a:rPr lang="ru-RU" sz="1400" dirty="0"/>
              <a:t>не статической функцией класса (</a:t>
            </a:r>
            <a:r>
              <a:rPr lang="en-US" sz="1400" dirty="0"/>
              <a:t>member function</a:t>
            </a:r>
            <a:r>
              <a:rPr lang="ru-RU" sz="1400" dirty="0"/>
              <a:t>)</a:t>
            </a:r>
            <a:r>
              <a:rPr lang="en-US" sz="1400" dirty="0"/>
              <a:t> </a:t>
            </a:r>
            <a:r>
              <a:rPr lang="ru-RU" sz="1400" dirty="0"/>
              <a:t>не принимающей аргументов </a:t>
            </a:r>
            <a:r>
              <a:rPr lang="en-US" sz="1400" dirty="0"/>
              <a:t>(++/-- </a:t>
            </a:r>
            <a:r>
              <a:rPr lang="ru-RU" sz="1400" dirty="0"/>
              <a:t>иссключения</a:t>
            </a:r>
            <a:r>
              <a:rPr lang="en-US" sz="1400" dirty="0"/>
              <a:t>)</a:t>
            </a:r>
            <a:r>
              <a:rPr lang="ru-RU" sz="1400" dirty="0"/>
              <a:t> </a:t>
            </a:r>
            <a:endParaRPr lang="en-US" sz="1400" dirty="0"/>
          </a:p>
          <a:p>
            <a:r>
              <a:rPr lang="en-US" sz="1400" dirty="0"/>
              <a:t> - </a:t>
            </a:r>
            <a:r>
              <a:rPr lang="ru-RU" sz="1400" dirty="0"/>
              <a:t>функцией вне класса (</a:t>
            </a:r>
            <a:r>
              <a:rPr lang="en-US" sz="1400" dirty="0"/>
              <a:t>nonmember function</a:t>
            </a:r>
            <a:r>
              <a:rPr lang="ru-RU" sz="1400" dirty="0"/>
              <a:t>)</a:t>
            </a:r>
            <a:r>
              <a:rPr lang="en-US" sz="1400" dirty="0"/>
              <a:t> </a:t>
            </a:r>
            <a:r>
              <a:rPr lang="ru-RU" sz="1400" dirty="0"/>
              <a:t>принимающей 1 аргумент </a:t>
            </a:r>
            <a:r>
              <a:rPr lang="en-US" sz="1400" dirty="0"/>
              <a:t>(++/-- </a:t>
            </a:r>
            <a:r>
              <a:rPr lang="ru-RU" sz="1400" dirty="0"/>
              <a:t>иссключения</a:t>
            </a:r>
            <a:r>
              <a:rPr lang="en-US" sz="1400" dirty="0"/>
              <a:t>)</a:t>
            </a:r>
            <a:r>
              <a:rPr lang="ru-RU" sz="1400" dirty="0"/>
              <a:t>.</a:t>
            </a:r>
            <a:endParaRPr lang="en-US" sz="1400" dirty="0"/>
          </a:p>
        </p:txBody>
      </p:sp>
    </p:spTree>
    <p:extLst>
      <p:ext uri="{BB962C8B-B14F-4D97-AF65-F5344CB8AC3E}">
        <p14:creationId xmlns:p14="http://schemas.microsoft.com/office/powerpoint/2010/main" val="19601185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Operator overloading</a:t>
            </a:r>
          </a:p>
        </p:txBody>
      </p:sp>
      <p:sp>
        <p:nvSpPr>
          <p:cNvPr id="7" name="TextBox 6">
            <a:extLst>
              <a:ext uri="{FF2B5EF4-FFF2-40B4-BE49-F238E27FC236}">
                <a16:creationId xmlns:a16="http://schemas.microsoft.com/office/drawing/2014/main" id="{7B525B4D-6408-4C14-B366-823987C95FE4}"/>
              </a:ext>
            </a:extLst>
          </p:cNvPr>
          <p:cNvSpPr txBox="1"/>
          <p:nvPr/>
        </p:nvSpPr>
        <p:spPr>
          <a:xfrm>
            <a:off x="697408" y="1601375"/>
            <a:ext cx="6097190" cy="2492990"/>
          </a:xfrm>
          <a:prstGeom prst="rect">
            <a:avLst/>
          </a:prstGeom>
          <a:noFill/>
        </p:spPr>
        <p:txBody>
          <a:bodyPr wrap="square">
            <a:spAutoFit/>
          </a:bodyPr>
          <a:lstStyle/>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re, </a:t>
            </a:r>
            <a:r>
              <a:rPr lang="en-US" sz="1200" dirty="0" err="1">
                <a:solidFill>
                  <a:srgbClr val="000000"/>
                </a:solidFill>
                <a:latin typeface="Cascadia Mono" panose="020B0609020000020004" pitchFamily="49" charset="0"/>
              </a:rPr>
              <a:t>im</a:t>
            </a:r>
            <a:r>
              <a:rPr lang="en-US" sz="1200" dirty="0">
                <a:solidFill>
                  <a:srgbClr val="000000"/>
                </a:solidFill>
                <a:latin typeface="Cascadia Mono" panose="020B0609020000020004" pitchFamily="49" charset="0"/>
              </a:rPr>
              <a:t>;</a:t>
            </a:r>
          </a:p>
          <a:p>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complex(</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r</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i</a:t>
            </a:r>
            <a:r>
              <a:rPr lang="en-US" sz="1200" dirty="0">
                <a:solidFill>
                  <a:srgbClr val="000000"/>
                </a:solidFill>
                <a:latin typeface="Cascadia Mono" panose="020B0609020000020004" pitchFamily="49" charset="0"/>
              </a:rPr>
              <a:t>) :re{ </a:t>
            </a:r>
            <a:r>
              <a:rPr lang="en-US" sz="1200" dirty="0">
                <a:solidFill>
                  <a:srgbClr val="808080"/>
                </a:solidFill>
                <a:latin typeface="Cascadia Mono" panose="020B0609020000020004" pitchFamily="49" charset="0"/>
              </a:rPr>
              <a:t>r</a:t>
            </a:r>
            <a:r>
              <a:rPr lang="en-US" sz="1200" dirty="0">
                <a:solidFill>
                  <a:srgbClr val="000000"/>
                </a:solidFill>
                <a:latin typeface="Cascadia Mono" panose="020B0609020000020004" pitchFamily="49" charset="0"/>
              </a:rPr>
              <a:t> }, </a:t>
            </a:r>
            <a:r>
              <a:rPr lang="en-US" sz="1200" dirty="0" err="1">
                <a:solidFill>
                  <a:srgbClr val="000000"/>
                </a:solidFill>
                <a:latin typeface="Cascadia Mono" panose="020B0609020000020004" pitchFamily="49" charset="0"/>
              </a:rPr>
              <a:t>im</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i</a:t>
            </a:r>
            <a:r>
              <a:rPr lang="en-US" sz="1200" dirty="0">
                <a:solidFill>
                  <a:srgbClr val="000000"/>
                </a:solidFill>
                <a:latin typeface="Cascadia Mono" panose="020B0609020000020004" pitchFamily="49" charset="0"/>
              </a:rPr>
              <a:t> } { }</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operator∗(</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f()</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 =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1, 3.1 };</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b = 1.0 + a;</a:t>
            </a:r>
          </a:p>
          <a:p>
            <a:r>
              <a:rPr lang="en-US" sz="1200" dirty="0">
                <a:solidFill>
                  <a:srgbClr val="000000"/>
                </a:solidFill>
                <a:latin typeface="Cascadia Mono" panose="020B0609020000020004" pitchFamily="49" charset="0"/>
              </a:rPr>
              <a:t>}</a:t>
            </a:r>
            <a:endParaRPr lang="en-US" sz="1200" dirty="0"/>
          </a:p>
        </p:txBody>
      </p:sp>
      <p:pic>
        <p:nvPicPr>
          <p:cNvPr id="4" name="Picture 3">
            <a:extLst>
              <a:ext uri="{FF2B5EF4-FFF2-40B4-BE49-F238E27FC236}">
                <a16:creationId xmlns:a16="http://schemas.microsoft.com/office/drawing/2014/main" id="{48E12B91-30DD-43C5-8D4B-7EA6550110B2}"/>
              </a:ext>
            </a:extLst>
          </p:cNvPr>
          <p:cNvPicPr>
            <a:picLocks noChangeAspect="1"/>
          </p:cNvPicPr>
          <p:nvPr/>
        </p:nvPicPr>
        <p:blipFill>
          <a:blip r:embed="rId2"/>
          <a:stretch>
            <a:fillRect/>
          </a:stretch>
        </p:blipFill>
        <p:spPr>
          <a:xfrm>
            <a:off x="776010" y="4736161"/>
            <a:ext cx="3953427" cy="428685"/>
          </a:xfrm>
          <a:prstGeom prst="rect">
            <a:avLst/>
          </a:prstGeom>
        </p:spPr>
      </p:pic>
      <p:sp>
        <p:nvSpPr>
          <p:cNvPr id="11" name="TextBox 10">
            <a:extLst>
              <a:ext uri="{FF2B5EF4-FFF2-40B4-BE49-F238E27FC236}">
                <a16:creationId xmlns:a16="http://schemas.microsoft.com/office/drawing/2014/main" id="{6CAD5C82-2DB6-4A00-A366-1F6025007A38}"/>
              </a:ext>
            </a:extLst>
          </p:cNvPr>
          <p:cNvSpPr txBox="1"/>
          <p:nvPr/>
        </p:nvSpPr>
        <p:spPr>
          <a:xfrm>
            <a:off x="697408" y="4352572"/>
            <a:ext cx="5723930" cy="738664"/>
          </a:xfrm>
          <a:prstGeom prst="rect">
            <a:avLst/>
          </a:prstGeom>
          <a:noFill/>
        </p:spPr>
        <p:txBody>
          <a:bodyPr wrap="square">
            <a:spAutoFit/>
          </a:bodyPr>
          <a:lstStyle/>
          <a:p>
            <a:r>
              <a:rPr lang="ru-RU" sz="1400" dirty="0"/>
              <a:t>Ошибка компиляции </a:t>
            </a:r>
            <a:r>
              <a:rPr lang="en-US" sz="1400" dirty="0"/>
              <a:t>C++:</a:t>
            </a:r>
          </a:p>
          <a:p>
            <a:endParaRPr lang="ru-RU" sz="1400" dirty="0"/>
          </a:p>
          <a:p>
            <a:r>
              <a:rPr lang="ru-RU" sz="1400" dirty="0"/>
              <a:t> </a:t>
            </a:r>
            <a:endParaRPr lang="en-US" sz="1400" dirty="0"/>
          </a:p>
        </p:txBody>
      </p:sp>
    </p:spTree>
    <p:extLst>
      <p:ext uri="{BB962C8B-B14F-4D97-AF65-F5344CB8AC3E}">
        <p14:creationId xmlns:p14="http://schemas.microsoft.com/office/powerpoint/2010/main" val="24174439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Operator overloading</a:t>
            </a:r>
          </a:p>
        </p:txBody>
      </p:sp>
      <p:sp>
        <p:nvSpPr>
          <p:cNvPr id="4" name="TextBox 3">
            <a:extLst>
              <a:ext uri="{FF2B5EF4-FFF2-40B4-BE49-F238E27FC236}">
                <a16:creationId xmlns:a16="http://schemas.microsoft.com/office/drawing/2014/main" id="{E16722B3-9C66-4550-8275-51042F16BB8D}"/>
              </a:ext>
            </a:extLst>
          </p:cNvPr>
          <p:cNvSpPr txBox="1"/>
          <p:nvPr/>
        </p:nvSpPr>
        <p:spPr>
          <a:xfrm>
            <a:off x="521207" y="1330766"/>
            <a:ext cx="6222493" cy="3416320"/>
          </a:xfrm>
          <a:prstGeom prst="rect">
            <a:avLst/>
          </a:prstGeom>
          <a:noFill/>
        </p:spPr>
        <p:txBody>
          <a:bodyPr wrap="square">
            <a:spAutoFit/>
          </a:bodyPr>
          <a:lstStyle/>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re, </a:t>
            </a:r>
            <a:r>
              <a:rPr lang="en-US" sz="1200" dirty="0" err="1">
                <a:solidFill>
                  <a:srgbClr val="FF0000"/>
                </a:solidFill>
                <a:latin typeface="Cascadia Mono" panose="020B0609020000020004" pitchFamily="49" charset="0"/>
              </a:rPr>
              <a:t>im</a:t>
            </a:r>
            <a:r>
              <a:rPr lang="en-US" sz="1200" dirty="0">
                <a:solidFill>
                  <a:srgbClr val="000000"/>
                </a:solidFill>
                <a:latin typeface="Cascadia Mono" panose="020B0609020000020004" pitchFamily="49" charset="0"/>
              </a:rPr>
              <a:t>;</a:t>
            </a:r>
          </a:p>
          <a:p>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complex(</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r</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i</a:t>
            </a:r>
            <a:r>
              <a:rPr lang="en-US" sz="1200" dirty="0">
                <a:solidFill>
                  <a:srgbClr val="000000"/>
                </a:solidFill>
                <a:latin typeface="Cascadia Mono" panose="020B0609020000020004" pitchFamily="49" charset="0"/>
              </a:rPr>
              <a:t>) :re{ </a:t>
            </a:r>
            <a:r>
              <a:rPr lang="en-US" sz="1200" dirty="0">
                <a:solidFill>
                  <a:srgbClr val="808080"/>
                </a:solidFill>
                <a:latin typeface="Cascadia Mono" panose="020B0609020000020004" pitchFamily="49" charset="0"/>
              </a:rPr>
              <a:t>r</a:t>
            </a:r>
            <a:r>
              <a:rPr lang="en-US" sz="1200" dirty="0">
                <a:solidFill>
                  <a:srgbClr val="000000"/>
                </a:solidFill>
                <a:latin typeface="Cascadia Mono" panose="020B0609020000020004" pitchFamily="49" charset="0"/>
              </a:rPr>
              <a:t> }, </a:t>
            </a:r>
            <a:r>
              <a:rPr lang="en-US" sz="1200" dirty="0" err="1">
                <a:solidFill>
                  <a:srgbClr val="000000"/>
                </a:solidFill>
                <a:latin typeface="Cascadia Mono" panose="020B0609020000020004" pitchFamily="49" charset="0"/>
              </a:rPr>
              <a:t>im</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i</a:t>
            </a:r>
            <a:r>
              <a:rPr lang="en-US" sz="1200" dirty="0">
                <a:solidFill>
                  <a:srgbClr val="000000"/>
                </a:solidFill>
                <a:latin typeface="Cascadia Mono" panose="020B0609020000020004" pitchFamily="49" charset="0"/>
              </a:rPr>
              <a:t> } { }</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operator∗(</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real</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a:t>
            </a:r>
            <a:r>
              <a:rPr lang="en-US" sz="1200" dirty="0">
                <a:solidFill>
                  <a:srgbClr val="808080"/>
                </a:solidFill>
                <a:latin typeface="Cascadia Mono" panose="020B0609020000020004" pitchFamily="49" charset="0"/>
              </a:rPr>
              <a:t>real</a:t>
            </a:r>
            <a:r>
              <a:rPr lang="en-US" sz="1200" dirty="0">
                <a:solidFill>
                  <a:srgbClr val="000000"/>
                </a:solidFill>
                <a:latin typeface="Cascadia Mono" panose="020B0609020000020004" pitchFamily="49" charset="0"/>
              </a:rPr>
              <a:t> + </a:t>
            </a:r>
            <a:r>
              <a:rPr lang="en-US" sz="1200" dirty="0">
                <a:solidFill>
                  <a:srgbClr val="808080"/>
                </a:solidFill>
                <a:latin typeface="Cascadia Mono" panose="020B0609020000020004" pitchFamily="49" charset="0"/>
              </a:rPr>
              <a:t>c</a:t>
            </a:r>
            <a:r>
              <a:rPr lang="en-US" sz="1200" dirty="0">
                <a:solidFill>
                  <a:srgbClr val="FF0000"/>
                </a:solidFill>
                <a:latin typeface="Cascadia Mono" panose="020B0609020000020004" pitchFamily="49" charset="0"/>
              </a:rPr>
              <a:t>.re</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c</a:t>
            </a:r>
            <a:r>
              <a:rPr lang="en-US" sz="1200" dirty="0">
                <a:solidFill>
                  <a:srgbClr val="FF0000"/>
                </a:solidFill>
                <a:latin typeface="Cascadia Mono" panose="020B0609020000020004" pitchFamily="49" charset="0"/>
              </a:rPr>
              <a:t>.im</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f()</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 =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1, 3.1 };</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b = </a:t>
            </a:r>
            <a:r>
              <a:rPr lang="en-US" sz="1200" dirty="0">
                <a:solidFill>
                  <a:srgbClr val="FF0000"/>
                </a:solidFill>
                <a:latin typeface="Cascadia Mono" panose="020B0609020000020004" pitchFamily="49" charset="0"/>
              </a:rPr>
              <a:t>1.0 + a</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endParaRPr lang="en-US" sz="1200" dirty="0"/>
          </a:p>
        </p:txBody>
      </p:sp>
      <p:sp>
        <p:nvSpPr>
          <p:cNvPr id="6" name="TextBox 5">
            <a:extLst>
              <a:ext uri="{FF2B5EF4-FFF2-40B4-BE49-F238E27FC236}">
                <a16:creationId xmlns:a16="http://schemas.microsoft.com/office/drawing/2014/main" id="{EE9C05DE-4802-48AF-B7C5-89BFB45CC1AF}"/>
              </a:ext>
            </a:extLst>
          </p:cNvPr>
          <p:cNvSpPr txBox="1"/>
          <p:nvPr/>
        </p:nvSpPr>
        <p:spPr>
          <a:xfrm>
            <a:off x="521207" y="4747086"/>
            <a:ext cx="5723930" cy="738664"/>
          </a:xfrm>
          <a:prstGeom prst="rect">
            <a:avLst/>
          </a:prstGeom>
          <a:noFill/>
        </p:spPr>
        <p:txBody>
          <a:bodyPr wrap="square">
            <a:spAutoFit/>
          </a:bodyPr>
          <a:lstStyle/>
          <a:p>
            <a:r>
              <a:rPr lang="ru-RU" sz="1400" dirty="0"/>
              <a:t>Ошибка компиляции </a:t>
            </a:r>
            <a:r>
              <a:rPr lang="en-US" sz="1400" dirty="0"/>
              <a:t>C++:</a:t>
            </a:r>
          </a:p>
          <a:p>
            <a:endParaRPr lang="ru-RU" sz="1400" dirty="0"/>
          </a:p>
          <a:p>
            <a:r>
              <a:rPr lang="ru-RU" sz="1400" dirty="0"/>
              <a:t> </a:t>
            </a:r>
            <a:endParaRPr lang="en-US" sz="1400" dirty="0"/>
          </a:p>
        </p:txBody>
      </p:sp>
      <p:pic>
        <p:nvPicPr>
          <p:cNvPr id="9" name="Picture 8">
            <a:extLst>
              <a:ext uri="{FF2B5EF4-FFF2-40B4-BE49-F238E27FC236}">
                <a16:creationId xmlns:a16="http://schemas.microsoft.com/office/drawing/2014/main" id="{C75D0C31-EE4F-4A51-9FC1-6266E4F56D70}"/>
              </a:ext>
            </a:extLst>
          </p:cNvPr>
          <p:cNvPicPr>
            <a:picLocks noChangeAspect="1"/>
          </p:cNvPicPr>
          <p:nvPr/>
        </p:nvPicPr>
        <p:blipFill>
          <a:blip r:embed="rId2"/>
          <a:stretch>
            <a:fillRect/>
          </a:stretch>
        </p:blipFill>
        <p:spPr>
          <a:xfrm>
            <a:off x="597323" y="5152137"/>
            <a:ext cx="5296639" cy="838317"/>
          </a:xfrm>
          <a:prstGeom prst="rect">
            <a:avLst/>
          </a:prstGeom>
        </p:spPr>
      </p:pic>
    </p:spTree>
    <p:extLst>
      <p:ext uri="{BB962C8B-B14F-4D97-AF65-F5344CB8AC3E}">
        <p14:creationId xmlns:p14="http://schemas.microsoft.com/office/powerpoint/2010/main" val="8530004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Making new friends</a:t>
            </a:r>
          </a:p>
        </p:txBody>
      </p:sp>
      <p:sp>
        <p:nvSpPr>
          <p:cNvPr id="6" name="TextBox 5">
            <a:extLst>
              <a:ext uri="{FF2B5EF4-FFF2-40B4-BE49-F238E27FC236}">
                <a16:creationId xmlns:a16="http://schemas.microsoft.com/office/drawing/2014/main" id="{C989B735-1C4A-4390-9D5B-892AA4E4067D}"/>
              </a:ext>
            </a:extLst>
          </p:cNvPr>
          <p:cNvSpPr txBox="1"/>
          <p:nvPr/>
        </p:nvSpPr>
        <p:spPr>
          <a:xfrm>
            <a:off x="521207" y="1461789"/>
            <a:ext cx="6097190" cy="3600986"/>
          </a:xfrm>
          <a:prstGeom prst="rect">
            <a:avLst/>
          </a:prstGeom>
          <a:noFill/>
        </p:spPr>
        <p:txBody>
          <a:bodyPr wrap="square">
            <a:spAutoFit/>
          </a:bodyPr>
          <a:lstStyle/>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re, </a:t>
            </a:r>
            <a:r>
              <a:rPr lang="en-US" sz="1200" dirty="0" err="1">
                <a:solidFill>
                  <a:srgbClr val="000000"/>
                </a:solidFill>
                <a:latin typeface="Cascadia Mono" panose="020B0609020000020004" pitchFamily="49" charset="0"/>
              </a:rPr>
              <a:t>im</a:t>
            </a:r>
            <a:r>
              <a:rPr lang="en-US" sz="1200" dirty="0">
                <a:solidFill>
                  <a:srgbClr val="000000"/>
                </a:solidFill>
                <a:latin typeface="Cascadia Mono" panose="020B0609020000020004" pitchFamily="49" charset="0"/>
              </a:rPr>
              <a:t>;</a:t>
            </a:r>
          </a:p>
          <a:p>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complex(</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r</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i</a:t>
            </a:r>
            <a:r>
              <a:rPr lang="en-US" sz="1200" dirty="0">
                <a:solidFill>
                  <a:srgbClr val="000000"/>
                </a:solidFill>
                <a:latin typeface="Cascadia Mono" panose="020B0609020000020004" pitchFamily="49" charset="0"/>
              </a:rPr>
              <a:t>) :re{ </a:t>
            </a:r>
            <a:r>
              <a:rPr lang="en-US" sz="1200" dirty="0">
                <a:solidFill>
                  <a:srgbClr val="808080"/>
                </a:solidFill>
                <a:latin typeface="Cascadia Mono" panose="020B0609020000020004" pitchFamily="49" charset="0"/>
              </a:rPr>
              <a:t>r</a:t>
            </a:r>
            <a:r>
              <a:rPr lang="en-US" sz="1200" dirty="0">
                <a:solidFill>
                  <a:srgbClr val="000000"/>
                </a:solidFill>
                <a:latin typeface="Cascadia Mono" panose="020B0609020000020004" pitchFamily="49" charset="0"/>
              </a:rPr>
              <a:t> }, </a:t>
            </a:r>
            <a:r>
              <a:rPr lang="en-US" sz="1200" dirty="0" err="1">
                <a:solidFill>
                  <a:srgbClr val="000000"/>
                </a:solidFill>
                <a:latin typeface="Cascadia Mono" panose="020B0609020000020004" pitchFamily="49" charset="0"/>
              </a:rPr>
              <a:t>im</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i</a:t>
            </a:r>
            <a:r>
              <a:rPr lang="en-US" sz="1200" dirty="0">
                <a:solidFill>
                  <a:srgbClr val="000000"/>
                </a:solidFill>
                <a:latin typeface="Cascadia Mono" panose="020B0609020000020004" pitchFamily="49" charset="0"/>
              </a:rPr>
              <a:t> } { }</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{0.0, 0.0};};</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operator∗(</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0.0, 0.0 }; };</a:t>
            </a:r>
          </a:p>
          <a:p>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friend</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real</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real</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a:t>
            </a:r>
            <a:r>
              <a:rPr lang="en-US" sz="1200" dirty="0">
                <a:solidFill>
                  <a:srgbClr val="808080"/>
                </a:solidFill>
                <a:latin typeface="Cascadia Mono" panose="020B0609020000020004" pitchFamily="49" charset="0"/>
              </a:rPr>
              <a:t>real</a:t>
            </a:r>
            <a:r>
              <a:rPr lang="en-US" sz="1200" dirty="0">
                <a:solidFill>
                  <a:srgbClr val="000000"/>
                </a:solidFill>
                <a:latin typeface="Cascadia Mono" panose="020B0609020000020004" pitchFamily="49" charset="0"/>
              </a:rPr>
              <a:t> + </a:t>
            </a:r>
            <a:r>
              <a:rPr lang="en-US" sz="1200" dirty="0">
                <a:solidFill>
                  <a:srgbClr val="808080"/>
                </a:solidFill>
                <a:latin typeface="Cascadia Mono" panose="020B0609020000020004" pitchFamily="49" charset="0"/>
              </a:rPr>
              <a:t>c</a:t>
            </a:r>
            <a:r>
              <a:rPr lang="en-US" sz="1200" dirty="0">
                <a:solidFill>
                  <a:srgbClr val="000000"/>
                </a:solidFill>
                <a:latin typeface="Cascadia Mono" panose="020B0609020000020004" pitchFamily="49" charset="0"/>
              </a:rPr>
              <a:t>.re, </a:t>
            </a:r>
            <a:r>
              <a:rPr lang="en-US" sz="1200" dirty="0">
                <a:solidFill>
                  <a:srgbClr val="808080"/>
                </a:solidFill>
                <a:latin typeface="Cascadia Mono" panose="020B0609020000020004" pitchFamily="49" charset="0"/>
              </a:rPr>
              <a:t>c</a:t>
            </a:r>
            <a:r>
              <a:rPr lang="en-US" sz="1200" dirty="0">
                <a:solidFill>
                  <a:srgbClr val="000000"/>
                </a:solidFill>
                <a:latin typeface="Cascadia Mono" panose="020B0609020000020004" pitchFamily="49" charset="0"/>
              </a:rPr>
              <a:t>.im);</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f()</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 =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1, 3.1 };</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b = 1.0 </a:t>
            </a:r>
            <a:r>
              <a:rPr lang="en-US" sz="1200" dirty="0">
                <a:solidFill>
                  <a:srgbClr val="008080"/>
                </a:solidFill>
                <a:latin typeface="Cascadia Mono" panose="020B0609020000020004" pitchFamily="49" charset="0"/>
              </a:rPr>
              <a:t>+</a:t>
            </a:r>
            <a:r>
              <a:rPr lang="en-US" sz="1200" dirty="0">
                <a:solidFill>
                  <a:srgbClr val="000000"/>
                </a:solidFill>
                <a:latin typeface="Cascadia Mono" panose="020B0609020000020004" pitchFamily="49" charset="0"/>
              </a:rPr>
              <a:t> a;</a:t>
            </a:r>
          </a:p>
          <a:p>
            <a:r>
              <a:rPr lang="en-US" sz="1200" dirty="0">
                <a:solidFill>
                  <a:srgbClr val="000000"/>
                </a:solidFill>
                <a:latin typeface="Cascadia Mono" panose="020B0609020000020004" pitchFamily="49" charset="0"/>
              </a:rPr>
              <a:t>}</a:t>
            </a:r>
            <a:endParaRPr lang="en-US" sz="1200" dirty="0"/>
          </a:p>
        </p:txBody>
      </p:sp>
    </p:spTree>
    <p:extLst>
      <p:ext uri="{BB962C8B-B14F-4D97-AF65-F5344CB8AC3E}">
        <p14:creationId xmlns:p14="http://schemas.microsoft.com/office/powerpoint/2010/main" val="11610488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Making new friends</a:t>
            </a:r>
          </a:p>
        </p:txBody>
      </p:sp>
      <p:sp>
        <p:nvSpPr>
          <p:cNvPr id="7" name="TextBox 6">
            <a:extLst>
              <a:ext uri="{FF2B5EF4-FFF2-40B4-BE49-F238E27FC236}">
                <a16:creationId xmlns:a16="http://schemas.microsoft.com/office/drawing/2014/main" id="{685FAF68-4617-449D-80A6-E603CF41A064}"/>
              </a:ext>
            </a:extLst>
          </p:cNvPr>
          <p:cNvSpPr txBox="1"/>
          <p:nvPr/>
        </p:nvSpPr>
        <p:spPr>
          <a:xfrm>
            <a:off x="585501" y="1371126"/>
            <a:ext cx="7408357" cy="2031325"/>
          </a:xfrm>
          <a:prstGeom prst="rect">
            <a:avLst/>
          </a:prstGeom>
          <a:noFill/>
        </p:spPr>
        <p:txBody>
          <a:bodyPr wrap="square">
            <a:spAutoFit/>
          </a:bodyPr>
          <a:lstStyle/>
          <a:p>
            <a:r>
              <a:rPr lang="ru-RU" sz="1400" dirty="0"/>
              <a:t>Декларация функции класса (</a:t>
            </a:r>
            <a:r>
              <a:rPr lang="en-US" sz="1400" dirty="0"/>
              <a:t>member function</a:t>
            </a:r>
            <a:r>
              <a:rPr lang="ru-RU" sz="1400" dirty="0"/>
              <a:t>) означает три вещи</a:t>
            </a:r>
            <a:r>
              <a:rPr lang="en-US" sz="1400" dirty="0"/>
              <a:t>: </a:t>
            </a:r>
          </a:p>
          <a:p>
            <a:r>
              <a:rPr lang="ru-RU" sz="1400" dirty="0"/>
              <a:t> - Функция имеет доступ к </a:t>
            </a:r>
            <a:r>
              <a:rPr lang="en-US" sz="1400" dirty="0"/>
              <a:t>private </a:t>
            </a:r>
            <a:r>
              <a:rPr lang="ru-RU" sz="1400" dirty="0"/>
              <a:t>части декларации класса</a:t>
            </a:r>
          </a:p>
          <a:p>
            <a:r>
              <a:rPr lang="ru-RU" sz="1400" dirty="0"/>
              <a:t> - Функция находиться в области видимости (</a:t>
            </a:r>
            <a:r>
              <a:rPr lang="en-US" sz="1400" dirty="0"/>
              <a:t>scope</a:t>
            </a:r>
            <a:r>
              <a:rPr lang="ru-RU" sz="1400" dirty="0"/>
              <a:t>)</a:t>
            </a:r>
            <a:r>
              <a:rPr lang="en-US" sz="1400" dirty="0"/>
              <a:t> </a:t>
            </a:r>
            <a:r>
              <a:rPr lang="ru-RU" sz="1400" dirty="0"/>
              <a:t>класса</a:t>
            </a:r>
            <a:r>
              <a:rPr lang="en-US" sz="1400" dirty="0"/>
              <a:t>. </a:t>
            </a:r>
            <a:endParaRPr lang="ru-RU" sz="1400" dirty="0"/>
          </a:p>
          <a:p>
            <a:r>
              <a:rPr lang="ru-RU" sz="1400" dirty="0"/>
              <a:t> - Функция должна вызываться над классом </a:t>
            </a:r>
            <a:r>
              <a:rPr lang="en-US" sz="1400" dirty="0"/>
              <a:t>(</a:t>
            </a:r>
            <a:r>
              <a:rPr lang="ru-RU" sz="1400" dirty="0"/>
              <a:t>иметь доступ к</a:t>
            </a:r>
            <a:r>
              <a:rPr lang="en-US" sz="1400" dirty="0"/>
              <a:t> this </a:t>
            </a:r>
            <a:r>
              <a:rPr lang="ru-RU" sz="1400" dirty="0"/>
              <a:t>указателю</a:t>
            </a:r>
            <a:r>
              <a:rPr lang="en-US" sz="1400" dirty="0"/>
              <a:t>).</a:t>
            </a:r>
            <a:endParaRPr lang="ru-RU" sz="1400" dirty="0"/>
          </a:p>
          <a:p>
            <a:endParaRPr lang="ru-RU" sz="1400" dirty="0"/>
          </a:p>
          <a:p>
            <a:r>
              <a:rPr lang="ru-RU" sz="1400" dirty="0"/>
              <a:t>Объявляя функцию </a:t>
            </a:r>
            <a:r>
              <a:rPr lang="en-US" sz="1400" dirty="0"/>
              <a:t>static </a:t>
            </a:r>
            <a:r>
              <a:rPr lang="ru-RU" sz="1400" dirty="0"/>
              <a:t>функция получает только первых два свойства.</a:t>
            </a:r>
          </a:p>
          <a:p>
            <a:endParaRPr lang="ru-RU" sz="1400" dirty="0"/>
          </a:p>
          <a:p>
            <a:r>
              <a:rPr lang="ru-RU" sz="1400" dirty="0"/>
              <a:t>Объявляя функцию </a:t>
            </a:r>
            <a:r>
              <a:rPr lang="en-US" sz="1400" dirty="0"/>
              <a:t>friend, </a:t>
            </a:r>
            <a:r>
              <a:rPr lang="ru-RU" sz="1400" dirty="0"/>
              <a:t>она получает только первой свойство.</a:t>
            </a:r>
          </a:p>
          <a:p>
            <a:endParaRPr lang="en-US" sz="1400" dirty="0"/>
          </a:p>
        </p:txBody>
      </p:sp>
      <p:sp>
        <p:nvSpPr>
          <p:cNvPr id="9" name="TextBox 8">
            <a:extLst>
              <a:ext uri="{FF2B5EF4-FFF2-40B4-BE49-F238E27FC236}">
                <a16:creationId xmlns:a16="http://schemas.microsoft.com/office/drawing/2014/main" id="{5A738613-26B4-461D-9E95-13D121F4C977}"/>
              </a:ext>
            </a:extLst>
          </p:cNvPr>
          <p:cNvSpPr txBox="1"/>
          <p:nvPr/>
        </p:nvSpPr>
        <p:spPr>
          <a:xfrm>
            <a:off x="684014" y="3254554"/>
            <a:ext cx="6097190" cy="2677656"/>
          </a:xfrm>
          <a:prstGeom prst="rect">
            <a:avLst/>
          </a:prstGeom>
          <a:noFill/>
        </p:spPr>
        <p:txBody>
          <a:bodyPr wrap="square">
            <a:spAutoFit/>
          </a:bodyPr>
          <a:lstStyle/>
          <a:p>
            <a:r>
              <a:rPr lang="en-US" sz="1200" dirty="0" err="1">
                <a:solidFill>
                  <a:srgbClr val="0000FF"/>
                </a:solidFill>
                <a:latin typeface="Cascadia Mono" panose="020B0609020000020004" pitchFamily="49" charset="0"/>
              </a:rPr>
              <a:t>constexpr</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rc_max</a:t>
            </a:r>
            <a:r>
              <a:rPr lang="en-US" sz="1200" dirty="0">
                <a:solidFill>
                  <a:srgbClr val="000000"/>
                </a:solidFill>
                <a:latin typeface="Cascadia Mono" panose="020B0609020000020004" pitchFamily="49" charset="0"/>
              </a:rPr>
              <a:t>{ 4 };</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Matrix</a:t>
            </a:r>
            <a:r>
              <a:rPr lang="en-US" sz="1200" dirty="0">
                <a:solidFill>
                  <a:srgbClr val="000000"/>
                </a:solidFill>
                <a:latin typeface="Cascadia Mono" panose="020B0609020000020004" pitchFamily="49" charset="0"/>
              </a:rPr>
              <a:t>;</a:t>
            </a:r>
          </a:p>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v[</a:t>
            </a:r>
            <a:r>
              <a:rPr lang="en-US" sz="1200" dirty="0" err="1">
                <a:solidFill>
                  <a:srgbClr val="000000"/>
                </a:solidFill>
                <a:latin typeface="Cascadia Mono" panose="020B0609020000020004" pitchFamily="49" charset="0"/>
              </a:rPr>
              <a:t>rc_max</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friend</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 operator∗(</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Matrix</a:t>
            </a:r>
            <a:r>
              <a:rPr lang="en-US" sz="1200" dirty="0">
                <a:solidFill>
                  <a:srgbClr val="000000"/>
                </a:solidFill>
                <a:latin typeface="Cascadia Mono" panose="020B0609020000020004" pitchFamily="49" charset="0"/>
              </a:rPr>
              <a:t>&amp;, </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&amp;);</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Matrix</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 v[</a:t>
            </a:r>
            <a:r>
              <a:rPr lang="en-US" sz="1200" dirty="0" err="1">
                <a:solidFill>
                  <a:srgbClr val="000000"/>
                </a:solidFill>
                <a:latin typeface="Cascadia Mono" panose="020B0609020000020004" pitchFamily="49" charset="0"/>
              </a:rPr>
              <a:t>rc_max</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friend</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 operator∗(</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Matrix</a:t>
            </a:r>
            <a:r>
              <a:rPr lang="en-US" sz="1200" dirty="0">
                <a:solidFill>
                  <a:srgbClr val="000000"/>
                </a:solidFill>
                <a:latin typeface="Cascadia Mono" panose="020B0609020000020004" pitchFamily="49" charset="0"/>
              </a:rPr>
              <a:t>&amp;, </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&amp;);</a:t>
            </a:r>
          </a:p>
          <a:p>
            <a:r>
              <a:rPr lang="en-US" sz="1200" dirty="0">
                <a:solidFill>
                  <a:srgbClr val="000000"/>
                </a:solidFill>
                <a:latin typeface="Cascadia Mono" panose="020B0609020000020004" pitchFamily="49" charset="0"/>
              </a:rPr>
              <a:t>};</a:t>
            </a:r>
            <a:endParaRPr lang="en-US" sz="1200" dirty="0"/>
          </a:p>
        </p:txBody>
      </p:sp>
      <p:sp>
        <p:nvSpPr>
          <p:cNvPr id="10" name="TextBox 9">
            <a:extLst>
              <a:ext uri="{FF2B5EF4-FFF2-40B4-BE49-F238E27FC236}">
                <a16:creationId xmlns:a16="http://schemas.microsoft.com/office/drawing/2014/main" id="{A19E46D8-5B70-47B2-83CD-1973357ADC5A}"/>
              </a:ext>
            </a:extLst>
          </p:cNvPr>
          <p:cNvSpPr txBox="1"/>
          <p:nvPr/>
        </p:nvSpPr>
        <p:spPr>
          <a:xfrm>
            <a:off x="6404967" y="3236170"/>
            <a:ext cx="6097190" cy="2862322"/>
          </a:xfrm>
          <a:prstGeom prst="rect">
            <a:avLst/>
          </a:prstGeom>
          <a:noFill/>
        </p:spPr>
        <p:txBody>
          <a:bodyPr wrap="square">
            <a:spAutoFit/>
          </a:bodyPr>
          <a:lstStyle/>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A</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public_var</a:t>
            </a:r>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private</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private_var</a:t>
            </a:r>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public_member_function</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p>
          <a:p>
            <a:r>
              <a:rPr lang="nb-NO" sz="1200" dirty="0">
                <a:solidFill>
                  <a:srgbClr val="000000"/>
                </a:solidFill>
                <a:latin typeface="Cascadia Mono" panose="020B0609020000020004" pitchFamily="49" charset="0"/>
              </a:rPr>
              <a:t>        </a:t>
            </a:r>
            <a:r>
              <a:rPr lang="nb-NO" sz="1200" dirty="0">
                <a:solidFill>
                  <a:srgbClr val="008000"/>
                </a:solidFill>
                <a:latin typeface="Cascadia Mono" panose="020B0609020000020004" pitchFamily="49" charset="0"/>
              </a:rPr>
              <a:t>// Равносильно return public_var + private_var</a:t>
            </a:r>
            <a:endParaRPr lang="nb-NO"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this</a:t>
            </a:r>
            <a:r>
              <a:rPr lang="en-US" sz="1200" dirty="0">
                <a:solidFill>
                  <a:srgbClr val="000000"/>
                </a:solidFill>
                <a:latin typeface="Cascadia Mono" panose="020B0609020000020004" pitchFamily="49" charset="0"/>
              </a:rPr>
              <a:t>-&gt;</a:t>
            </a:r>
            <a:r>
              <a:rPr lang="en-US" sz="1200" dirty="0" err="1">
                <a:solidFill>
                  <a:srgbClr val="000000"/>
                </a:solidFill>
                <a:latin typeface="Cascadia Mono" panose="020B0609020000020004" pitchFamily="49" charset="0"/>
              </a:rPr>
              <a:t>public_var</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this</a:t>
            </a:r>
            <a:r>
              <a:rPr lang="en-US" sz="1200" dirty="0">
                <a:solidFill>
                  <a:srgbClr val="000000"/>
                </a:solidFill>
                <a:latin typeface="Cascadia Mono" panose="020B0609020000020004" pitchFamily="49" charset="0"/>
              </a:rPr>
              <a:t>-&gt;</a:t>
            </a:r>
            <a:r>
              <a:rPr lang="en-US" sz="1200" dirty="0" err="1">
                <a:solidFill>
                  <a:srgbClr val="000000"/>
                </a:solidFill>
                <a:latin typeface="Cascadia Mono" panose="020B0609020000020004" pitchFamily="49" charset="0"/>
              </a:rPr>
              <a:t>private_var</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a:t>
            </a:r>
            <a:endParaRPr lang="en-US" sz="1200" dirty="0"/>
          </a:p>
        </p:txBody>
      </p:sp>
    </p:spTree>
    <p:extLst>
      <p:ext uri="{BB962C8B-B14F-4D97-AF65-F5344CB8AC3E}">
        <p14:creationId xmlns:p14="http://schemas.microsoft.com/office/powerpoint/2010/main" val="39134486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Making new friends</a:t>
            </a:r>
          </a:p>
        </p:txBody>
      </p:sp>
      <p:sp>
        <p:nvSpPr>
          <p:cNvPr id="7" name="TextBox 6">
            <a:extLst>
              <a:ext uri="{FF2B5EF4-FFF2-40B4-BE49-F238E27FC236}">
                <a16:creationId xmlns:a16="http://schemas.microsoft.com/office/drawing/2014/main" id="{685FAF68-4617-449D-80A6-E603CF41A064}"/>
              </a:ext>
            </a:extLst>
          </p:cNvPr>
          <p:cNvSpPr txBox="1"/>
          <p:nvPr/>
        </p:nvSpPr>
        <p:spPr>
          <a:xfrm>
            <a:off x="684014" y="1228251"/>
            <a:ext cx="7408357" cy="954107"/>
          </a:xfrm>
          <a:prstGeom prst="rect">
            <a:avLst/>
          </a:prstGeom>
          <a:noFill/>
        </p:spPr>
        <p:txBody>
          <a:bodyPr wrap="square">
            <a:spAutoFit/>
          </a:bodyPr>
          <a:lstStyle/>
          <a:p>
            <a:endParaRPr lang="ru-RU" sz="1400" dirty="0"/>
          </a:p>
          <a:p>
            <a:r>
              <a:rPr lang="en-US" sz="1400" dirty="0"/>
              <a:t>friend class &lt;class&gt;</a:t>
            </a:r>
            <a:r>
              <a:rPr lang="ru-RU" sz="1400" dirty="0"/>
              <a:t> </a:t>
            </a:r>
            <a:r>
              <a:rPr lang="en-US" sz="1400" dirty="0"/>
              <a:t>- </a:t>
            </a:r>
            <a:r>
              <a:rPr lang="ru-RU" sz="1400" dirty="0"/>
              <a:t>означает что все функции класса (</a:t>
            </a:r>
            <a:r>
              <a:rPr lang="en-US" sz="1400" dirty="0"/>
              <a:t>member function</a:t>
            </a:r>
            <a:r>
              <a:rPr lang="ru-RU" sz="1400" dirty="0"/>
              <a:t>)</a:t>
            </a:r>
            <a:r>
              <a:rPr lang="en-US" sz="1400" dirty="0"/>
              <a:t> &lt;class&gt; </a:t>
            </a:r>
            <a:r>
              <a:rPr lang="ru-RU" sz="1400" dirty="0"/>
              <a:t>получат доступ к </a:t>
            </a:r>
            <a:r>
              <a:rPr lang="en-US" sz="1400" dirty="0"/>
              <a:t>private </a:t>
            </a:r>
            <a:r>
              <a:rPr lang="ru-RU" sz="1400" dirty="0"/>
              <a:t>переменным, те получат 1ое свойство  </a:t>
            </a:r>
          </a:p>
          <a:p>
            <a:endParaRPr lang="en-US" sz="1400" dirty="0"/>
          </a:p>
        </p:txBody>
      </p:sp>
      <p:sp>
        <p:nvSpPr>
          <p:cNvPr id="9" name="TextBox 8">
            <a:extLst>
              <a:ext uri="{FF2B5EF4-FFF2-40B4-BE49-F238E27FC236}">
                <a16:creationId xmlns:a16="http://schemas.microsoft.com/office/drawing/2014/main" id="{5A738613-26B4-461D-9E95-13D121F4C977}"/>
              </a:ext>
            </a:extLst>
          </p:cNvPr>
          <p:cNvSpPr txBox="1"/>
          <p:nvPr/>
        </p:nvSpPr>
        <p:spPr>
          <a:xfrm>
            <a:off x="684014" y="2157297"/>
            <a:ext cx="6097190" cy="2677656"/>
          </a:xfrm>
          <a:prstGeom prst="rect">
            <a:avLst/>
          </a:prstGeom>
          <a:noFill/>
        </p:spPr>
        <p:txBody>
          <a:bodyPr wrap="square">
            <a:spAutoFit/>
          </a:bodyPr>
          <a:lstStyle/>
          <a:p>
            <a:r>
              <a:rPr lang="fr-FR" sz="1200" dirty="0" err="1">
                <a:solidFill>
                  <a:srgbClr val="0000FF"/>
                </a:solidFill>
                <a:latin typeface="Cascadia Mono" panose="020B0609020000020004" pitchFamily="49" charset="0"/>
              </a:rPr>
              <a:t>constexpr</a:t>
            </a:r>
            <a:r>
              <a:rPr lang="fr-FR" sz="1200" dirty="0">
                <a:solidFill>
                  <a:srgbClr val="000000"/>
                </a:solidFill>
                <a:latin typeface="Cascadia Mono" panose="020B0609020000020004" pitchFamily="49" charset="0"/>
              </a:rPr>
              <a:t> </a:t>
            </a:r>
            <a:r>
              <a:rPr lang="fr-FR" sz="1200" dirty="0" err="1">
                <a:solidFill>
                  <a:srgbClr val="0000FF"/>
                </a:solidFill>
                <a:latin typeface="Cascadia Mono" panose="020B0609020000020004" pitchFamily="49" charset="0"/>
              </a:rPr>
              <a:t>int</a:t>
            </a:r>
            <a:r>
              <a:rPr lang="fr-FR" sz="1200" dirty="0">
                <a:solidFill>
                  <a:srgbClr val="000000"/>
                </a:solidFill>
                <a:latin typeface="Cascadia Mono" panose="020B0609020000020004" pitchFamily="49" charset="0"/>
              </a:rPr>
              <a:t> </a:t>
            </a:r>
            <a:r>
              <a:rPr lang="fr-FR" sz="1200" dirty="0" err="1">
                <a:solidFill>
                  <a:srgbClr val="000000"/>
                </a:solidFill>
                <a:latin typeface="Cascadia Mono" panose="020B0609020000020004" pitchFamily="49" charset="0"/>
              </a:rPr>
              <a:t>rc_max</a:t>
            </a:r>
            <a:r>
              <a:rPr lang="fr-FR" sz="1200" dirty="0">
                <a:solidFill>
                  <a:srgbClr val="000000"/>
                </a:solidFill>
                <a:latin typeface="Cascadia Mono" panose="020B0609020000020004" pitchFamily="49" charset="0"/>
              </a:rPr>
              <a:t>{ 4 };</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Matrix</a:t>
            </a:r>
            <a:r>
              <a:rPr lang="en-US" sz="1200" dirty="0">
                <a:solidFill>
                  <a:srgbClr val="000000"/>
                </a:solidFill>
                <a:latin typeface="Cascadia Mono" panose="020B0609020000020004" pitchFamily="49" charset="0"/>
              </a:rPr>
              <a:t>;</a:t>
            </a:r>
          </a:p>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v[</a:t>
            </a:r>
            <a:r>
              <a:rPr lang="en-US" sz="1200" dirty="0" err="1">
                <a:solidFill>
                  <a:srgbClr val="000000"/>
                </a:solidFill>
                <a:latin typeface="Cascadia Mono" panose="020B0609020000020004" pitchFamily="49" charset="0"/>
              </a:rPr>
              <a:t>rc_max</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friend 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Matrix</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Matrix</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 v[</a:t>
            </a:r>
            <a:r>
              <a:rPr lang="en-US" sz="1200" dirty="0" err="1">
                <a:solidFill>
                  <a:srgbClr val="000000"/>
                </a:solidFill>
                <a:latin typeface="Cascadia Mono" panose="020B0609020000020004" pitchFamily="49" charset="0"/>
              </a:rPr>
              <a:t>rc_max</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friend 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p:txBody>
      </p:sp>
      <p:pic>
        <p:nvPicPr>
          <p:cNvPr id="3" name="Picture 2">
            <a:extLst>
              <a:ext uri="{FF2B5EF4-FFF2-40B4-BE49-F238E27FC236}">
                <a16:creationId xmlns:a16="http://schemas.microsoft.com/office/drawing/2014/main" id="{6F206045-CC6E-431B-8175-38C538C0D571}"/>
              </a:ext>
            </a:extLst>
          </p:cNvPr>
          <p:cNvPicPr>
            <a:picLocks noChangeAspect="1"/>
          </p:cNvPicPr>
          <p:nvPr/>
        </p:nvPicPr>
        <p:blipFill>
          <a:blip r:embed="rId2"/>
          <a:stretch>
            <a:fillRect/>
          </a:stretch>
        </p:blipFill>
        <p:spPr>
          <a:xfrm>
            <a:off x="7787111" y="1477735"/>
            <a:ext cx="2978192" cy="1689476"/>
          </a:xfrm>
          <a:prstGeom prst="rect">
            <a:avLst/>
          </a:prstGeom>
        </p:spPr>
      </p:pic>
      <p:sp>
        <p:nvSpPr>
          <p:cNvPr id="11" name="TextBox 10">
            <a:extLst>
              <a:ext uri="{FF2B5EF4-FFF2-40B4-BE49-F238E27FC236}">
                <a16:creationId xmlns:a16="http://schemas.microsoft.com/office/drawing/2014/main" id="{0FE74442-51CC-4DA2-809E-3C9A5C45A6A7}"/>
              </a:ext>
            </a:extLst>
          </p:cNvPr>
          <p:cNvSpPr txBox="1"/>
          <p:nvPr/>
        </p:nvSpPr>
        <p:spPr>
          <a:xfrm>
            <a:off x="5572029" y="3262806"/>
            <a:ext cx="7408357" cy="307777"/>
          </a:xfrm>
          <a:prstGeom prst="rect">
            <a:avLst/>
          </a:prstGeom>
          <a:noFill/>
        </p:spPr>
        <p:txBody>
          <a:bodyPr wrap="square">
            <a:spAutoFit/>
          </a:bodyPr>
          <a:lstStyle/>
          <a:p>
            <a:r>
              <a:rPr lang="en-US" sz="1400" dirty="0"/>
              <a:t>friend – </a:t>
            </a:r>
            <a:r>
              <a:rPr lang="ru-RU" sz="1400" dirty="0"/>
              <a:t>очень опасная вещь, затрудняет понимание и поддержку кода</a:t>
            </a:r>
            <a:endParaRPr lang="en-US" sz="1400" dirty="0"/>
          </a:p>
        </p:txBody>
      </p:sp>
      <p:pic>
        <p:nvPicPr>
          <p:cNvPr id="12" name="Picture 11">
            <a:extLst>
              <a:ext uri="{FF2B5EF4-FFF2-40B4-BE49-F238E27FC236}">
                <a16:creationId xmlns:a16="http://schemas.microsoft.com/office/drawing/2014/main" id="{93DCE4B0-0DEB-4448-B758-0EE749153559}"/>
              </a:ext>
            </a:extLst>
          </p:cNvPr>
          <p:cNvPicPr>
            <a:picLocks noChangeAspect="1"/>
          </p:cNvPicPr>
          <p:nvPr/>
        </p:nvPicPr>
        <p:blipFill>
          <a:blip r:embed="rId3"/>
          <a:stretch>
            <a:fillRect/>
          </a:stretch>
        </p:blipFill>
        <p:spPr>
          <a:xfrm>
            <a:off x="6470408" y="3596286"/>
            <a:ext cx="4744112" cy="2229161"/>
          </a:xfrm>
          <a:prstGeom prst="rect">
            <a:avLst/>
          </a:prstGeom>
        </p:spPr>
      </p:pic>
      <p:sp>
        <p:nvSpPr>
          <p:cNvPr id="13" name="TextBox 12">
            <a:extLst>
              <a:ext uri="{FF2B5EF4-FFF2-40B4-BE49-F238E27FC236}">
                <a16:creationId xmlns:a16="http://schemas.microsoft.com/office/drawing/2014/main" id="{572AA852-8B48-45D4-B21B-316478947FDF}"/>
              </a:ext>
            </a:extLst>
          </p:cNvPr>
          <p:cNvSpPr txBox="1"/>
          <p:nvPr/>
        </p:nvSpPr>
        <p:spPr>
          <a:xfrm>
            <a:off x="6470408" y="5851150"/>
            <a:ext cx="7408357" cy="307777"/>
          </a:xfrm>
          <a:prstGeom prst="rect">
            <a:avLst/>
          </a:prstGeom>
          <a:noFill/>
        </p:spPr>
        <p:txBody>
          <a:bodyPr wrap="square">
            <a:spAutoFit/>
          </a:bodyPr>
          <a:lstStyle/>
          <a:p>
            <a:r>
              <a:rPr lang="en-US" sz="1400" dirty="0"/>
              <a:t>9 </a:t>
            </a:r>
            <a:r>
              <a:rPr lang="ru-RU" sz="1400" dirty="0"/>
              <a:t>классов имеют доступ к </a:t>
            </a:r>
            <a:r>
              <a:rPr lang="en-US" sz="1400" dirty="0"/>
              <a:t>private </a:t>
            </a:r>
            <a:r>
              <a:rPr lang="ru-RU" sz="1400" dirty="0"/>
              <a:t>полям класса</a:t>
            </a:r>
            <a:endParaRPr lang="en-US" sz="1400" dirty="0"/>
          </a:p>
        </p:txBody>
      </p:sp>
    </p:spTree>
    <p:extLst>
      <p:ext uri="{BB962C8B-B14F-4D97-AF65-F5344CB8AC3E}">
        <p14:creationId xmlns:p14="http://schemas.microsoft.com/office/powerpoint/2010/main" val="12997414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Avoiding friends</a:t>
            </a:r>
          </a:p>
        </p:txBody>
      </p:sp>
      <p:sp>
        <p:nvSpPr>
          <p:cNvPr id="10" name="TextBox 9">
            <a:extLst>
              <a:ext uri="{FF2B5EF4-FFF2-40B4-BE49-F238E27FC236}">
                <a16:creationId xmlns:a16="http://schemas.microsoft.com/office/drawing/2014/main" id="{595BBE75-C339-46A7-95EA-BF31C1317538}"/>
              </a:ext>
            </a:extLst>
          </p:cNvPr>
          <p:cNvSpPr txBox="1"/>
          <p:nvPr/>
        </p:nvSpPr>
        <p:spPr>
          <a:xfrm>
            <a:off x="621220" y="1334364"/>
            <a:ext cx="6097190" cy="3600986"/>
          </a:xfrm>
          <a:prstGeom prst="rect">
            <a:avLst/>
          </a:prstGeom>
          <a:noFill/>
        </p:spPr>
        <p:txBody>
          <a:bodyPr wrap="square">
            <a:spAutoFit/>
          </a:bodyPr>
          <a:lstStyle/>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re, </a:t>
            </a:r>
            <a:r>
              <a:rPr lang="en-US" sz="1200" dirty="0" err="1">
                <a:solidFill>
                  <a:srgbClr val="000000"/>
                </a:solidFill>
                <a:latin typeface="Cascadia Mono" panose="020B0609020000020004" pitchFamily="49" charset="0"/>
              </a:rPr>
              <a:t>im</a:t>
            </a:r>
            <a:r>
              <a:rPr lang="en-US" sz="1200" dirty="0">
                <a:solidFill>
                  <a:srgbClr val="000000"/>
                </a:solidFill>
                <a:latin typeface="Cascadia Mono" panose="020B0609020000020004" pitchFamily="49" charset="0"/>
              </a:rPr>
              <a:t>;</a:t>
            </a:r>
          </a:p>
          <a:p>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complex(</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r</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i</a:t>
            </a:r>
            <a:r>
              <a:rPr lang="en-US" sz="1200" dirty="0">
                <a:solidFill>
                  <a:srgbClr val="000000"/>
                </a:solidFill>
                <a:latin typeface="Cascadia Mono" panose="020B0609020000020004" pitchFamily="49" charset="0"/>
              </a:rPr>
              <a:t>) :re{ </a:t>
            </a:r>
            <a:r>
              <a:rPr lang="en-US" sz="1200" dirty="0">
                <a:solidFill>
                  <a:srgbClr val="808080"/>
                </a:solidFill>
                <a:latin typeface="Cascadia Mono" panose="020B0609020000020004" pitchFamily="49" charset="0"/>
              </a:rPr>
              <a:t>r</a:t>
            </a:r>
            <a:r>
              <a:rPr lang="en-US" sz="1200" dirty="0">
                <a:solidFill>
                  <a:srgbClr val="000000"/>
                </a:solidFill>
                <a:latin typeface="Cascadia Mono" panose="020B0609020000020004" pitchFamily="49" charset="0"/>
              </a:rPr>
              <a:t> }, </a:t>
            </a:r>
            <a:r>
              <a:rPr lang="en-US" sz="1200" dirty="0" err="1">
                <a:solidFill>
                  <a:srgbClr val="000000"/>
                </a:solidFill>
                <a:latin typeface="Cascadia Mono" panose="020B0609020000020004" pitchFamily="49" charset="0"/>
              </a:rPr>
              <a:t>im</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i</a:t>
            </a:r>
            <a:r>
              <a:rPr lang="en-US" sz="1200" dirty="0">
                <a:solidFill>
                  <a:srgbClr val="000000"/>
                </a:solidFill>
                <a:latin typeface="Cascadia Mono" panose="020B0609020000020004" pitchFamily="49" charset="0"/>
              </a:rPr>
              <a:t> } { }</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real</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c</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real</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f()</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 =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1, 3.1 };</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b = 1.0 </a:t>
            </a:r>
            <a:r>
              <a:rPr lang="en-US" sz="1200" dirty="0">
                <a:solidFill>
                  <a:srgbClr val="008080"/>
                </a:solidFill>
                <a:latin typeface="Cascadia Mono" panose="020B0609020000020004" pitchFamily="49" charset="0"/>
              </a:rPr>
              <a:t>+</a:t>
            </a:r>
            <a:r>
              <a:rPr lang="en-US" sz="1200" dirty="0">
                <a:solidFill>
                  <a:srgbClr val="000000"/>
                </a:solidFill>
                <a:latin typeface="Cascadia Mono" panose="020B0609020000020004" pitchFamily="49" charset="0"/>
              </a:rPr>
              <a:t> a;</a:t>
            </a:r>
          </a:p>
          <a:p>
            <a:r>
              <a:rPr lang="en-US" sz="1200" dirty="0">
                <a:solidFill>
                  <a:srgbClr val="000000"/>
                </a:solidFill>
                <a:latin typeface="Cascadia Mono" panose="020B0609020000020004" pitchFamily="49" charset="0"/>
              </a:rPr>
              <a:t>}</a:t>
            </a:r>
            <a:endParaRPr lang="en-US" sz="1200" dirty="0"/>
          </a:p>
        </p:txBody>
      </p:sp>
      <p:sp>
        <p:nvSpPr>
          <p:cNvPr id="11" name="TextBox 10">
            <a:extLst>
              <a:ext uri="{FF2B5EF4-FFF2-40B4-BE49-F238E27FC236}">
                <a16:creationId xmlns:a16="http://schemas.microsoft.com/office/drawing/2014/main" id="{E6A35C32-C161-4366-A38D-2BA81973A3CC}"/>
              </a:ext>
            </a:extLst>
          </p:cNvPr>
          <p:cNvSpPr txBox="1"/>
          <p:nvPr/>
        </p:nvSpPr>
        <p:spPr>
          <a:xfrm>
            <a:off x="621220" y="4840576"/>
            <a:ext cx="7408357" cy="1292662"/>
          </a:xfrm>
          <a:prstGeom prst="rect">
            <a:avLst/>
          </a:prstGeom>
          <a:noFill/>
        </p:spPr>
        <p:txBody>
          <a:bodyPr wrap="square">
            <a:spAutoFit/>
          </a:bodyPr>
          <a:lstStyle/>
          <a:p>
            <a:endParaRPr lang="ru-RU" sz="1200" dirty="0"/>
          </a:p>
          <a:p>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real</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c</a:t>
            </a:r>
            <a:r>
              <a:rPr lang="en-US" sz="1200" dirty="0">
                <a:solidFill>
                  <a:srgbClr val="000000"/>
                </a:solidFill>
                <a:latin typeface="Cascadia Mono" panose="020B0609020000020004" pitchFamily="49" charset="0"/>
              </a:rPr>
              <a:t>)</a:t>
            </a:r>
            <a:r>
              <a:rPr lang="ru-RU" sz="1200" dirty="0">
                <a:solidFill>
                  <a:srgbClr val="000000"/>
                </a:solidFill>
                <a:latin typeface="Cascadia Mono" panose="020B0609020000020004" pitchFamily="49" charset="0"/>
              </a:rPr>
              <a:t> можно выразить через</a:t>
            </a:r>
            <a:r>
              <a:rPr lang="en-US" sz="1200" dirty="0">
                <a:solidFill>
                  <a:srgbClr val="000000"/>
                </a:solidFill>
                <a:latin typeface="Cascadia Mono" panose="020B0609020000020004" pitchFamily="49" charset="0"/>
              </a:rPr>
              <a:t>:</a:t>
            </a:r>
            <a:endParaRPr lang="ru-RU" sz="1200" dirty="0">
              <a:solidFill>
                <a:srgbClr val="000000"/>
              </a:solidFill>
              <a:latin typeface="Cascadia Mono" panose="020B0609020000020004" pitchFamily="49" charset="0"/>
            </a:endParaRPr>
          </a:p>
          <a:p>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a:t>
            </a:r>
            <a:r>
              <a:rPr lang="ru-RU" sz="1200" dirty="0">
                <a:solidFill>
                  <a:srgbClr val="000000"/>
                </a:solidFill>
                <a:latin typeface="Cascadia Mono" panose="020B0609020000020004" pitchFamily="49" charset="0"/>
              </a:rPr>
              <a:t>, благодаря чему не обязательно использовать </a:t>
            </a:r>
            <a:r>
              <a:rPr lang="en-US" sz="1200" dirty="0">
                <a:solidFill>
                  <a:srgbClr val="000000"/>
                </a:solidFill>
                <a:latin typeface="Cascadia Mono" panose="020B0609020000020004" pitchFamily="49" charset="0"/>
              </a:rPr>
              <a:t>friend</a:t>
            </a:r>
          </a:p>
          <a:p>
            <a:endParaRPr lang="en-US" sz="1400" dirty="0">
              <a:solidFill>
                <a:srgbClr val="000000"/>
              </a:solidFill>
              <a:latin typeface="Cascadia Mono" panose="020B0609020000020004" pitchFamily="49" charset="0"/>
            </a:endParaRPr>
          </a:p>
          <a:p>
            <a:endParaRPr lang="ru-RU" sz="1400" dirty="0"/>
          </a:p>
          <a:p>
            <a:endParaRPr lang="en-US" sz="1400" dirty="0"/>
          </a:p>
        </p:txBody>
      </p:sp>
    </p:spTree>
    <p:extLst>
      <p:ext uri="{BB962C8B-B14F-4D97-AF65-F5344CB8AC3E}">
        <p14:creationId xmlns:p14="http://schemas.microsoft.com/office/powerpoint/2010/main" val="24286657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Converting constructor</a:t>
            </a:r>
          </a:p>
        </p:txBody>
      </p:sp>
      <p:sp>
        <p:nvSpPr>
          <p:cNvPr id="13" name="TextBox 12">
            <a:extLst>
              <a:ext uri="{FF2B5EF4-FFF2-40B4-BE49-F238E27FC236}">
                <a16:creationId xmlns:a16="http://schemas.microsoft.com/office/drawing/2014/main" id="{460B4846-D4AB-4B25-A9AB-A2C4EFB46F78}"/>
              </a:ext>
            </a:extLst>
          </p:cNvPr>
          <p:cNvSpPr txBox="1"/>
          <p:nvPr/>
        </p:nvSpPr>
        <p:spPr>
          <a:xfrm>
            <a:off x="5797153" y="2037933"/>
            <a:ext cx="5089922" cy="2308324"/>
          </a:xfrm>
          <a:prstGeom prst="rect">
            <a:avLst/>
          </a:prstGeom>
          <a:noFill/>
        </p:spPr>
        <p:txBody>
          <a:bodyPr wrap="square">
            <a:spAutoFit/>
          </a:bodyPr>
          <a:lstStyle/>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X</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explicit</a:t>
            </a:r>
            <a:r>
              <a:rPr lang="en-US" sz="1200" dirty="0">
                <a:solidFill>
                  <a:srgbClr val="000000"/>
                </a:solidFill>
                <a:latin typeface="Cascadia Mono" panose="020B0609020000020004" pitchFamily="49" charset="0"/>
              </a:rPr>
              <a:t> X(</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arg</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f()</a:t>
            </a:r>
          </a:p>
          <a:p>
            <a:r>
              <a:rPr lang="en-US" sz="1200" dirty="0">
                <a:solidFill>
                  <a:srgbClr val="000000"/>
                </a:solidFill>
                <a:latin typeface="Cascadia Mono" panose="020B0609020000020004" pitchFamily="49" charset="0"/>
              </a:rPr>
              <a:t>{</a:t>
            </a:r>
          </a:p>
          <a:p>
            <a:r>
              <a:rPr lang="ru-RU" sz="1200" dirty="0">
                <a:solidFill>
                  <a:srgbClr val="000000"/>
                </a:solidFill>
                <a:latin typeface="Cascadia Mono" panose="020B0609020000020004" pitchFamily="49" charset="0"/>
              </a:rPr>
              <a:t>    </a:t>
            </a:r>
            <a:r>
              <a:rPr lang="ru-RU" sz="1200" dirty="0">
                <a:solidFill>
                  <a:srgbClr val="2B91AF"/>
                </a:solidFill>
                <a:latin typeface="Cascadia Mono" panose="020B0609020000020004" pitchFamily="49" charset="0"/>
              </a:rPr>
              <a:t>X</a:t>
            </a:r>
            <a:r>
              <a:rPr lang="ru-RU" sz="1200" dirty="0">
                <a:solidFill>
                  <a:srgbClr val="000000"/>
                </a:solidFill>
                <a:latin typeface="Cascadia Mono" panose="020B0609020000020004" pitchFamily="49" charset="0"/>
              </a:rPr>
              <a:t> t = 5; </a:t>
            </a:r>
            <a:r>
              <a:rPr lang="ru-RU" sz="1200" dirty="0">
                <a:solidFill>
                  <a:srgbClr val="008000"/>
                </a:solidFill>
                <a:latin typeface="Cascadia Mono" panose="020B0609020000020004" pitchFamily="49" charset="0"/>
              </a:rPr>
              <a:t>// ошибка компиляции</a:t>
            </a:r>
            <a:r>
              <a:rPr lang="en-US" sz="1200" dirty="0">
                <a:solidFill>
                  <a:srgbClr val="008000"/>
                </a:solidFill>
                <a:latin typeface="Cascadia Mono" panose="020B0609020000020004" pitchFamily="49" charset="0"/>
              </a:rPr>
              <a:t> </a:t>
            </a:r>
            <a:r>
              <a:rPr lang="ru-RU" sz="1200" dirty="0">
                <a:solidFill>
                  <a:srgbClr val="008000"/>
                </a:solidFill>
                <a:latin typeface="Cascadia Mono" panose="020B0609020000020004" pitchFamily="49" charset="0"/>
              </a:rPr>
              <a:t>так как запрещенно </a:t>
            </a:r>
            <a:r>
              <a:rPr lang="en-US" sz="1200" dirty="0">
                <a:solidFill>
                  <a:srgbClr val="008000"/>
                </a:solidFill>
                <a:latin typeface="Cascadia Mono" panose="020B0609020000020004" pitchFamily="49" charset="0"/>
              </a:rPr>
              <a:t>	  //  </a:t>
            </a:r>
            <a:r>
              <a:rPr lang="ru-RU" sz="1200" dirty="0">
                <a:solidFill>
                  <a:srgbClr val="008000"/>
                </a:solidFill>
                <a:latin typeface="Cascadia Mono" panose="020B0609020000020004" pitchFamily="49" charset="0"/>
              </a:rPr>
              <a:t>неявное преобразование </a:t>
            </a:r>
            <a:r>
              <a:rPr lang="en-US" sz="1200" dirty="0">
                <a:solidFill>
                  <a:srgbClr val="008000"/>
                </a:solidFill>
                <a:latin typeface="Cascadia Mono" panose="020B0609020000020004" pitchFamily="49" charset="0"/>
              </a:rPr>
              <a:t>int -&gt; X</a:t>
            </a:r>
            <a:endParaRPr lang="ru-RU"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X</a:t>
            </a:r>
            <a:r>
              <a:rPr lang="en-US" sz="1200" dirty="0">
                <a:solidFill>
                  <a:srgbClr val="000000"/>
                </a:solidFill>
                <a:latin typeface="Cascadia Mono" panose="020B0609020000020004" pitchFamily="49" charset="0"/>
              </a:rPr>
              <a:t> t2 = </a:t>
            </a:r>
            <a:r>
              <a:rPr lang="en-US" sz="1200" dirty="0" err="1">
                <a:solidFill>
                  <a:srgbClr val="0000FF"/>
                </a:solidFill>
                <a:latin typeface="Cascadia Mono" panose="020B0609020000020004" pitchFamily="49" charset="0"/>
              </a:rPr>
              <a:t>static_cast</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X</a:t>
            </a:r>
            <a:r>
              <a:rPr lang="en-US" sz="1200" dirty="0">
                <a:solidFill>
                  <a:srgbClr val="000000"/>
                </a:solidFill>
                <a:latin typeface="Cascadia Mono" panose="020B0609020000020004" pitchFamily="49" charset="0"/>
              </a:rPr>
              <a:t>&gt;(5); </a:t>
            </a:r>
            <a:r>
              <a:rPr lang="en-US" sz="1200" dirty="0">
                <a:solidFill>
                  <a:srgbClr val="008000"/>
                </a:solidFill>
                <a:latin typeface="Cascadia Mono" panose="020B0609020000020004" pitchFamily="49" charset="0"/>
              </a:rPr>
              <a:t>// </a:t>
            </a:r>
            <a:r>
              <a:rPr lang="en-US" sz="1200" dirty="0" err="1">
                <a:solidFill>
                  <a:srgbClr val="008000"/>
                </a:solidFill>
                <a:latin typeface="Cascadia Mono" panose="020B0609020000020004" pitchFamily="49" charset="0"/>
              </a:rPr>
              <a:t>ок</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endParaRPr lang="en-US" sz="1200" dirty="0"/>
          </a:p>
        </p:txBody>
      </p:sp>
      <p:sp>
        <p:nvSpPr>
          <p:cNvPr id="15" name="TextBox 14">
            <a:extLst>
              <a:ext uri="{FF2B5EF4-FFF2-40B4-BE49-F238E27FC236}">
                <a16:creationId xmlns:a16="http://schemas.microsoft.com/office/drawing/2014/main" id="{256B94DC-F0CB-475E-B44F-DEC52D3346FA}"/>
              </a:ext>
            </a:extLst>
          </p:cNvPr>
          <p:cNvSpPr txBox="1"/>
          <p:nvPr/>
        </p:nvSpPr>
        <p:spPr>
          <a:xfrm>
            <a:off x="851892" y="2037933"/>
            <a:ext cx="3898702" cy="2123658"/>
          </a:xfrm>
          <a:prstGeom prst="rect">
            <a:avLst/>
          </a:prstGeom>
          <a:noFill/>
        </p:spPr>
        <p:txBody>
          <a:bodyPr wrap="square">
            <a:spAutoFit/>
          </a:bodyPr>
          <a:lstStyle/>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X</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a:t>
            </a:r>
            <a:r>
              <a:rPr lang="ru-RU" sz="1200" dirty="0">
                <a:solidFill>
                  <a:srgbClr val="008000"/>
                </a:solidFill>
                <a:latin typeface="Cascadia Mono" panose="020B0609020000020004" pitchFamily="49" charset="0"/>
              </a:rPr>
              <a:t>неявное </a:t>
            </a:r>
            <a:r>
              <a:rPr lang="en-US" sz="1200" dirty="0">
                <a:solidFill>
                  <a:srgbClr val="008000"/>
                </a:solidFill>
                <a:latin typeface="Cascadia Mono" panose="020B0609020000020004" pitchFamily="49" charset="0"/>
              </a:rPr>
              <a:t>implicit*/</a:t>
            </a:r>
            <a:r>
              <a:rPr lang="en-US" sz="1200" dirty="0">
                <a:solidFill>
                  <a:srgbClr val="000000"/>
                </a:solidFill>
                <a:latin typeface="Cascadia Mono" panose="020B0609020000020004" pitchFamily="49" charset="0"/>
              </a:rPr>
              <a:t> X(</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arg</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f()</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X</a:t>
            </a:r>
            <a:r>
              <a:rPr lang="en-US" sz="1200" dirty="0">
                <a:solidFill>
                  <a:srgbClr val="000000"/>
                </a:solidFill>
                <a:latin typeface="Cascadia Mono" panose="020B0609020000020004" pitchFamily="49" charset="0"/>
              </a:rPr>
              <a:t> t = 5; </a:t>
            </a:r>
            <a:r>
              <a:rPr lang="en-US" sz="1200" dirty="0">
                <a:solidFill>
                  <a:srgbClr val="008000"/>
                </a:solidFill>
                <a:latin typeface="Cascadia Mono" panose="020B0609020000020004" pitchFamily="49" charset="0"/>
              </a:rPr>
              <a:t>// </a:t>
            </a:r>
            <a:r>
              <a:rPr lang="ru-RU" sz="1200" dirty="0">
                <a:solidFill>
                  <a:srgbClr val="008000"/>
                </a:solidFill>
                <a:latin typeface="Cascadia Mono" panose="020B0609020000020004" pitchFamily="49" charset="0"/>
              </a:rPr>
              <a:t>ок</a:t>
            </a:r>
            <a:endParaRPr lang="ru-RU"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X</a:t>
            </a:r>
            <a:r>
              <a:rPr lang="en-US" sz="1200" dirty="0">
                <a:solidFill>
                  <a:srgbClr val="000000"/>
                </a:solidFill>
                <a:latin typeface="Cascadia Mono" panose="020B0609020000020004" pitchFamily="49" charset="0"/>
              </a:rPr>
              <a:t> t2 = </a:t>
            </a:r>
            <a:r>
              <a:rPr lang="en-US" sz="1200" dirty="0" err="1">
                <a:solidFill>
                  <a:srgbClr val="0000FF"/>
                </a:solidFill>
                <a:latin typeface="Cascadia Mono" panose="020B0609020000020004" pitchFamily="49" charset="0"/>
              </a:rPr>
              <a:t>static_cast</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X</a:t>
            </a:r>
            <a:r>
              <a:rPr lang="en-US" sz="1200" dirty="0">
                <a:solidFill>
                  <a:srgbClr val="000000"/>
                </a:solidFill>
                <a:latin typeface="Cascadia Mono" panose="020B0609020000020004" pitchFamily="49" charset="0"/>
              </a:rPr>
              <a:t>&gt;(5); </a:t>
            </a:r>
            <a:r>
              <a:rPr lang="en-US" sz="1200" dirty="0">
                <a:solidFill>
                  <a:srgbClr val="008000"/>
                </a:solidFill>
                <a:latin typeface="Cascadia Mono" panose="020B0609020000020004" pitchFamily="49" charset="0"/>
              </a:rPr>
              <a:t>// </a:t>
            </a:r>
            <a:r>
              <a:rPr lang="en-US" sz="1200" dirty="0" err="1">
                <a:solidFill>
                  <a:srgbClr val="008000"/>
                </a:solidFill>
                <a:latin typeface="Cascadia Mono" panose="020B0609020000020004" pitchFamily="49" charset="0"/>
              </a:rPr>
              <a:t>ок</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endParaRPr lang="en-US" sz="1200" dirty="0"/>
          </a:p>
        </p:txBody>
      </p:sp>
      <p:sp>
        <p:nvSpPr>
          <p:cNvPr id="16" name="TextBox 15">
            <a:extLst>
              <a:ext uri="{FF2B5EF4-FFF2-40B4-BE49-F238E27FC236}">
                <a16:creationId xmlns:a16="http://schemas.microsoft.com/office/drawing/2014/main" id="{B3FAFD29-C853-4F61-A3A4-463A664724EE}"/>
              </a:ext>
            </a:extLst>
          </p:cNvPr>
          <p:cNvSpPr txBox="1"/>
          <p:nvPr/>
        </p:nvSpPr>
        <p:spPr>
          <a:xfrm>
            <a:off x="851892" y="1171101"/>
            <a:ext cx="7408357" cy="954107"/>
          </a:xfrm>
          <a:prstGeom prst="rect">
            <a:avLst/>
          </a:prstGeom>
          <a:noFill/>
        </p:spPr>
        <p:txBody>
          <a:bodyPr wrap="square">
            <a:spAutoFit/>
          </a:bodyPr>
          <a:lstStyle/>
          <a:p>
            <a:endParaRPr lang="ru-RU" sz="1400" dirty="0"/>
          </a:p>
          <a:p>
            <a:r>
              <a:rPr lang="ru-RU" sz="1400" dirty="0"/>
              <a:t>Конструктор с одним аргументом объявляет явную</a:t>
            </a:r>
            <a:r>
              <a:rPr lang="en-US" sz="1400" dirty="0"/>
              <a:t>/</a:t>
            </a:r>
            <a:r>
              <a:rPr lang="ru-RU" sz="1400" dirty="0"/>
              <a:t>неявную конвертацию из типа аргумента в класс</a:t>
            </a:r>
          </a:p>
          <a:p>
            <a:endParaRPr lang="en-US" sz="1400" dirty="0"/>
          </a:p>
        </p:txBody>
      </p:sp>
    </p:spTree>
    <p:extLst>
      <p:ext uri="{BB962C8B-B14F-4D97-AF65-F5344CB8AC3E}">
        <p14:creationId xmlns:p14="http://schemas.microsoft.com/office/powerpoint/2010/main" val="366418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Converting constructor</a:t>
            </a:r>
          </a:p>
        </p:txBody>
      </p:sp>
      <p:sp>
        <p:nvSpPr>
          <p:cNvPr id="6" name="TextBox 5">
            <a:extLst>
              <a:ext uri="{FF2B5EF4-FFF2-40B4-BE49-F238E27FC236}">
                <a16:creationId xmlns:a16="http://schemas.microsoft.com/office/drawing/2014/main" id="{00C92A8D-3BC9-4737-9FB4-22AF948B8124}"/>
              </a:ext>
            </a:extLst>
          </p:cNvPr>
          <p:cNvSpPr txBox="1"/>
          <p:nvPr/>
        </p:nvSpPr>
        <p:spPr>
          <a:xfrm>
            <a:off x="621220" y="1483220"/>
            <a:ext cx="6097190" cy="3600986"/>
          </a:xfrm>
          <a:prstGeom prst="rect">
            <a:avLst/>
          </a:prstGeom>
          <a:noFill/>
        </p:spPr>
        <p:txBody>
          <a:bodyPr wrap="square">
            <a:spAutoFit/>
          </a:bodyPr>
          <a:lstStyle/>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re, </a:t>
            </a:r>
            <a:r>
              <a:rPr lang="en-US" sz="1200" dirty="0" err="1">
                <a:solidFill>
                  <a:srgbClr val="000000"/>
                </a:solidFill>
                <a:latin typeface="Cascadia Mono" panose="020B0609020000020004" pitchFamily="49" charset="0"/>
              </a:rPr>
              <a:t>im</a:t>
            </a:r>
            <a:r>
              <a:rPr lang="en-US" sz="1200" dirty="0">
                <a:solidFill>
                  <a:srgbClr val="000000"/>
                </a:solidFill>
                <a:latin typeface="Cascadia Mono" panose="020B0609020000020004" pitchFamily="49" charset="0"/>
              </a:rPr>
              <a:t>;</a:t>
            </a:r>
          </a:p>
          <a:p>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complex(</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r</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i</a:t>
            </a:r>
            <a:r>
              <a:rPr lang="en-US" sz="1200" dirty="0">
                <a:solidFill>
                  <a:srgbClr val="000000"/>
                </a:solidFill>
                <a:latin typeface="Cascadia Mono" panose="020B0609020000020004" pitchFamily="49" charset="0"/>
              </a:rPr>
              <a:t>) :re{ </a:t>
            </a:r>
            <a:r>
              <a:rPr lang="en-US" sz="1200" dirty="0">
                <a:solidFill>
                  <a:srgbClr val="808080"/>
                </a:solidFill>
                <a:latin typeface="Cascadia Mono" panose="020B0609020000020004" pitchFamily="49" charset="0"/>
              </a:rPr>
              <a:t>r</a:t>
            </a:r>
            <a:r>
              <a:rPr lang="en-US" sz="1200" dirty="0">
                <a:solidFill>
                  <a:srgbClr val="000000"/>
                </a:solidFill>
                <a:latin typeface="Cascadia Mono" panose="020B0609020000020004" pitchFamily="49" charset="0"/>
              </a:rPr>
              <a:t> }, </a:t>
            </a:r>
            <a:r>
              <a:rPr lang="en-US" sz="1200" dirty="0" err="1">
                <a:solidFill>
                  <a:srgbClr val="000000"/>
                </a:solidFill>
                <a:latin typeface="Cascadia Mono" panose="020B0609020000020004" pitchFamily="49" charset="0"/>
              </a:rPr>
              <a:t>im</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i</a:t>
            </a:r>
            <a:r>
              <a:rPr lang="en-US" sz="1200" dirty="0">
                <a:solidFill>
                  <a:srgbClr val="000000"/>
                </a:solidFill>
                <a:latin typeface="Cascadia Mono" panose="020B0609020000020004" pitchFamily="49" charset="0"/>
              </a:rPr>
              <a:t> } { }</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{0.0, 0.0};};</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operator∗(</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0.0, 0.0 }; };</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friend complex</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real</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FF0000"/>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real</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a:t>
            </a:r>
            <a:r>
              <a:rPr lang="en-US" sz="1200" dirty="0">
                <a:solidFill>
                  <a:srgbClr val="808080"/>
                </a:solidFill>
                <a:latin typeface="Cascadia Mono" panose="020B0609020000020004" pitchFamily="49" charset="0"/>
              </a:rPr>
              <a:t>real</a:t>
            </a:r>
            <a:r>
              <a:rPr lang="en-US" sz="1200" dirty="0">
                <a:solidFill>
                  <a:srgbClr val="000000"/>
                </a:solidFill>
                <a:latin typeface="Cascadia Mono" panose="020B0609020000020004" pitchFamily="49" charset="0"/>
              </a:rPr>
              <a:t> + </a:t>
            </a:r>
            <a:r>
              <a:rPr lang="en-US" sz="1200" dirty="0">
                <a:solidFill>
                  <a:srgbClr val="808080"/>
                </a:solidFill>
                <a:latin typeface="Cascadia Mono" panose="020B0609020000020004" pitchFamily="49" charset="0"/>
              </a:rPr>
              <a:t>c</a:t>
            </a:r>
            <a:r>
              <a:rPr lang="en-US" sz="1200" dirty="0">
                <a:solidFill>
                  <a:srgbClr val="000000"/>
                </a:solidFill>
                <a:latin typeface="Cascadia Mono" panose="020B0609020000020004" pitchFamily="49" charset="0"/>
              </a:rPr>
              <a:t>.re, </a:t>
            </a:r>
            <a:r>
              <a:rPr lang="en-US" sz="1200" dirty="0">
                <a:solidFill>
                  <a:srgbClr val="808080"/>
                </a:solidFill>
                <a:latin typeface="Cascadia Mono" panose="020B0609020000020004" pitchFamily="49" charset="0"/>
              </a:rPr>
              <a:t>c</a:t>
            </a:r>
            <a:r>
              <a:rPr lang="en-US" sz="1200" dirty="0">
                <a:solidFill>
                  <a:srgbClr val="000000"/>
                </a:solidFill>
                <a:latin typeface="Cascadia Mono" panose="020B0609020000020004" pitchFamily="49" charset="0"/>
              </a:rPr>
              <a:t>.im);</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f()</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 =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1, 3.1 };</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b = </a:t>
            </a:r>
            <a:r>
              <a:rPr lang="en-US" sz="1200" dirty="0">
                <a:solidFill>
                  <a:srgbClr val="FF0000"/>
                </a:solidFill>
                <a:latin typeface="Cascadia Mono" panose="020B0609020000020004" pitchFamily="49" charset="0"/>
              </a:rPr>
              <a:t>1</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a:t>
            </a:r>
            <a:r>
              <a:rPr lang="en-US" sz="1200" dirty="0">
                <a:solidFill>
                  <a:srgbClr val="000000"/>
                </a:solidFill>
                <a:latin typeface="Cascadia Mono" panose="020B0609020000020004" pitchFamily="49" charset="0"/>
              </a:rPr>
              <a:t> a; </a:t>
            </a:r>
          </a:p>
          <a:p>
            <a:r>
              <a:rPr lang="en-US" sz="1200" dirty="0">
                <a:solidFill>
                  <a:srgbClr val="000000"/>
                </a:solidFill>
                <a:latin typeface="Cascadia Mono" panose="020B0609020000020004" pitchFamily="49" charset="0"/>
              </a:rPr>
              <a:t>}</a:t>
            </a:r>
            <a:endParaRPr lang="en-US" sz="1200" dirty="0"/>
          </a:p>
        </p:txBody>
      </p:sp>
      <p:sp>
        <p:nvSpPr>
          <p:cNvPr id="4" name="TextBox 3">
            <a:extLst>
              <a:ext uri="{FF2B5EF4-FFF2-40B4-BE49-F238E27FC236}">
                <a16:creationId xmlns:a16="http://schemas.microsoft.com/office/drawing/2014/main" id="{EDC81DFA-15C0-46B0-B1B5-C46E7B165B73}"/>
              </a:ext>
            </a:extLst>
          </p:cNvPr>
          <p:cNvSpPr txBox="1"/>
          <p:nvPr/>
        </p:nvSpPr>
        <p:spPr>
          <a:xfrm>
            <a:off x="621220" y="4894514"/>
            <a:ext cx="7408357" cy="1169551"/>
          </a:xfrm>
          <a:prstGeom prst="rect">
            <a:avLst/>
          </a:prstGeom>
          <a:noFill/>
        </p:spPr>
        <p:txBody>
          <a:bodyPr wrap="square">
            <a:spAutoFit/>
          </a:bodyPr>
          <a:lstStyle/>
          <a:p>
            <a:endParaRPr lang="ru-RU" sz="1400" dirty="0"/>
          </a:p>
          <a:p>
            <a:r>
              <a:rPr lang="ru-RU" sz="1400" dirty="0"/>
              <a:t>Неявное преобразование типа </a:t>
            </a:r>
            <a:r>
              <a:rPr lang="en-US" sz="1400" dirty="0"/>
              <a:t>int </a:t>
            </a:r>
            <a:r>
              <a:rPr lang="ru-RU" sz="1400" dirty="0"/>
              <a:t>в тип </a:t>
            </a:r>
            <a:r>
              <a:rPr lang="en-US" sz="1400" dirty="0"/>
              <a:t>double </a:t>
            </a:r>
            <a:r>
              <a:rPr lang="ru-RU" sz="1400" dirty="0"/>
              <a:t>а затем вызов оператора </a:t>
            </a:r>
          </a:p>
          <a:p>
            <a:r>
              <a:rPr lang="en-US" sz="1400" dirty="0">
                <a:solidFill>
                  <a:srgbClr val="2B91AF"/>
                </a:solidFill>
                <a:latin typeface="Cascadia Mono" panose="020B0609020000020004" pitchFamily="49" charset="0"/>
              </a:rPr>
              <a:t>complex</a:t>
            </a:r>
            <a:r>
              <a:rPr lang="en-US" sz="1400" dirty="0">
                <a:solidFill>
                  <a:srgbClr val="000000"/>
                </a:solidFill>
                <a:latin typeface="Cascadia Mono" panose="020B0609020000020004" pitchFamily="49" charset="0"/>
              </a:rPr>
              <a:t> </a:t>
            </a:r>
            <a:r>
              <a:rPr lang="en-US" sz="1400" dirty="0">
                <a:solidFill>
                  <a:srgbClr val="008080"/>
                </a:solidFill>
                <a:latin typeface="Cascadia Mono" panose="020B0609020000020004" pitchFamily="49" charset="0"/>
              </a:rPr>
              <a:t>operator+</a:t>
            </a:r>
            <a:r>
              <a:rPr lang="en-US" sz="1400" dirty="0">
                <a:solidFill>
                  <a:srgbClr val="000000"/>
                </a:solidFill>
                <a:latin typeface="Cascadia Mono" panose="020B0609020000020004" pitchFamily="49" charset="0"/>
              </a:rPr>
              <a:t>(</a:t>
            </a:r>
            <a:r>
              <a:rPr lang="en-US" sz="1400" dirty="0">
                <a:solidFill>
                  <a:srgbClr val="FF0000"/>
                </a:solidFill>
                <a:latin typeface="Cascadia Mono" panose="020B0609020000020004" pitchFamily="49" charset="0"/>
              </a:rPr>
              <a:t>double</a:t>
            </a:r>
            <a:r>
              <a:rPr lang="en-US" sz="1400" dirty="0">
                <a:solidFill>
                  <a:srgbClr val="000000"/>
                </a:solidFill>
                <a:latin typeface="Cascadia Mono" panose="020B0609020000020004" pitchFamily="49" charset="0"/>
              </a:rPr>
              <a:t> </a:t>
            </a:r>
            <a:r>
              <a:rPr lang="en-US" sz="1400" dirty="0">
                <a:solidFill>
                  <a:srgbClr val="808080"/>
                </a:solidFill>
                <a:latin typeface="Cascadia Mono" panose="020B0609020000020004" pitchFamily="49" charset="0"/>
              </a:rPr>
              <a:t>real</a:t>
            </a:r>
            <a:r>
              <a:rPr lang="en-US" sz="1400" dirty="0">
                <a:solidFill>
                  <a:srgbClr val="000000"/>
                </a:solidFill>
                <a:latin typeface="Cascadia Mono" panose="020B0609020000020004" pitchFamily="49" charset="0"/>
              </a:rPr>
              <a:t>, </a:t>
            </a:r>
            <a:r>
              <a:rPr lang="en-US" sz="1400" dirty="0">
                <a:solidFill>
                  <a:srgbClr val="2B91AF"/>
                </a:solidFill>
                <a:latin typeface="Cascadia Mono" panose="020B0609020000020004" pitchFamily="49" charset="0"/>
              </a:rPr>
              <a:t>complex</a:t>
            </a:r>
            <a:r>
              <a:rPr lang="en-US" sz="1400" dirty="0">
                <a:solidFill>
                  <a:srgbClr val="000000"/>
                </a:solidFill>
                <a:latin typeface="Cascadia Mono" panose="020B0609020000020004" pitchFamily="49" charset="0"/>
              </a:rPr>
              <a:t> </a:t>
            </a:r>
            <a:r>
              <a:rPr lang="en-US" sz="1400" dirty="0">
                <a:solidFill>
                  <a:srgbClr val="808080"/>
                </a:solidFill>
                <a:latin typeface="Cascadia Mono" panose="020B0609020000020004" pitchFamily="49" charset="0"/>
              </a:rPr>
              <a:t>c</a:t>
            </a:r>
            <a:r>
              <a:rPr lang="en-US" sz="1400" dirty="0">
                <a:solidFill>
                  <a:srgbClr val="000000"/>
                </a:solidFill>
                <a:latin typeface="Cascadia Mono" panose="020B0609020000020004" pitchFamily="49" charset="0"/>
              </a:rPr>
              <a:t>)</a:t>
            </a:r>
          </a:p>
          <a:p>
            <a:endParaRPr lang="ru-RU" sz="1400" dirty="0"/>
          </a:p>
          <a:p>
            <a:endParaRPr lang="en-US" sz="1400" dirty="0"/>
          </a:p>
        </p:txBody>
      </p:sp>
    </p:spTree>
    <p:extLst>
      <p:ext uri="{BB962C8B-B14F-4D97-AF65-F5344CB8AC3E}">
        <p14:creationId xmlns:p14="http://schemas.microsoft.com/office/powerpoint/2010/main" val="41436801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Converting constructor</a:t>
            </a:r>
          </a:p>
        </p:txBody>
      </p:sp>
      <p:sp>
        <p:nvSpPr>
          <p:cNvPr id="9" name="TextBox 8">
            <a:extLst>
              <a:ext uri="{FF2B5EF4-FFF2-40B4-BE49-F238E27FC236}">
                <a16:creationId xmlns:a16="http://schemas.microsoft.com/office/drawing/2014/main" id="{592C3D4A-6B5A-40DF-BA51-201BC8D7CA88}"/>
              </a:ext>
            </a:extLst>
          </p:cNvPr>
          <p:cNvSpPr txBox="1"/>
          <p:nvPr/>
        </p:nvSpPr>
        <p:spPr>
          <a:xfrm>
            <a:off x="684013" y="1689944"/>
            <a:ext cx="6097190" cy="2677656"/>
          </a:xfrm>
          <a:prstGeom prst="rect">
            <a:avLst/>
          </a:prstGeom>
          <a:noFill/>
        </p:spPr>
        <p:txBody>
          <a:bodyPr wrap="square">
            <a:spAutoFit/>
          </a:bodyPr>
          <a:lstStyle/>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re, </a:t>
            </a:r>
            <a:r>
              <a:rPr lang="en-US" sz="1200" dirty="0" err="1">
                <a:solidFill>
                  <a:srgbClr val="000000"/>
                </a:solidFill>
                <a:latin typeface="Cascadia Mono" panose="020B0609020000020004" pitchFamily="49" charset="0"/>
              </a:rPr>
              <a:t>im</a:t>
            </a:r>
            <a:r>
              <a:rPr lang="en-US" sz="1200" dirty="0">
                <a:solidFill>
                  <a:srgbClr val="000000"/>
                </a:solidFill>
                <a:latin typeface="Cascadia Mono" panose="020B0609020000020004" pitchFamily="49" charset="0"/>
              </a:rPr>
              <a:t>;</a:t>
            </a:r>
          </a:p>
          <a:p>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a:t>
            </a:r>
          </a:p>
          <a:p>
            <a:r>
              <a:rPr lang="pt-BR" sz="1200" dirty="0">
                <a:solidFill>
                  <a:srgbClr val="000000"/>
                </a:solidFill>
                <a:latin typeface="Cascadia Mono" panose="020B0609020000020004" pitchFamily="49" charset="0"/>
              </a:rPr>
              <a:t>    </a:t>
            </a:r>
            <a:r>
              <a:rPr lang="pt-BR" sz="1200" dirty="0">
                <a:solidFill>
                  <a:srgbClr val="FF0000"/>
                </a:solidFill>
                <a:latin typeface="Cascadia Mono" panose="020B0609020000020004" pitchFamily="49" charset="0"/>
              </a:rPr>
              <a:t>complex(double r) </a:t>
            </a:r>
            <a:r>
              <a:rPr lang="pt-BR" sz="1200" dirty="0">
                <a:solidFill>
                  <a:srgbClr val="000000"/>
                </a:solidFill>
                <a:latin typeface="Cascadia Mono" panose="020B0609020000020004" pitchFamily="49" charset="0"/>
              </a:rPr>
              <a:t>:re{ </a:t>
            </a:r>
            <a:r>
              <a:rPr lang="pt-BR" sz="1200" dirty="0">
                <a:solidFill>
                  <a:srgbClr val="808080"/>
                </a:solidFill>
                <a:latin typeface="Cascadia Mono" panose="020B0609020000020004" pitchFamily="49" charset="0"/>
              </a:rPr>
              <a:t>r</a:t>
            </a:r>
            <a:r>
              <a:rPr lang="pt-BR" sz="1200" dirty="0">
                <a:solidFill>
                  <a:srgbClr val="000000"/>
                </a:solidFill>
                <a:latin typeface="Cascadia Mono" panose="020B0609020000020004" pitchFamily="49" charset="0"/>
              </a:rPr>
              <a:t> }, im{ 0.0 } { }</a:t>
            </a:r>
          </a:p>
          <a:p>
            <a:r>
              <a:rPr lang="en-US" sz="1200" dirty="0">
                <a:solidFill>
                  <a:srgbClr val="000000"/>
                </a:solidFill>
                <a:latin typeface="Cascadia Mono" panose="020B0609020000020004" pitchFamily="49" charset="0"/>
              </a:rPr>
              <a:t>    complex(</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r</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i</a:t>
            </a:r>
            <a:r>
              <a:rPr lang="en-US" sz="1200" dirty="0">
                <a:solidFill>
                  <a:srgbClr val="000000"/>
                </a:solidFill>
                <a:latin typeface="Cascadia Mono" panose="020B0609020000020004" pitchFamily="49" charset="0"/>
              </a:rPr>
              <a:t>) :re{ </a:t>
            </a:r>
            <a:r>
              <a:rPr lang="en-US" sz="1200" dirty="0">
                <a:solidFill>
                  <a:srgbClr val="808080"/>
                </a:solidFill>
                <a:latin typeface="Cascadia Mono" panose="020B0609020000020004" pitchFamily="49" charset="0"/>
              </a:rPr>
              <a:t>r</a:t>
            </a:r>
            <a:r>
              <a:rPr lang="en-US" sz="1200" dirty="0">
                <a:solidFill>
                  <a:srgbClr val="000000"/>
                </a:solidFill>
                <a:latin typeface="Cascadia Mono" panose="020B0609020000020004" pitchFamily="49" charset="0"/>
              </a:rPr>
              <a:t> }, </a:t>
            </a:r>
            <a:r>
              <a:rPr lang="en-US" sz="1200" dirty="0" err="1">
                <a:solidFill>
                  <a:srgbClr val="000000"/>
                </a:solidFill>
                <a:latin typeface="Cascadia Mono" panose="020B0609020000020004" pitchFamily="49" charset="0"/>
              </a:rPr>
              <a:t>im</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i</a:t>
            </a:r>
            <a:r>
              <a:rPr lang="en-US" sz="1200" dirty="0">
                <a:solidFill>
                  <a:srgbClr val="000000"/>
                </a:solidFill>
                <a:latin typeface="Cascadia Mono" panose="020B0609020000020004" pitchFamily="49" charset="0"/>
              </a:rPr>
              <a:t> } { }</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operator∗(</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f()</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 =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1, 3.1 };</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b = </a:t>
            </a:r>
            <a:r>
              <a:rPr lang="en-US" sz="1200" dirty="0">
                <a:solidFill>
                  <a:srgbClr val="FF0000"/>
                </a:solidFill>
                <a:latin typeface="Cascadia Mono" panose="020B0609020000020004" pitchFamily="49" charset="0"/>
              </a:rPr>
              <a:t>1.0 + a;</a:t>
            </a:r>
          </a:p>
          <a:p>
            <a:r>
              <a:rPr lang="en-US" sz="1200" dirty="0">
                <a:solidFill>
                  <a:srgbClr val="000000"/>
                </a:solidFill>
                <a:latin typeface="Cascadia Mono" panose="020B0609020000020004" pitchFamily="49" charset="0"/>
              </a:rPr>
              <a:t>}</a:t>
            </a:r>
          </a:p>
        </p:txBody>
      </p:sp>
      <p:pic>
        <p:nvPicPr>
          <p:cNvPr id="7" name="Picture 6">
            <a:extLst>
              <a:ext uri="{FF2B5EF4-FFF2-40B4-BE49-F238E27FC236}">
                <a16:creationId xmlns:a16="http://schemas.microsoft.com/office/drawing/2014/main" id="{B4FE5054-F02E-48DC-A4F5-7CB5394EFD16}"/>
              </a:ext>
            </a:extLst>
          </p:cNvPr>
          <p:cNvPicPr>
            <a:picLocks noChangeAspect="1"/>
          </p:cNvPicPr>
          <p:nvPr/>
        </p:nvPicPr>
        <p:blipFill>
          <a:blip r:embed="rId2"/>
          <a:stretch>
            <a:fillRect/>
          </a:stretch>
        </p:blipFill>
        <p:spPr>
          <a:xfrm>
            <a:off x="684013" y="4586950"/>
            <a:ext cx="7440063" cy="581106"/>
          </a:xfrm>
          <a:prstGeom prst="rect">
            <a:avLst/>
          </a:prstGeom>
        </p:spPr>
      </p:pic>
    </p:spTree>
    <p:extLst>
      <p:ext uri="{BB962C8B-B14F-4D97-AF65-F5344CB8AC3E}">
        <p14:creationId xmlns:p14="http://schemas.microsoft.com/office/powerpoint/2010/main" val="38200419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9288661" cy="640080"/>
          </a:xfrm>
        </p:spPr>
        <p:txBody>
          <a:bodyPr>
            <a:noAutofit/>
          </a:bodyPr>
          <a:lstStyle/>
          <a:p>
            <a:r>
              <a:rPr lang="en-US" dirty="0"/>
              <a:t>Automatic Overload Resolution</a:t>
            </a:r>
            <a:r>
              <a:rPr lang="ru-RU" dirty="0"/>
              <a:t> (</a:t>
            </a:r>
            <a:r>
              <a:rPr lang="ru-RU" sz="2800" dirty="0"/>
              <a:t>разрещение перегрузки </a:t>
            </a:r>
            <a:r>
              <a:rPr lang="ru-RU" dirty="0"/>
              <a:t>)</a:t>
            </a:r>
            <a:endParaRPr lang="en-US" dirty="0">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E3E64AF3-BD90-4C24-A567-2697CDAEB0C1}"/>
              </a:ext>
            </a:extLst>
          </p:cNvPr>
          <p:cNvSpPr txBox="1"/>
          <p:nvPr/>
        </p:nvSpPr>
        <p:spPr>
          <a:xfrm>
            <a:off x="655439" y="1590377"/>
            <a:ext cx="9288661" cy="2462213"/>
          </a:xfrm>
          <a:prstGeom prst="rect">
            <a:avLst/>
          </a:prstGeom>
          <a:noFill/>
        </p:spPr>
        <p:txBody>
          <a:bodyPr wrap="square">
            <a:spAutoFit/>
          </a:bodyPr>
          <a:lstStyle/>
          <a:p>
            <a:r>
              <a:rPr lang="en-US" sz="1400" dirty="0"/>
              <a:t>C++ </a:t>
            </a:r>
            <a:r>
              <a:rPr lang="ru-RU" sz="1400" dirty="0"/>
              <a:t>пытается быть более-менее логичным в плане разрещения перегрузок. Сделать минимальное количество самых простых действий для разрещения перегрузки. Аппроксимировать критерии автоматического разрещения можно так(чем выше тем приоритетнее)</a:t>
            </a:r>
            <a:r>
              <a:rPr lang="en-US" sz="1400" dirty="0"/>
              <a:t>:</a:t>
            </a:r>
            <a:r>
              <a:rPr lang="ru-RU" sz="1400" dirty="0"/>
              <a:t> </a:t>
            </a:r>
            <a:endParaRPr lang="en-US" sz="1400" dirty="0"/>
          </a:p>
          <a:p>
            <a:pPr marL="285750" indent="-285750">
              <a:buFontTx/>
              <a:buChar char="-"/>
            </a:pPr>
            <a:r>
              <a:rPr lang="ru-RU" sz="1400" dirty="0"/>
              <a:t>Точное попадание.</a:t>
            </a:r>
            <a:r>
              <a:rPr lang="en-US" sz="1400" dirty="0"/>
              <a:t> </a:t>
            </a:r>
            <a:r>
              <a:rPr lang="ru-RU" sz="1400" dirty="0"/>
              <a:t>Нет преобразования типов или только тривиальные преобразования типов</a:t>
            </a:r>
            <a:r>
              <a:rPr lang="en-US" sz="1400" dirty="0"/>
              <a:t> </a:t>
            </a:r>
            <a:endParaRPr lang="ru-RU" sz="1400" dirty="0"/>
          </a:p>
          <a:p>
            <a:pPr marL="742950" lvl="1" indent="-285750">
              <a:buFontTx/>
              <a:buChar char="-"/>
            </a:pPr>
            <a:r>
              <a:rPr lang="en-US" sz="1400" dirty="0"/>
              <a:t>(array name to pointer, function name to pointer to function, T to const T) </a:t>
            </a:r>
            <a:endParaRPr lang="ru-RU" sz="1400" dirty="0"/>
          </a:p>
          <a:p>
            <a:pPr marL="285750" indent="-285750">
              <a:buFontTx/>
              <a:buChar char="-"/>
            </a:pPr>
            <a:r>
              <a:rPr lang="en-US" sz="1400" dirty="0"/>
              <a:t>Promotions </a:t>
            </a:r>
          </a:p>
          <a:p>
            <a:pPr marL="742950" lvl="1" indent="-285750">
              <a:buFontTx/>
              <a:buChar char="-"/>
            </a:pPr>
            <a:r>
              <a:rPr lang="en-US" sz="1400" dirty="0"/>
              <a:t>(bool to int, char to int, short to int, and their unsigned counterparts) </a:t>
            </a:r>
            <a:r>
              <a:rPr lang="ru-RU" sz="1400" dirty="0"/>
              <a:t>и</a:t>
            </a:r>
            <a:r>
              <a:rPr lang="en-US" sz="1400" dirty="0"/>
              <a:t> float to double </a:t>
            </a:r>
            <a:endParaRPr lang="ru-RU" sz="1400" dirty="0"/>
          </a:p>
          <a:p>
            <a:pPr marL="285750" indent="-285750">
              <a:buFontTx/>
              <a:buChar char="-"/>
            </a:pPr>
            <a:r>
              <a:rPr lang="ru-RU" sz="1400" dirty="0"/>
              <a:t>Стандартное преобразования типов</a:t>
            </a:r>
            <a:endParaRPr lang="en-US" sz="1400" dirty="0"/>
          </a:p>
          <a:p>
            <a:pPr marL="742950" lvl="1" indent="-285750">
              <a:buFontTx/>
              <a:buChar char="-"/>
            </a:pPr>
            <a:r>
              <a:rPr lang="en-US" sz="1400" dirty="0"/>
              <a:t>(int to double, double to int, double to long double , Derived∗ to Base∗, T∗ to void∗, int to unsigned int)) </a:t>
            </a:r>
            <a:endParaRPr lang="ru-RU" sz="1400" dirty="0"/>
          </a:p>
          <a:p>
            <a:pPr marL="285750" indent="-285750">
              <a:buFontTx/>
              <a:buChar char="-"/>
            </a:pPr>
            <a:r>
              <a:rPr lang="en-US" sz="1400" dirty="0"/>
              <a:t>user-defined </a:t>
            </a:r>
            <a:r>
              <a:rPr lang="ru-RU" sz="1400" dirty="0"/>
              <a:t>преобразования</a:t>
            </a:r>
          </a:p>
          <a:p>
            <a:pPr marL="742950" lvl="1" indent="-285750">
              <a:buFontTx/>
              <a:buChar char="-"/>
            </a:pPr>
            <a:r>
              <a:rPr lang="en-US" sz="1400" dirty="0"/>
              <a:t>(double to complex) </a:t>
            </a:r>
            <a:endParaRPr lang="ru-RU" sz="1400" dirty="0"/>
          </a:p>
        </p:txBody>
      </p:sp>
    </p:spTree>
    <p:extLst>
      <p:ext uri="{BB962C8B-B14F-4D97-AF65-F5344CB8AC3E}">
        <p14:creationId xmlns:p14="http://schemas.microsoft.com/office/powerpoint/2010/main" val="25614209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Templates</a:t>
            </a:r>
          </a:p>
        </p:txBody>
      </p:sp>
      <p:sp>
        <p:nvSpPr>
          <p:cNvPr id="6" name="TextBox 5">
            <a:extLst>
              <a:ext uri="{FF2B5EF4-FFF2-40B4-BE49-F238E27FC236}">
                <a16:creationId xmlns:a16="http://schemas.microsoft.com/office/drawing/2014/main" id="{3237FD08-619B-4316-962D-C88B3C3D541E}"/>
              </a:ext>
            </a:extLst>
          </p:cNvPr>
          <p:cNvSpPr txBox="1"/>
          <p:nvPr/>
        </p:nvSpPr>
        <p:spPr>
          <a:xfrm>
            <a:off x="612576" y="1479560"/>
            <a:ext cx="6097190" cy="2677656"/>
          </a:xfrm>
          <a:prstGeom prst="rect">
            <a:avLst/>
          </a:prstGeom>
          <a:noFill/>
        </p:spPr>
        <p:txBody>
          <a:bodyPr wrap="square">
            <a:spAutoFit/>
          </a:bodyPr>
          <a:lstStyle/>
          <a:p>
            <a:r>
              <a:rPr lang="en-US" sz="1200" dirty="0">
                <a:solidFill>
                  <a:srgbClr val="0000FF"/>
                </a:solidFill>
                <a:latin typeface="Cascadia Mono" panose="020B0609020000020004" pitchFamily="49" charset="0"/>
              </a:rPr>
              <a:t>template</a:t>
            </a:r>
            <a:r>
              <a:rPr lang="en-US" sz="1200" dirty="0">
                <a:solidFill>
                  <a:srgbClr val="000000"/>
                </a:solidFill>
                <a:latin typeface="Cascadia Mono" panose="020B0609020000020004" pitchFamily="49" charset="0"/>
              </a:rPr>
              <a:t> &lt;</a:t>
            </a:r>
            <a:r>
              <a:rPr lang="en-US" sz="1200" dirty="0" err="1">
                <a:solidFill>
                  <a:srgbClr val="FF0000"/>
                </a:solidFill>
                <a:latin typeface="Cascadia Mono" panose="020B0609020000020004" pitchFamily="49" charset="0"/>
              </a:rPr>
              <a:t>typename</a:t>
            </a:r>
            <a:r>
              <a:rPr lang="en-US" sz="1200" dirty="0">
                <a:solidFill>
                  <a:srgbClr val="FF0000"/>
                </a:solidFill>
                <a:latin typeface="Cascadia Mono" panose="020B0609020000020004" pitchFamily="49" charset="0"/>
              </a:rPr>
              <a:t> T</a:t>
            </a:r>
            <a:r>
              <a:rPr lang="en-US" sz="1200" dirty="0">
                <a:solidFill>
                  <a:srgbClr val="000000"/>
                </a:solidFill>
                <a:latin typeface="Cascadia Mono" panose="020B0609020000020004" pitchFamily="49" charset="0"/>
              </a:rPr>
              <a:t>&gt;</a:t>
            </a:r>
          </a:p>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T</a:t>
            </a:r>
            <a:r>
              <a:rPr lang="en-US" sz="1200" dirty="0">
                <a:solidFill>
                  <a:srgbClr val="000000"/>
                </a:solidFill>
                <a:latin typeface="Cascadia Mono" panose="020B0609020000020004" pitchFamily="49" charset="0"/>
              </a:rPr>
              <a:t> re, </a:t>
            </a:r>
            <a:r>
              <a:rPr lang="en-US" sz="1200" dirty="0" err="1">
                <a:solidFill>
                  <a:srgbClr val="000000"/>
                </a:solidFill>
                <a:latin typeface="Cascadia Mono" panose="020B0609020000020004" pitchFamily="49" charset="0"/>
              </a:rPr>
              <a:t>im</a:t>
            </a:r>
            <a:r>
              <a:rPr lang="en-US" sz="1200" dirty="0">
                <a:solidFill>
                  <a:srgbClr val="000000"/>
                </a:solidFill>
                <a:latin typeface="Cascadia Mono" panose="020B0609020000020004" pitchFamily="49" charset="0"/>
              </a:rPr>
              <a:t>;</a:t>
            </a:r>
          </a:p>
          <a:p>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a:t>
            </a:r>
          </a:p>
          <a:p>
            <a:r>
              <a:rPr lang="pt-BR" sz="1200" dirty="0">
                <a:solidFill>
                  <a:srgbClr val="000000"/>
                </a:solidFill>
                <a:latin typeface="Cascadia Mono" panose="020B0609020000020004" pitchFamily="49" charset="0"/>
              </a:rPr>
              <a:t>    complex(</a:t>
            </a:r>
            <a:r>
              <a:rPr lang="pt-BR" sz="1200" dirty="0">
                <a:solidFill>
                  <a:srgbClr val="FF0000"/>
                </a:solidFill>
                <a:latin typeface="Cascadia Mono" panose="020B0609020000020004" pitchFamily="49" charset="0"/>
              </a:rPr>
              <a:t>T</a:t>
            </a:r>
            <a:r>
              <a:rPr lang="pt-BR" sz="1200" dirty="0">
                <a:solidFill>
                  <a:srgbClr val="000000"/>
                </a:solidFill>
                <a:latin typeface="Cascadia Mono" panose="020B0609020000020004" pitchFamily="49" charset="0"/>
              </a:rPr>
              <a:t> </a:t>
            </a:r>
            <a:r>
              <a:rPr lang="pt-BR" sz="1200" dirty="0">
                <a:solidFill>
                  <a:srgbClr val="808080"/>
                </a:solidFill>
                <a:latin typeface="Cascadia Mono" panose="020B0609020000020004" pitchFamily="49" charset="0"/>
              </a:rPr>
              <a:t>r</a:t>
            </a:r>
            <a:r>
              <a:rPr lang="pt-BR" sz="1200" dirty="0">
                <a:solidFill>
                  <a:srgbClr val="000000"/>
                </a:solidFill>
                <a:latin typeface="Cascadia Mono" panose="020B0609020000020004" pitchFamily="49" charset="0"/>
              </a:rPr>
              <a:t>) :re{ </a:t>
            </a:r>
            <a:r>
              <a:rPr lang="pt-BR" sz="1200" dirty="0">
                <a:solidFill>
                  <a:srgbClr val="808080"/>
                </a:solidFill>
                <a:latin typeface="Cascadia Mono" panose="020B0609020000020004" pitchFamily="49" charset="0"/>
              </a:rPr>
              <a:t>r</a:t>
            </a:r>
            <a:r>
              <a:rPr lang="pt-BR" sz="1200" dirty="0">
                <a:solidFill>
                  <a:srgbClr val="000000"/>
                </a:solidFill>
                <a:latin typeface="Cascadia Mono" panose="020B0609020000020004" pitchFamily="49" charset="0"/>
              </a:rPr>
              <a:t> }, im{ 0.0 } { }</a:t>
            </a:r>
          </a:p>
          <a:p>
            <a:r>
              <a:rPr lang="pt-BR" sz="1200" dirty="0">
                <a:solidFill>
                  <a:srgbClr val="000000"/>
                </a:solidFill>
                <a:latin typeface="Cascadia Mono" panose="020B0609020000020004" pitchFamily="49" charset="0"/>
              </a:rPr>
              <a:t>    complex(</a:t>
            </a:r>
            <a:r>
              <a:rPr lang="pt-BR" sz="1200" dirty="0">
                <a:solidFill>
                  <a:srgbClr val="FF0000"/>
                </a:solidFill>
                <a:latin typeface="Cascadia Mono" panose="020B0609020000020004" pitchFamily="49" charset="0"/>
              </a:rPr>
              <a:t>T</a:t>
            </a:r>
            <a:r>
              <a:rPr lang="pt-BR" sz="1200" dirty="0">
                <a:solidFill>
                  <a:srgbClr val="000000"/>
                </a:solidFill>
                <a:latin typeface="Cascadia Mono" panose="020B0609020000020004" pitchFamily="49" charset="0"/>
              </a:rPr>
              <a:t> </a:t>
            </a:r>
            <a:r>
              <a:rPr lang="pt-BR" sz="1200" dirty="0">
                <a:solidFill>
                  <a:srgbClr val="808080"/>
                </a:solidFill>
                <a:latin typeface="Cascadia Mono" panose="020B0609020000020004" pitchFamily="49" charset="0"/>
              </a:rPr>
              <a:t>r</a:t>
            </a:r>
            <a:r>
              <a:rPr lang="pt-BR" sz="1200" dirty="0">
                <a:solidFill>
                  <a:srgbClr val="000000"/>
                </a:solidFill>
                <a:latin typeface="Cascadia Mono" panose="020B0609020000020004" pitchFamily="49" charset="0"/>
              </a:rPr>
              <a:t>, </a:t>
            </a:r>
            <a:r>
              <a:rPr lang="pt-BR" sz="1200" dirty="0">
                <a:solidFill>
                  <a:srgbClr val="FF0000"/>
                </a:solidFill>
                <a:latin typeface="Cascadia Mono" panose="020B0609020000020004" pitchFamily="49" charset="0"/>
              </a:rPr>
              <a:t>T</a:t>
            </a:r>
            <a:r>
              <a:rPr lang="pt-BR" sz="1200" dirty="0">
                <a:solidFill>
                  <a:srgbClr val="000000"/>
                </a:solidFill>
                <a:latin typeface="Cascadia Mono" panose="020B0609020000020004" pitchFamily="49" charset="0"/>
              </a:rPr>
              <a:t> </a:t>
            </a:r>
            <a:r>
              <a:rPr lang="pt-BR" sz="1200" dirty="0">
                <a:solidFill>
                  <a:srgbClr val="808080"/>
                </a:solidFill>
                <a:latin typeface="Cascadia Mono" panose="020B0609020000020004" pitchFamily="49" charset="0"/>
              </a:rPr>
              <a:t>i</a:t>
            </a:r>
            <a:r>
              <a:rPr lang="pt-BR" sz="1200" dirty="0">
                <a:solidFill>
                  <a:srgbClr val="000000"/>
                </a:solidFill>
                <a:latin typeface="Cascadia Mono" panose="020B0609020000020004" pitchFamily="49" charset="0"/>
              </a:rPr>
              <a:t>) :re{ </a:t>
            </a:r>
            <a:r>
              <a:rPr lang="pt-BR" sz="1200" dirty="0">
                <a:solidFill>
                  <a:srgbClr val="808080"/>
                </a:solidFill>
                <a:latin typeface="Cascadia Mono" panose="020B0609020000020004" pitchFamily="49" charset="0"/>
              </a:rPr>
              <a:t>r</a:t>
            </a:r>
            <a:r>
              <a:rPr lang="pt-BR" sz="1200" dirty="0">
                <a:solidFill>
                  <a:srgbClr val="000000"/>
                </a:solidFill>
                <a:latin typeface="Cascadia Mono" panose="020B0609020000020004" pitchFamily="49" charset="0"/>
              </a:rPr>
              <a:t> }, im{ </a:t>
            </a:r>
            <a:r>
              <a:rPr lang="pt-BR" sz="1200" dirty="0">
                <a:solidFill>
                  <a:srgbClr val="808080"/>
                </a:solidFill>
                <a:latin typeface="Cascadia Mono" panose="020B0609020000020004" pitchFamily="49" charset="0"/>
              </a:rPr>
              <a:t>i</a:t>
            </a:r>
            <a:r>
              <a:rPr lang="pt-BR" sz="1200" dirty="0">
                <a:solidFill>
                  <a:srgbClr val="000000"/>
                </a:solidFill>
                <a:latin typeface="Cascadia Mono" panose="020B0609020000020004" pitchFamily="49" charset="0"/>
              </a:rPr>
              <a:t> } { }</a:t>
            </a:r>
          </a:p>
          <a:p>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complex&lt;T&gt;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complex</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f()</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complex</a:t>
            </a:r>
            <a:r>
              <a:rPr lang="en-US" sz="1200" dirty="0">
                <a:solidFill>
                  <a:srgbClr val="000000"/>
                </a:solidFill>
                <a:latin typeface="Cascadia Mono" panose="020B0609020000020004" pitchFamily="49" charset="0"/>
              </a:rPr>
              <a:t> a =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 1.5, 3.1 };</a:t>
            </a:r>
          </a:p>
          <a:p>
            <a:r>
              <a:rPr lang="en-US" sz="1200" dirty="0">
                <a:solidFill>
                  <a:srgbClr val="000000"/>
                </a:solidFill>
                <a:latin typeface="Cascadia Mono" panose="020B0609020000020004" pitchFamily="49" charset="0"/>
              </a:rPr>
              <a:t>}</a:t>
            </a:r>
          </a:p>
        </p:txBody>
      </p:sp>
      <p:sp>
        <p:nvSpPr>
          <p:cNvPr id="3" name="Rectangle 2">
            <a:extLst>
              <a:ext uri="{FF2B5EF4-FFF2-40B4-BE49-F238E27FC236}">
                <a16:creationId xmlns:a16="http://schemas.microsoft.com/office/drawing/2014/main" id="{FDD07B05-6A64-48C9-B259-3AA9A68DFEC0}"/>
              </a:ext>
            </a:extLst>
          </p:cNvPr>
          <p:cNvSpPr/>
          <p:nvPr/>
        </p:nvSpPr>
        <p:spPr>
          <a:xfrm>
            <a:off x="1035844" y="2818388"/>
            <a:ext cx="678656" cy="181987"/>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30E44935-0BF8-4D38-A5F5-28A566CFE8C6}"/>
              </a:ext>
            </a:extLst>
          </p:cNvPr>
          <p:cNvCxnSpPr>
            <a:cxnSpLocks/>
          </p:cNvCxnSpPr>
          <p:nvPr/>
        </p:nvCxnSpPr>
        <p:spPr>
          <a:xfrm flipH="1" flipV="1">
            <a:off x="1714501" y="3000375"/>
            <a:ext cx="364330" cy="257175"/>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79BC0E2-75FB-4358-9B7B-6E4ED46D7A24}"/>
              </a:ext>
            </a:extLst>
          </p:cNvPr>
          <p:cNvSpPr txBox="1"/>
          <p:nvPr/>
        </p:nvSpPr>
        <p:spPr>
          <a:xfrm>
            <a:off x="2078831" y="3119050"/>
            <a:ext cx="6097190" cy="276999"/>
          </a:xfrm>
          <a:prstGeom prst="rect">
            <a:avLst/>
          </a:prstGeom>
          <a:noFill/>
        </p:spPr>
        <p:txBody>
          <a:bodyPr wrap="square">
            <a:spAutoFit/>
          </a:bodyPr>
          <a:lstStyle/>
          <a:p>
            <a:r>
              <a:rPr lang="ru-RU" sz="1200" dirty="0">
                <a:solidFill>
                  <a:schemeClr val="accent6"/>
                </a:solidFill>
                <a:latin typeface="Cascadia Mono" panose="020B0609020000020004" pitchFamily="49" charset="0"/>
              </a:rPr>
              <a:t>Внутри класса равносильно объявлению</a:t>
            </a:r>
            <a:r>
              <a:rPr lang="en-US" sz="1200" dirty="0">
                <a:solidFill>
                  <a:schemeClr val="accent6"/>
                </a:solidFill>
                <a:latin typeface="Cascadia Mono" panose="020B0609020000020004" pitchFamily="49" charset="0"/>
              </a:rPr>
              <a:t> complex&lt;T&gt;</a:t>
            </a:r>
            <a:r>
              <a:rPr lang="ru-RU" sz="1200" dirty="0">
                <a:solidFill>
                  <a:schemeClr val="accent6"/>
                </a:solidFill>
                <a:latin typeface="Cascadia Mono" panose="020B0609020000020004" pitchFamily="49" charset="0"/>
              </a:rPr>
              <a:t> </a:t>
            </a:r>
            <a:endParaRPr lang="en-US" sz="1200" dirty="0">
              <a:solidFill>
                <a:schemeClr val="accent6"/>
              </a:solidFill>
              <a:latin typeface="Cascadia Mono" panose="020B0609020000020004" pitchFamily="49" charset="0"/>
            </a:endParaRPr>
          </a:p>
        </p:txBody>
      </p:sp>
      <p:sp>
        <p:nvSpPr>
          <p:cNvPr id="13" name="Rectangle 12">
            <a:extLst>
              <a:ext uri="{FF2B5EF4-FFF2-40B4-BE49-F238E27FC236}">
                <a16:creationId xmlns:a16="http://schemas.microsoft.com/office/drawing/2014/main" id="{FAD5A580-C624-4C6C-8641-0A068DDEB2BA}"/>
              </a:ext>
            </a:extLst>
          </p:cNvPr>
          <p:cNvSpPr/>
          <p:nvPr/>
        </p:nvSpPr>
        <p:spPr>
          <a:xfrm>
            <a:off x="2078830" y="3702070"/>
            <a:ext cx="1821657" cy="276999"/>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7E2A026A-E081-472E-A2BE-507CA27F04E0}"/>
              </a:ext>
            </a:extLst>
          </p:cNvPr>
          <p:cNvCxnSpPr>
            <a:cxnSpLocks/>
          </p:cNvCxnSpPr>
          <p:nvPr/>
        </p:nvCxnSpPr>
        <p:spPr>
          <a:xfrm flipH="1" flipV="1">
            <a:off x="3907630" y="3827569"/>
            <a:ext cx="407195" cy="169056"/>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205F4C7-6C8E-4FEF-9686-BB746D42A299}"/>
              </a:ext>
            </a:extLst>
          </p:cNvPr>
          <p:cNvSpPr txBox="1"/>
          <p:nvPr/>
        </p:nvSpPr>
        <p:spPr>
          <a:xfrm>
            <a:off x="4262138" y="3949048"/>
            <a:ext cx="6097190" cy="1754326"/>
          </a:xfrm>
          <a:prstGeom prst="rect">
            <a:avLst/>
          </a:prstGeom>
          <a:noFill/>
        </p:spPr>
        <p:txBody>
          <a:bodyPr wrap="square">
            <a:spAutoFit/>
          </a:bodyPr>
          <a:lstStyle/>
          <a:p>
            <a:r>
              <a:rPr lang="en-US" sz="1200" dirty="0">
                <a:solidFill>
                  <a:schemeClr val="accent6"/>
                </a:solidFill>
                <a:latin typeface="Cascadia Mono" panose="020B0609020000020004" pitchFamily="49" charset="0"/>
              </a:rPr>
              <a:t>Class template argument deduction</a:t>
            </a:r>
            <a:r>
              <a:rPr lang="ru-RU" sz="1200" dirty="0">
                <a:solidFill>
                  <a:schemeClr val="accent6"/>
                </a:solidFill>
                <a:latin typeface="Cascadia Mono" panose="020B0609020000020004" pitchFamily="49" charset="0"/>
              </a:rPr>
              <a:t>, равносильно </a:t>
            </a:r>
            <a:r>
              <a:rPr lang="en-US" sz="1200" dirty="0">
                <a:solidFill>
                  <a:schemeClr val="accent6"/>
                </a:solidFill>
                <a:latin typeface="Cascadia Mono" panose="020B0609020000020004" pitchFamily="49" charset="0"/>
              </a:rPr>
              <a:t>complex&lt;double&gt;</a:t>
            </a:r>
            <a:endParaRPr lang="ru-RU" sz="1200" dirty="0">
              <a:solidFill>
                <a:schemeClr val="accent6"/>
              </a:solidFill>
              <a:latin typeface="Cascadia Mono" panose="020B0609020000020004" pitchFamily="49" charset="0"/>
            </a:endParaRPr>
          </a:p>
          <a:p>
            <a:r>
              <a:rPr lang="ru-RU" sz="1200" b="0" i="0" dirty="0">
                <a:solidFill>
                  <a:srgbClr val="333333"/>
                </a:solidFill>
                <a:effectLst/>
                <a:latin typeface="Cascadia Code" panose="020B0609020000020004" pitchFamily="49" charset="0"/>
                <a:cs typeface="Cascadia Code" panose="020B0609020000020004" pitchFamily="49" charset="0"/>
              </a:rPr>
              <a:t>При инстанцировании шаблона функции можно явно не указывать те аргументы шаблона, которые могут быть выведены из типов фактических аргументов функции.</a:t>
            </a:r>
            <a:r>
              <a:rPr lang="en-US" sz="1200" b="0" i="0" dirty="0">
                <a:solidFill>
                  <a:srgbClr val="333333"/>
                </a:solidFill>
                <a:effectLst/>
                <a:latin typeface="Cascadia Code" panose="020B0609020000020004" pitchFamily="49" charset="0"/>
                <a:cs typeface="Cascadia Code" panose="020B0609020000020004" pitchFamily="49" charset="0"/>
              </a:rPr>
              <a:t> </a:t>
            </a:r>
            <a:r>
              <a:rPr lang="ru-RU" sz="1200" b="0" i="0" dirty="0">
                <a:solidFill>
                  <a:srgbClr val="333333"/>
                </a:solidFill>
                <a:effectLst/>
                <a:latin typeface="Cascadia Code" panose="020B0609020000020004" pitchFamily="49" charset="0"/>
                <a:cs typeface="Cascadia Code" panose="020B0609020000020004" pitchFamily="49" charset="0"/>
              </a:rPr>
              <a:t>В С++ 17 </a:t>
            </a:r>
            <a:r>
              <a:rPr lang="ru-RU" sz="1200" dirty="0">
                <a:solidFill>
                  <a:srgbClr val="333333"/>
                </a:solidFill>
                <a:latin typeface="Cascadia Code" panose="020B0609020000020004" pitchFamily="49" charset="0"/>
                <a:cs typeface="Cascadia Code" panose="020B0609020000020004" pitchFamily="49" charset="0"/>
              </a:rPr>
              <a:t>стандарте это работает на конструкторы.</a:t>
            </a:r>
          </a:p>
          <a:p>
            <a:r>
              <a:rPr lang="ru-RU" sz="1200" b="0" i="0" dirty="0">
                <a:solidFill>
                  <a:srgbClr val="333333"/>
                </a:solidFill>
                <a:effectLst/>
                <a:latin typeface="Cascadia Code" panose="020B0609020000020004" pitchFamily="49" charset="0"/>
                <a:cs typeface="Cascadia Code" panose="020B0609020000020004" pitchFamily="49" charset="0"/>
              </a:rPr>
              <a:t>Для практического применения достаточно запомнить простое правило: компилятор может самостоятельно вывести аргументы шаблона функции, если это можно сделать однозначно на основании имеющейся информации. </a:t>
            </a:r>
            <a:endParaRPr lang="en-US" sz="1200" dirty="0">
              <a:solidFill>
                <a:schemeClr val="accent6"/>
              </a:solidFill>
              <a:latin typeface="Cascadia Code" panose="020B0609020000020004" pitchFamily="49" charset="0"/>
              <a:cs typeface="Cascadia Code" panose="020B0609020000020004" pitchFamily="49" charset="0"/>
            </a:endParaRPr>
          </a:p>
        </p:txBody>
      </p:sp>
      <p:sp>
        <p:nvSpPr>
          <p:cNvPr id="17" name="Rectangle 16">
            <a:extLst>
              <a:ext uri="{FF2B5EF4-FFF2-40B4-BE49-F238E27FC236}">
                <a16:creationId xmlns:a16="http://schemas.microsoft.com/office/drawing/2014/main" id="{9317191D-C5C0-4AF1-9B6B-A62783972573}"/>
              </a:ext>
            </a:extLst>
          </p:cNvPr>
          <p:cNvSpPr/>
          <p:nvPr/>
        </p:nvSpPr>
        <p:spPr>
          <a:xfrm>
            <a:off x="901302" y="3699302"/>
            <a:ext cx="1026322" cy="276999"/>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F8D168DF-CA54-405D-BC92-1CB5DBAA554B}"/>
              </a:ext>
            </a:extLst>
          </p:cNvPr>
          <p:cNvCxnSpPr>
            <a:cxnSpLocks/>
          </p:cNvCxnSpPr>
          <p:nvPr/>
        </p:nvCxnSpPr>
        <p:spPr>
          <a:xfrm flipH="1" flipV="1">
            <a:off x="1952034" y="3996625"/>
            <a:ext cx="2310104" cy="10676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13368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#include &lt;complex&gt;</a:t>
            </a:r>
          </a:p>
        </p:txBody>
      </p:sp>
      <p:sp>
        <p:nvSpPr>
          <p:cNvPr id="15" name="TextBox 14">
            <a:extLst>
              <a:ext uri="{FF2B5EF4-FFF2-40B4-BE49-F238E27FC236}">
                <a16:creationId xmlns:a16="http://schemas.microsoft.com/office/drawing/2014/main" id="{507AC0AF-28F9-4AF3-AEB4-38C840AF4515}"/>
              </a:ext>
            </a:extLst>
          </p:cNvPr>
          <p:cNvSpPr txBox="1"/>
          <p:nvPr/>
        </p:nvSpPr>
        <p:spPr>
          <a:xfrm>
            <a:off x="783131" y="1592933"/>
            <a:ext cx="3703144" cy="276999"/>
          </a:xfrm>
          <a:prstGeom prst="rect">
            <a:avLst/>
          </a:prstGeom>
          <a:noFill/>
        </p:spPr>
        <p:txBody>
          <a:bodyPr wrap="square">
            <a:spAutoFit/>
          </a:bodyPr>
          <a:lstStyle/>
          <a:p>
            <a:r>
              <a:rPr lang="ru-RU" sz="1200" dirty="0">
                <a:latin typeface="Cascadia Mono" panose="020B0609020000020004" pitchFamily="49" charset="0"/>
                <a:cs typeface="Cascadia Code" panose="020B0609020000020004" pitchFamily="49" charset="0"/>
              </a:rPr>
              <a:t>12 раз объявляется </a:t>
            </a:r>
            <a:r>
              <a:rPr lang="en-US" sz="1200" dirty="0">
                <a:latin typeface="Cascadia Mono" panose="020B0609020000020004" pitchFamily="49" charset="0"/>
              </a:rPr>
              <a:t>complex&amp; operator*=</a:t>
            </a:r>
            <a:endParaRPr lang="en-US" sz="1200" dirty="0">
              <a:latin typeface="Cascadia Code" panose="020B0609020000020004" pitchFamily="49" charset="0"/>
              <a:cs typeface="Cascadia Code" panose="020B0609020000020004" pitchFamily="49" charset="0"/>
            </a:endParaRPr>
          </a:p>
        </p:txBody>
      </p:sp>
      <p:sp>
        <p:nvSpPr>
          <p:cNvPr id="19" name="TextBox 18">
            <a:extLst>
              <a:ext uri="{FF2B5EF4-FFF2-40B4-BE49-F238E27FC236}">
                <a16:creationId xmlns:a16="http://schemas.microsoft.com/office/drawing/2014/main" id="{F0BEDFAB-AA5A-4322-AC37-06AA15B8756A}"/>
              </a:ext>
            </a:extLst>
          </p:cNvPr>
          <p:cNvSpPr txBox="1"/>
          <p:nvPr/>
        </p:nvSpPr>
        <p:spPr>
          <a:xfrm>
            <a:off x="618825" y="1315934"/>
            <a:ext cx="7251208" cy="276999"/>
          </a:xfrm>
          <a:prstGeom prst="rect">
            <a:avLst/>
          </a:prstGeom>
          <a:noFill/>
        </p:spPr>
        <p:txBody>
          <a:bodyPr wrap="square">
            <a:spAutoFit/>
          </a:bodyPr>
          <a:lstStyle/>
          <a:p>
            <a:r>
              <a:rPr lang="ru-RU" sz="1200" dirty="0">
                <a:latin typeface="Cascadia Mono" panose="020B0609020000020004" pitchFamily="49" charset="0"/>
                <a:cs typeface="Cascadia Code" panose="020B0609020000020004" pitchFamily="49" charset="0"/>
              </a:rPr>
              <a:t>В реализации </a:t>
            </a:r>
            <a:r>
              <a:rPr lang="en-US" sz="1200" dirty="0">
                <a:latin typeface="Cascadia Mono" panose="020B0609020000020004" pitchFamily="49" charset="0"/>
                <a:cs typeface="Cascadia Code" panose="020B0609020000020004" pitchFamily="49" charset="0"/>
              </a:rPr>
              <a:t>complex </a:t>
            </a:r>
            <a:r>
              <a:rPr lang="ru-RU" sz="1200" dirty="0">
                <a:latin typeface="Cascadia Mono" panose="020B0609020000020004" pitchFamily="49" charset="0"/>
                <a:cs typeface="Cascadia Code" panose="020B0609020000020004" pitchFamily="49" charset="0"/>
              </a:rPr>
              <a:t>типа в </a:t>
            </a:r>
            <a:r>
              <a:rPr lang="en-US" sz="1200" dirty="0">
                <a:latin typeface="Cascadia Mono" panose="020B0609020000020004" pitchFamily="49" charset="0"/>
                <a:cs typeface="Cascadia Code" panose="020B0609020000020004" pitchFamily="49" charset="0"/>
              </a:rPr>
              <a:t>standard template library </a:t>
            </a:r>
            <a:r>
              <a:rPr lang="ru-RU" sz="1200" dirty="0">
                <a:latin typeface="Cascadia Mono" panose="020B0609020000020004" pitchFamily="49" charset="0"/>
                <a:cs typeface="Cascadia Code" panose="020B0609020000020004" pitchFamily="49" charset="0"/>
              </a:rPr>
              <a:t>реализации от </a:t>
            </a:r>
            <a:r>
              <a:rPr lang="en-US" sz="1200" dirty="0">
                <a:latin typeface="Cascadia Mono" panose="020B0609020000020004" pitchFamily="49" charset="0"/>
                <a:cs typeface="Cascadia Code" panose="020B0609020000020004" pitchFamily="49" charset="0"/>
              </a:rPr>
              <a:t>MSVC </a:t>
            </a:r>
            <a:endParaRPr lang="en-US" sz="1200" dirty="0">
              <a:latin typeface="Cascadia Code" panose="020B0609020000020004" pitchFamily="49" charset="0"/>
              <a:cs typeface="Cascadia Code" panose="020B0609020000020004" pitchFamily="49" charset="0"/>
            </a:endParaRPr>
          </a:p>
        </p:txBody>
      </p:sp>
      <p:sp>
        <p:nvSpPr>
          <p:cNvPr id="20" name="TextBox 19">
            <a:extLst>
              <a:ext uri="{FF2B5EF4-FFF2-40B4-BE49-F238E27FC236}">
                <a16:creationId xmlns:a16="http://schemas.microsoft.com/office/drawing/2014/main" id="{952860BE-2E9B-4C4D-941B-8A22C9374B0D}"/>
              </a:ext>
            </a:extLst>
          </p:cNvPr>
          <p:cNvSpPr txBox="1"/>
          <p:nvPr/>
        </p:nvSpPr>
        <p:spPr>
          <a:xfrm>
            <a:off x="618825" y="4129422"/>
            <a:ext cx="7582495" cy="1661993"/>
          </a:xfrm>
          <a:prstGeom prst="rect">
            <a:avLst/>
          </a:prstGeom>
          <a:noFill/>
        </p:spPr>
        <p:txBody>
          <a:bodyPr wrap="square">
            <a:spAutoFit/>
          </a:bodyPr>
          <a:lstStyle/>
          <a:p>
            <a:endParaRPr lang="en-US" sz="18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template</a:t>
            </a:r>
            <a:r>
              <a:rPr lang="en-US" sz="1200" dirty="0">
                <a:solidFill>
                  <a:srgbClr val="000000"/>
                </a:solidFill>
                <a:latin typeface="Cascadia Mono" panose="020B0609020000020004" pitchFamily="49" charset="0"/>
              </a:rPr>
              <a:t> &lt;&gt;</a:t>
            </a:r>
          </a:p>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&lt;</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&gt; :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_</a:t>
            </a:r>
            <a:r>
              <a:rPr lang="en-US" sz="1200" dirty="0" err="1">
                <a:solidFill>
                  <a:srgbClr val="2B91AF"/>
                </a:solidFill>
                <a:latin typeface="Cascadia Mono" panose="020B0609020000020004" pitchFamily="49" charset="0"/>
              </a:rPr>
              <a:t>Complex_base</a:t>
            </a:r>
            <a:r>
              <a:rPr lang="en-US" sz="1200" dirty="0">
                <a:solidFill>
                  <a:srgbClr val="000000"/>
                </a:solidFill>
                <a:latin typeface="Cascadia Mono" panose="020B0609020000020004" pitchFamily="49" charset="0"/>
              </a:rPr>
              <a:t>&lt;</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_</a:t>
            </a:r>
            <a:r>
              <a:rPr lang="en-US" sz="1200" dirty="0" err="1">
                <a:solidFill>
                  <a:srgbClr val="2B91AF"/>
                </a:solidFill>
                <a:latin typeface="Cascadia Mono" panose="020B0609020000020004" pitchFamily="49" charset="0"/>
              </a:rPr>
              <a:t>Fcomplex_value</a:t>
            </a:r>
            <a:r>
              <a:rPr lang="en-US" sz="1200" dirty="0">
                <a:solidFill>
                  <a:srgbClr val="000000"/>
                </a:solidFill>
                <a:latin typeface="Cascadia Mono" panose="020B0609020000020004" pitchFamily="49" charset="0"/>
              </a:rPr>
              <a:t>&gt; {</a:t>
            </a:r>
          </a:p>
          <a:p>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using</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_Ty</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float</a:t>
            </a:r>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err="1">
                <a:solidFill>
                  <a:srgbClr val="0000FF"/>
                </a:solidFill>
                <a:latin typeface="Cascadia Mono" panose="020B0609020000020004" pitchFamily="49" charset="0"/>
              </a:rPr>
              <a:t>constexpr</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explicit</a:t>
            </a:r>
            <a:r>
              <a:rPr lang="en-US" sz="1200" dirty="0">
                <a:solidFill>
                  <a:srgbClr val="000000"/>
                </a:solidFill>
                <a:latin typeface="Cascadia Mono" panose="020B0609020000020004" pitchFamily="49" charset="0"/>
              </a:rPr>
              <a:t> complex(</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&lt;</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&gt;&amp;); </a:t>
            </a:r>
          </a:p>
          <a:p>
            <a:r>
              <a:rPr lang="en-US" sz="1200" dirty="0">
                <a:solidFill>
                  <a:srgbClr val="000000"/>
                </a:solidFill>
                <a:latin typeface="Cascadia Mono" panose="020B0609020000020004" pitchFamily="49" charset="0"/>
              </a:rPr>
              <a:t>    </a:t>
            </a:r>
            <a:r>
              <a:rPr lang="en-US" sz="1200" dirty="0" err="1">
                <a:solidFill>
                  <a:srgbClr val="0000FF"/>
                </a:solidFill>
                <a:latin typeface="Cascadia Mono" panose="020B0609020000020004" pitchFamily="49" charset="0"/>
              </a:rPr>
              <a:t>constexpr</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explicit</a:t>
            </a:r>
            <a:r>
              <a:rPr lang="en-US" sz="1200" dirty="0">
                <a:solidFill>
                  <a:srgbClr val="000000"/>
                </a:solidFill>
                <a:latin typeface="Cascadia Mono" panose="020B0609020000020004" pitchFamily="49" charset="0"/>
              </a:rPr>
              <a:t> complex(</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complex</a:t>
            </a:r>
            <a:r>
              <a:rPr lang="en-US" sz="1200" dirty="0">
                <a:solidFill>
                  <a:srgbClr val="000000"/>
                </a:solidFill>
                <a:latin typeface="Cascadia Mono" panose="020B0609020000020004" pitchFamily="49" charset="0"/>
              </a:rPr>
              <a:t>&lt;</a:t>
            </a:r>
            <a:r>
              <a:rPr lang="en-US" sz="1200" dirty="0">
                <a:solidFill>
                  <a:srgbClr val="0000FF"/>
                </a:solidFill>
                <a:latin typeface="Cascadia Mono" panose="020B0609020000020004" pitchFamily="49" charset="0"/>
              </a:rPr>
              <a:t>long</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&gt;&amp;); </a:t>
            </a:r>
            <a:endParaRPr lang="en-US" sz="1200" dirty="0"/>
          </a:p>
        </p:txBody>
      </p:sp>
      <p:sp>
        <p:nvSpPr>
          <p:cNvPr id="21" name="TextBox 20">
            <a:extLst>
              <a:ext uri="{FF2B5EF4-FFF2-40B4-BE49-F238E27FC236}">
                <a16:creationId xmlns:a16="http://schemas.microsoft.com/office/drawing/2014/main" id="{EBE77E3B-75DD-4AD0-A42C-09C3192F2D22}"/>
              </a:ext>
            </a:extLst>
          </p:cNvPr>
          <p:cNvSpPr txBox="1"/>
          <p:nvPr/>
        </p:nvSpPr>
        <p:spPr>
          <a:xfrm>
            <a:off x="618825" y="4129422"/>
            <a:ext cx="3703144" cy="276999"/>
          </a:xfrm>
          <a:prstGeom prst="rect">
            <a:avLst/>
          </a:prstGeom>
          <a:noFill/>
        </p:spPr>
        <p:txBody>
          <a:bodyPr wrap="square">
            <a:spAutoFit/>
          </a:bodyPr>
          <a:lstStyle/>
          <a:p>
            <a:r>
              <a:rPr lang="en-US" sz="1200" dirty="0">
                <a:latin typeface="Cascadia Mono" panose="020B0609020000020004" pitchFamily="49" charset="0"/>
                <a:cs typeface="Cascadia Code" panose="020B0609020000020004" pitchFamily="49" charset="0"/>
              </a:rPr>
              <a:t>Complex class header</a:t>
            </a:r>
            <a:endParaRPr lang="en-US" sz="1200" dirty="0">
              <a:latin typeface="Cascadia Code" panose="020B0609020000020004" pitchFamily="49" charset="0"/>
              <a:cs typeface="Cascadia Code" panose="020B0609020000020004" pitchFamily="49" charset="0"/>
            </a:endParaRPr>
          </a:p>
        </p:txBody>
      </p:sp>
      <p:sp>
        <p:nvSpPr>
          <p:cNvPr id="22" name="TextBox 21">
            <a:extLst>
              <a:ext uri="{FF2B5EF4-FFF2-40B4-BE49-F238E27FC236}">
                <a16:creationId xmlns:a16="http://schemas.microsoft.com/office/drawing/2014/main" id="{6257D8BE-FD3E-40A4-BBEF-319B8B85304A}"/>
              </a:ext>
            </a:extLst>
          </p:cNvPr>
          <p:cNvSpPr txBox="1"/>
          <p:nvPr/>
        </p:nvSpPr>
        <p:spPr>
          <a:xfrm>
            <a:off x="783131" y="1869931"/>
            <a:ext cx="3703144" cy="276999"/>
          </a:xfrm>
          <a:prstGeom prst="rect">
            <a:avLst/>
          </a:prstGeom>
          <a:noFill/>
        </p:spPr>
        <p:txBody>
          <a:bodyPr wrap="square">
            <a:spAutoFit/>
          </a:bodyPr>
          <a:lstStyle/>
          <a:p>
            <a:r>
              <a:rPr lang="ru-RU" sz="1200" dirty="0">
                <a:latin typeface="Cascadia Mono" panose="020B0609020000020004" pitchFamily="49" charset="0"/>
                <a:cs typeface="Cascadia Code" panose="020B0609020000020004" pitchFamily="49" charset="0"/>
              </a:rPr>
              <a:t>Нет не единого </a:t>
            </a:r>
            <a:r>
              <a:rPr lang="en-US" sz="1200" dirty="0">
                <a:latin typeface="Cascadia Mono" panose="020B0609020000020004" pitchFamily="49" charset="0"/>
                <a:cs typeface="Cascadia Code" panose="020B0609020000020004" pitchFamily="49" charset="0"/>
              </a:rPr>
              <a:t>friend</a:t>
            </a:r>
            <a:endParaRPr lang="en-US" sz="1200" dirty="0">
              <a:latin typeface="Cascadia Code" panose="020B0609020000020004" pitchFamily="49" charset="0"/>
              <a:cs typeface="Cascadia Code" panose="020B0609020000020004" pitchFamily="49" charset="0"/>
            </a:endParaRPr>
          </a:p>
        </p:txBody>
      </p:sp>
      <p:sp>
        <p:nvSpPr>
          <p:cNvPr id="23" name="TextBox 22">
            <a:extLst>
              <a:ext uri="{FF2B5EF4-FFF2-40B4-BE49-F238E27FC236}">
                <a16:creationId xmlns:a16="http://schemas.microsoft.com/office/drawing/2014/main" id="{6465FDA3-9279-412E-9D59-23AA63020A61}"/>
              </a:ext>
            </a:extLst>
          </p:cNvPr>
          <p:cNvSpPr txBox="1"/>
          <p:nvPr/>
        </p:nvSpPr>
        <p:spPr>
          <a:xfrm>
            <a:off x="783131" y="2150248"/>
            <a:ext cx="9139538" cy="276999"/>
          </a:xfrm>
          <a:prstGeom prst="rect">
            <a:avLst/>
          </a:prstGeom>
          <a:noFill/>
        </p:spPr>
        <p:txBody>
          <a:bodyPr wrap="square">
            <a:spAutoFit/>
          </a:bodyPr>
          <a:lstStyle/>
          <a:p>
            <a:r>
              <a:rPr lang="ru-RU" sz="1200" dirty="0">
                <a:latin typeface="Cascadia Mono" panose="020B0609020000020004" pitchFamily="49" charset="0"/>
                <a:cs typeface="Cascadia Code" panose="020B0609020000020004" pitchFamily="49" charset="0"/>
              </a:rPr>
              <a:t>Используются интринзики для оптимизации аналогичные </a:t>
            </a:r>
            <a:r>
              <a:rPr lang="en-US" sz="1200" dirty="0">
                <a:latin typeface="Cascadia Mono" panose="020B0609020000020004" pitchFamily="49" charset="0"/>
                <a:cs typeface="Cascadia Code" panose="020B0609020000020004" pitchFamily="49" charset="0"/>
              </a:rPr>
              <a:t>SIMD</a:t>
            </a:r>
          </a:p>
        </p:txBody>
      </p:sp>
      <p:sp>
        <p:nvSpPr>
          <p:cNvPr id="24" name="TextBox 23">
            <a:extLst>
              <a:ext uri="{FF2B5EF4-FFF2-40B4-BE49-F238E27FC236}">
                <a16:creationId xmlns:a16="http://schemas.microsoft.com/office/drawing/2014/main" id="{B7AA517A-23A0-4808-9D8F-E2129F7754D9}"/>
              </a:ext>
            </a:extLst>
          </p:cNvPr>
          <p:cNvSpPr txBox="1"/>
          <p:nvPr/>
        </p:nvSpPr>
        <p:spPr>
          <a:xfrm>
            <a:off x="783131" y="2437077"/>
            <a:ext cx="9139538" cy="276999"/>
          </a:xfrm>
          <a:prstGeom prst="rect">
            <a:avLst/>
          </a:prstGeom>
          <a:noFill/>
        </p:spPr>
        <p:txBody>
          <a:bodyPr wrap="square">
            <a:spAutoFit/>
          </a:bodyPr>
          <a:lstStyle/>
          <a:p>
            <a:r>
              <a:rPr lang="ru-RU" sz="1200" dirty="0">
                <a:latin typeface="Cascadia Mono" panose="020B0609020000020004" pitchFamily="49" charset="0"/>
                <a:cs typeface="Cascadia Code" panose="020B0609020000020004" pitchFamily="49" charset="0"/>
              </a:rPr>
              <a:t>Отдельные специализации шаблонов для </a:t>
            </a:r>
            <a:r>
              <a:rPr lang="en-US" sz="1200" dirty="0">
                <a:latin typeface="Cascadia Mono" panose="020B0609020000020004" pitchFamily="49" charset="0"/>
                <a:cs typeface="Cascadia Code" panose="020B0609020000020004" pitchFamily="49" charset="0"/>
              </a:rPr>
              <a:t>float, double, long double</a:t>
            </a:r>
          </a:p>
        </p:txBody>
      </p:sp>
      <p:sp>
        <p:nvSpPr>
          <p:cNvPr id="25" name="TextBox 24">
            <a:extLst>
              <a:ext uri="{FF2B5EF4-FFF2-40B4-BE49-F238E27FC236}">
                <a16:creationId xmlns:a16="http://schemas.microsoft.com/office/drawing/2014/main" id="{98CB185B-D03A-46EF-9491-6FC8F4F95AE5}"/>
              </a:ext>
            </a:extLst>
          </p:cNvPr>
          <p:cNvSpPr txBox="1"/>
          <p:nvPr/>
        </p:nvSpPr>
        <p:spPr>
          <a:xfrm>
            <a:off x="679994" y="3422088"/>
            <a:ext cx="9345811" cy="276999"/>
          </a:xfrm>
          <a:prstGeom prst="rect">
            <a:avLst/>
          </a:prstGeom>
          <a:noFill/>
        </p:spPr>
        <p:txBody>
          <a:bodyPr wrap="square">
            <a:spAutoFit/>
          </a:bodyPr>
          <a:lstStyle/>
          <a:p>
            <a:r>
              <a:rPr lang="en-US" sz="1200" dirty="0">
                <a:solidFill>
                  <a:srgbClr val="000000"/>
                </a:solidFill>
                <a:latin typeface="Cascadia Mono" panose="020B0609020000020004" pitchFamily="49" charset="0"/>
              </a:rPr>
              <a:t>[[</a:t>
            </a:r>
            <a:r>
              <a:rPr lang="en-US" sz="1200" dirty="0" err="1">
                <a:solidFill>
                  <a:srgbClr val="000000"/>
                </a:solidFill>
                <a:latin typeface="Cascadia Mono" panose="020B0609020000020004" pitchFamily="49" charset="0"/>
              </a:rPr>
              <a:t>nodiscard</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inline</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_Sqr_error_x86_x64_fma(</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_</a:t>
            </a:r>
            <a:r>
              <a:rPr lang="en-US" sz="1200" dirty="0" err="1">
                <a:solidFill>
                  <a:srgbClr val="808080"/>
                </a:solidFill>
                <a:latin typeface="Cascadia Mono" panose="020B0609020000020004" pitchFamily="49" charset="0"/>
              </a:rPr>
              <a:t>Xval</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_Prod0</a:t>
            </a:r>
            <a:r>
              <a:rPr lang="en-US" sz="1200" dirty="0">
                <a:solidFill>
                  <a:srgbClr val="000000"/>
                </a:solidFill>
                <a:latin typeface="Cascadia Mono" panose="020B0609020000020004" pitchFamily="49" charset="0"/>
              </a:rPr>
              <a:t>) </a:t>
            </a:r>
            <a:r>
              <a:rPr lang="en-US" sz="1200" dirty="0" err="1">
                <a:solidFill>
                  <a:srgbClr val="0000FF"/>
                </a:solidFill>
                <a:latin typeface="Cascadia Mono" panose="020B0609020000020004" pitchFamily="49" charset="0"/>
              </a:rPr>
              <a:t>noexcept</a:t>
            </a:r>
            <a:endParaRPr lang="en-US" sz="1200" dirty="0"/>
          </a:p>
        </p:txBody>
      </p:sp>
      <p:sp>
        <p:nvSpPr>
          <p:cNvPr id="26" name="TextBox 25">
            <a:extLst>
              <a:ext uri="{FF2B5EF4-FFF2-40B4-BE49-F238E27FC236}">
                <a16:creationId xmlns:a16="http://schemas.microsoft.com/office/drawing/2014/main" id="{B7A5A1D1-FC28-4327-8CE3-BECE93CF39C1}"/>
              </a:ext>
            </a:extLst>
          </p:cNvPr>
          <p:cNvSpPr txBox="1"/>
          <p:nvPr/>
        </p:nvSpPr>
        <p:spPr>
          <a:xfrm>
            <a:off x="679994" y="3145089"/>
            <a:ext cx="9139538" cy="276999"/>
          </a:xfrm>
          <a:prstGeom prst="rect">
            <a:avLst/>
          </a:prstGeom>
          <a:noFill/>
        </p:spPr>
        <p:txBody>
          <a:bodyPr wrap="square">
            <a:spAutoFit/>
          </a:bodyPr>
          <a:lstStyle/>
          <a:p>
            <a:r>
              <a:rPr lang="ru-RU" sz="1200" dirty="0">
                <a:latin typeface="Cascadia Mono" panose="020B0609020000020004" pitchFamily="49" charset="0"/>
                <a:cs typeface="Cascadia Code" panose="020B0609020000020004" pitchFamily="49" charset="0"/>
              </a:rPr>
              <a:t>Пример объявления функции</a:t>
            </a:r>
            <a:r>
              <a:rPr lang="en-US" sz="1200" dirty="0">
                <a:latin typeface="Cascadia Mono"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40488213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ru-RU" dirty="0">
                <a:latin typeface="Segoe UI Light" panose="020B0502040204020203" pitchFamily="34" charset="0"/>
                <a:cs typeface="Segoe UI Light" panose="020B0502040204020203" pitchFamily="34" charset="0"/>
              </a:rPr>
              <a:t>Задание</a:t>
            </a:r>
            <a:endParaRPr lang="en-US" dirty="0">
              <a:latin typeface="Segoe UI Light" panose="020B0502040204020203" pitchFamily="34" charset="0"/>
              <a:cs typeface="Segoe UI Light" panose="020B0502040204020203" pitchFamily="34" charset="0"/>
            </a:endParaRPr>
          </a:p>
        </p:txBody>
      </p:sp>
      <p:sp>
        <p:nvSpPr>
          <p:cNvPr id="5" name="TextBox 4">
            <a:extLst>
              <a:ext uri="{FF2B5EF4-FFF2-40B4-BE49-F238E27FC236}">
                <a16:creationId xmlns:a16="http://schemas.microsoft.com/office/drawing/2014/main" id="{D7353289-69A5-4447-A36F-E2394333E9C0}"/>
              </a:ext>
            </a:extLst>
          </p:cNvPr>
          <p:cNvSpPr txBox="1"/>
          <p:nvPr/>
        </p:nvSpPr>
        <p:spPr>
          <a:xfrm>
            <a:off x="729257" y="1562279"/>
            <a:ext cx="9288661" cy="4185761"/>
          </a:xfrm>
          <a:prstGeom prst="rect">
            <a:avLst/>
          </a:prstGeom>
          <a:noFill/>
        </p:spPr>
        <p:txBody>
          <a:bodyPr wrap="square">
            <a:spAutoFit/>
          </a:bodyPr>
          <a:lstStyle/>
          <a:p>
            <a:r>
              <a:rPr lang="en-US" sz="1400" dirty="0"/>
              <a:t>Rational Number</a:t>
            </a:r>
          </a:p>
          <a:p>
            <a:r>
              <a:rPr lang="ru-RU" sz="1400" dirty="0"/>
              <a:t>Класс для работы с р</a:t>
            </a:r>
            <a:r>
              <a:rPr lang="en-US" sz="1400" dirty="0" err="1"/>
              <a:t>ациональн</a:t>
            </a:r>
            <a:r>
              <a:rPr lang="ru-RU" sz="1400" dirty="0"/>
              <a:t>ыми</a:t>
            </a:r>
            <a:r>
              <a:rPr lang="en-US" sz="1400" dirty="0"/>
              <a:t> </a:t>
            </a:r>
            <a:r>
              <a:rPr lang="en-US" sz="1400" dirty="0" err="1"/>
              <a:t>числ</a:t>
            </a:r>
            <a:r>
              <a:rPr lang="ru-RU" sz="1400" dirty="0"/>
              <a:t>ами</a:t>
            </a:r>
            <a:r>
              <a:rPr lang="en-US" sz="1400" dirty="0"/>
              <a:t> </a:t>
            </a:r>
          </a:p>
          <a:p>
            <a:r>
              <a:rPr lang="ru-RU" sz="1400" dirty="0"/>
              <a:t>Рациональное число </a:t>
            </a:r>
            <a:r>
              <a:rPr lang="en-US" sz="1400" dirty="0" err="1"/>
              <a:t>можно</a:t>
            </a:r>
            <a:r>
              <a:rPr lang="en-US" sz="1400" dirty="0"/>
              <a:t> </a:t>
            </a:r>
            <a:r>
              <a:rPr lang="en-US" sz="1400" dirty="0" err="1"/>
              <a:t>представить</a:t>
            </a:r>
            <a:r>
              <a:rPr lang="en-US" sz="1400" dirty="0"/>
              <a:t> </a:t>
            </a:r>
            <a:r>
              <a:rPr lang="en-US" sz="1400" dirty="0" err="1"/>
              <a:t>как</a:t>
            </a:r>
            <a:r>
              <a:rPr lang="en-US" sz="1400" dirty="0"/>
              <a:t> a/b, </a:t>
            </a:r>
            <a:r>
              <a:rPr lang="en-US" sz="1400" dirty="0" err="1"/>
              <a:t>где</a:t>
            </a:r>
            <a:r>
              <a:rPr lang="en-US" sz="1400" dirty="0"/>
              <a:t> </a:t>
            </a:r>
            <a:r>
              <a:rPr lang="en-US" sz="1400" dirty="0" err="1"/>
              <a:t>a,b</a:t>
            </a:r>
            <a:r>
              <a:rPr lang="en-US" sz="1400" dirty="0"/>
              <a:t> - </a:t>
            </a:r>
            <a:r>
              <a:rPr lang="en-US" sz="1400" dirty="0" err="1"/>
              <a:t>целые</a:t>
            </a:r>
            <a:r>
              <a:rPr lang="en-US" sz="1400" dirty="0"/>
              <a:t> </a:t>
            </a:r>
            <a:r>
              <a:rPr lang="en-US" sz="1400" dirty="0" err="1"/>
              <a:t>числа</a:t>
            </a:r>
            <a:endParaRPr lang="ru-RU" sz="1400" dirty="0"/>
          </a:p>
          <a:p>
            <a:endParaRPr lang="en-US" sz="1400" dirty="0"/>
          </a:p>
          <a:p>
            <a:r>
              <a:rPr lang="en-US" sz="1400" dirty="0"/>
              <a:t>	</a:t>
            </a:r>
            <a:r>
              <a:rPr lang="en-US" sz="1400" dirty="0" err="1"/>
              <a:t>Операторы</a:t>
            </a:r>
            <a:r>
              <a:rPr lang="en-US" sz="1400" dirty="0"/>
              <a:t> </a:t>
            </a:r>
            <a:r>
              <a:rPr lang="en-US" sz="1400" dirty="0" err="1"/>
              <a:t>над</a:t>
            </a:r>
            <a:r>
              <a:rPr lang="en-US" sz="1400" dirty="0"/>
              <a:t> </a:t>
            </a:r>
            <a:r>
              <a:rPr lang="en-US" sz="1400" dirty="0" err="1"/>
              <a:t>рациональными</a:t>
            </a:r>
            <a:r>
              <a:rPr lang="en-US" sz="1400" dirty="0"/>
              <a:t> </a:t>
            </a:r>
            <a:r>
              <a:rPr lang="en-US" sz="1400" dirty="0" err="1"/>
              <a:t>чиcлами</a:t>
            </a:r>
            <a:r>
              <a:rPr lang="en-US" sz="1400" dirty="0"/>
              <a:t> + /</a:t>
            </a:r>
          </a:p>
          <a:p>
            <a:r>
              <a:rPr lang="en-US" sz="1400" dirty="0"/>
              <a:t>		Rational operator+(const Rational &amp; a, const Rational &amp; b)</a:t>
            </a:r>
          </a:p>
          <a:p>
            <a:r>
              <a:rPr lang="en-US" sz="1400" dirty="0"/>
              <a:t>		Rational operator/(int64_t </a:t>
            </a:r>
            <a:r>
              <a:rPr lang="en-US" sz="1400" dirty="0" err="1"/>
              <a:t>i</a:t>
            </a:r>
            <a:r>
              <a:rPr lang="en-US" sz="1400" dirty="0"/>
              <a:t>, const Rational&amp; r);</a:t>
            </a:r>
          </a:p>
          <a:p>
            <a:r>
              <a:rPr lang="en-US" sz="1400" dirty="0"/>
              <a:t>	</a:t>
            </a:r>
          </a:p>
          <a:p>
            <a:r>
              <a:rPr lang="en-US" sz="1400" dirty="0"/>
              <a:t>	</a:t>
            </a:r>
            <a:r>
              <a:rPr lang="en-US" sz="1400" dirty="0" err="1"/>
              <a:t>Метод</a:t>
            </a:r>
            <a:r>
              <a:rPr lang="en-US" sz="1400" dirty="0"/>
              <a:t> </a:t>
            </a:r>
            <a:r>
              <a:rPr lang="en-US" sz="1400" dirty="0" err="1"/>
              <a:t>конверсии</a:t>
            </a:r>
            <a:r>
              <a:rPr lang="en-US" sz="1400" dirty="0"/>
              <a:t> в double </a:t>
            </a:r>
            <a:r>
              <a:rPr lang="en-US" sz="1400" dirty="0" err="1"/>
              <a:t>тип</a:t>
            </a:r>
            <a:r>
              <a:rPr lang="en-US" sz="1400" dirty="0"/>
              <a:t> </a:t>
            </a:r>
            <a:r>
              <a:rPr lang="en-US" sz="1400" dirty="0" err="1"/>
              <a:t>to_double</a:t>
            </a:r>
            <a:r>
              <a:rPr lang="en-US" sz="1400" dirty="0"/>
              <a:t>()</a:t>
            </a:r>
          </a:p>
          <a:p>
            <a:r>
              <a:rPr lang="en-US" sz="1400" dirty="0"/>
              <a:t>	int64_t </a:t>
            </a:r>
            <a:r>
              <a:rPr lang="en-US" sz="1400" dirty="0" err="1"/>
              <a:t>тип</a:t>
            </a:r>
            <a:r>
              <a:rPr lang="en-US" sz="1400" dirty="0"/>
              <a:t> </a:t>
            </a:r>
            <a:r>
              <a:rPr lang="en-US" sz="1400" dirty="0" err="1"/>
              <a:t>целых</a:t>
            </a:r>
            <a:r>
              <a:rPr lang="en-US" sz="1400" dirty="0"/>
              <a:t> </a:t>
            </a:r>
            <a:r>
              <a:rPr lang="en-US" sz="1400" dirty="0" err="1"/>
              <a:t>чисел</a:t>
            </a:r>
            <a:endParaRPr lang="ru-RU" sz="1400" dirty="0"/>
          </a:p>
          <a:p>
            <a:endParaRPr lang="en-US" sz="1400" dirty="0"/>
          </a:p>
          <a:p>
            <a:r>
              <a:rPr lang="en-US" sz="1400" dirty="0" err="1"/>
              <a:t>Код</a:t>
            </a:r>
            <a:r>
              <a:rPr lang="en-US" sz="1400" dirty="0"/>
              <a:t> </a:t>
            </a:r>
            <a:r>
              <a:rPr lang="en-US" sz="1400" dirty="0" err="1"/>
              <a:t>для</a:t>
            </a:r>
            <a:r>
              <a:rPr lang="en-US" sz="1400" dirty="0"/>
              <a:t> </a:t>
            </a:r>
            <a:r>
              <a:rPr lang="en-US" sz="1400" dirty="0" err="1"/>
              <a:t>проверки</a:t>
            </a:r>
            <a:r>
              <a:rPr lang="en-US" sz="1400" dirty="0"/>
              <a:t> Rational </a:t>
            </a:r>
            <a:r>
              <a:rPr lang="en-US" sz="1400" dirty="0" err="1"/>
              <a:t>класса</a:t>
            </a:r>
            <a:r>
              <a:rPr lang="en-US" sz="1400" dirty="0"/>
              <a:t> (</a:t>
            </a:r>
            <a:r>
              <a:rPr lang="en-US" sz="1400" dirty="0" err="1"/>
              <a:t>расчет</a:t>
            </a:r>
            <a:r>
              <a:rPr lang="en-US" sz="1400" dirty="0"/>
              <a:t> </a:t>
            </a:r>
            <a:r>
              <a:rPr lang="en-US" sz="1400" dirty="0" err="1"/>
              <a:t>золотого</a:t>
            </a:r>
            <a:r>
              <a:rPr lang="en-US" sz="1400" dirty="0"/>
              <a:t> </a:t>
            </a:r>
            <a:r>
              <a:rPr lang="en-US" sz="1400" dirty="0" err="1"/>
              <a:t>сечения</a:t>
            </a:r>
            <a:r>
              <a:rPr lang="en-US" sz="1400" dirty="0"/>
              <a:t>):</a:t>
            </a:r>
          </a:p>
          <a:p>
            <a:r>
              <a:rPr lang="en-US" sz="1400" dirty="0"/>
              <a:t>	const </a:t>
            </a:r>
            <a:r>
              <a:rPr lang="en-US" sz="1400" dirty="0" err="1"/>
              <a:t>size_t</a:t>
            </a:r>
            <a:r>
              <a:rPr lang="en-US" sz="1400" dirty="0"/>
              <a:t> ITER = 40;</a:t>
            </a:r>
          </a:p>
          <a:p>
            <a:r>
              <a:rPr lang="en-US" sz="1400" dirty="0"/>
              <a:t>	auto phi = Rational{ 1ll };</a:t>
            </a:r>
          </a:p>
          <a:p>
            <a:r>
              <a:rPr lang="en-US" sz="1400" dirty="0"/>
              <a:t>	for (</a:t>
            </a:r>
            <a:r>
              <a:rPr lang="en-US" sz="1400" dirty="0" err="1"/>
              <a:t>size_t</a:t>
            </a:r>
            <a:r>
              <a:rPr lang="en-US" sz="1400" dirty="0"/>
              <a:t> </a:t>
            </a:r>
            <a:r>
              <a:rPr lang="en-US" sz="1400" dirty="0" err="1"/>
              <a:t>i</a:t>
            </a:r>
            <a:r>
              <a:rPr lang="en-US" sz="1400" dirty="0"/>
              <a:t> = 0; </a:t>
            </a:r>
            <a:r>
              <a:rPr lang="en-US" sz="1400" dirty="0" err="1"/>
              <a:t>i</a:t>
            </a:r>
            <a:r>
              <a:rPr lang="en-US" sz="1400" dirty="0"/>
              <a:t> &lt; ITER; ++</a:t>
            </a:r>
            <a:r>
              <a:rPr lang="en-US" sz="1400" dirty="0" err="1"/>
              <a:t>i</a:t>
            </a:r>
            <a:r>
              <a:rPr lang="en-US" sz="1400" dirty="0"/>
              <a:t>) {</a:t>
            </a:r>
          </a:p>
          <a:p>
            <a:r>
              <a:rPr lang="en-US" sz="1400" dirty="0"/>
              <a:t>		phi = 1ll / (1ll + phi);</a:t>
            </a:r>
          </a:p>
          <a:p>
            <a:r>
              <a:rPr lang="en-US" sz="1400" dirty="0"/>
              <a:t>	}</a:t>
            </a:r>
          </a:p>
          <a:p>
            <a:r>
              <a:rPr lang="en-US" sz="1400" dirty="0"/>
              <a:t>	std::</a:t>
            </a:r>
            <a:r>
              <a:rPr lang="en-US" sz="1400" dirty="0" err="1"/>
              <a:t>cout</a:t>
            </a:r>
            <a:r>
              <a:rPr lang="en-US" sz="1400" dirty="0"/>
              <a:t> &lt;&lt; std::</a:t>
            </a:r>
            <a:r>
              <a:rPr lang="en-US" sz="1400" dirty="0" err="1"/>
              <a:t>setprecision</a:t>
            </a:r>
            <a:r>
              <a:rPr lang="en-US" sz="1400" dirty="0"/>
              <a:t>(15);</a:t>
            </a:r>
          </a:p>
          <a:p>
            <a:r>
              <a:rPr lang="en-US" sz="1400" dirty="0"/>
              <a:t>	std::</a:t>
            </a:r>
            <a:r>
              <a:rPr lang="en-US" sz="1400" dirty="0" err="1"/>
              <a:t>cout</a:t>
            </a:r>
            <a:r>
              <a:rPr lang="en-US" sz="1400" dirty="0"/>
              <a:t> &lt;&lt; "Golden Ratio = " &lt;&lt; (1lli + phi).</a:t>
            </a:r>
            <a:r>
              <a:rPr lang="en-US" sz="1400" dirty="0" err="1"/>
              <a:t>to_double</a:t>
            </a:r>
            <a:r>
              <a:rPr lang="en-US" sz="1400" dirty="0"/>
              <a:t>() &lt;&lt; "\n";</a:t>
            </a:r>
          </a:p>
        </p:txBody>
      </p:sp>
    </p:spTree>
    <p:extLst>
      <p:ext uri="{BB962C8B-B14F-4D97-AF65-F5344CB8AC3E}">
        <p14:creationId xmlns:p14="http://schemas.microsoft.com/office/powerpoint/2010/main" val="1411449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STL</a:t>
            </a:r>
          </a:p>
        </p:txBody>
      </p:sp>
      <p:sp>
        <p:nvSpPr>
          <p:cNvPr id="9" name="TextBox 8">
            <a:extLst>
              <a:ext uri="{FF2B5EF4-FFF2-40B4-BE49-F238E27FC236}">
                <a16:creationId xmlns:a16="http://schemas.microsoft.com/office/drawing/2014/main" id="{F9DD17B2-A8F4-407A-9FA3-C6341FA9722A}"/>
              </a:ext>
            </a:extLst>
          </p:cNvPr>
          <p:cNvSpPr txBox="1"/>
          <p:nvPr/>
        </p:nvSpPr>
        <p:spPr>
          <a:xfrm>
            <a:off x="2083153" y="1633975"/>
            <a:ext cx="6097190" cy="923330"/>
          </a:xfrm>
          <a:prstGeom prst="rect">
            <a:avLst/>
          </a:prstGeom>
          <a:noFill/>
        </p:spPr>
        <p:txBody>
          <a:bodyPr wrap="square">
            <a:spAutoFit/>
          </a:bodyPr>
          <a:lstStyle/>
          <a:p>
            <a:r>
              <a:rPr lang="en-US" dirty="0"/>
              <a:t>The standard library (STL) </a:t>
            </a:r>
            <a:r>
              <a:rPr lang="ru-RU" dirty="0"/>
              <a:t>набор компонент описанных в</a:t>
            </a:r>
            <a:r>
              <a:rPr lang="en-US" dirty="0"/>
              <a:t> ISO C++ (</a:t>
            </a:r>
            <a:r>
              <a:rPr lang="ru-RU" dirty="0"/>
              <a:t>стандарте </a:t>
            </a:r>
            <a:r>
              <a:rPr lang="en-US" dirty="0"/>
              <a:t>C++) </a:t>
            </a:r>
            <a:r>
              <a:rPr lang="ru-RU" dirty="0"/>
              <a:t>и поставляемым с одинаковой функциональностью в любой имплементации*</a:t>
            </a:r>
            <a:r>
              <a:rPr lang="en-US" dirty="0"/>
              <a:t>.</a:t>
            </a:r>
          </a:p>
        </p:txBody>
      </p:sp>
      <p:sp>
        <p:nvSpPr>
          <p:cNvPr id="10" name="TextBox 9">
            <a:extLst>
              <a:ext uri="{FF2B5EF4-FFF2-40B4-BE49-F238E27FC236}">
                <a16:creationId xmlns:a16="http://schemas.microsoft.com/office/drawing/2014/main" id="{96A0202B-B45F-4B69-A3B9-98FA17E11ACA}"/>
              </a:ext>
            </a:extLst>
          </p:cNvPr>
          <p:cNvSpPr txBox="1"/>
          <p:nvPr/>
        </p:nvSpPr>
        <p:spPr>
          <a:xfrm>
            <a:off x="1212651" y="3291449"/>
            <a:ext cx="9474399" cy="369332"/>
          </a:xfrm>
          <a:prstGeom prst="rect">
            <a:avLst/>
          </a:prstGeom>
          <a:noFill/>
        </p:spPr>
        <p:txBody>
          <a:bodyPr wrap="square">
            <a:spAutoFit/>
          </a:bodyPr>
          <a:lstStyle/>
          <a:p>
            <a:r>
              <a:rPr lang="en-US" dirty="0">
                <a:hlinkClick r:id="rId2"/>
              </a:rPr>
              <a:t>https://github.com/gcc-mirror/gcc/tree/master/libstdc%2B%2B-v3</a:t>
            </a:r>
            <a:r>
              <a:rPr lang="en-US" dirty="0"/>
              <a:t> </a:t>
            </a:r>
          </a:p>
        </p:txBody>
      </p:sp>
      <p:sp>
        <p:nvSpPr>
          <p:cNvPr id="11" name="TextBox 10">
            <a:extLst>
              <a:ext uri="{FF2B5EF4-FFF2-40B4-BE49-F238E27FC236}">
                <a16:creationId xmlns:a16="http://schemas.microsoft.com/office/drawing/2014/main" id="{C0AB2B6C-766E-4294-9352-3EC9B7C8DA69}"/>
              </a:ext>
            </a:extLst>
          </p:cNvPr>
          <p:cNvSpPr txBox="1"/>
          <p:nvPr/>
        </p:nvSpPr>
        <p:spPr>
          <a:xfrm>
            <a:off x="521207" y="3304280"/>
            <a:ext cx="6097190" cy="369332"/>
          </a:xfrm>
          <a:prstGeom prst="rect">
            <a:avLst/>
          </a:prstGeom>
          <a:noFill/>
        </p:spPr>
        <p:txBody>
          <a:bodyPr wrap="square">
            <a:spAutoFit/>
          </a:bodyPr>
          <a:lstStyle/>
          <a:p>
            <a:r>
              <a:rPr lang="en-US" dirty="0"/>
              <a:t>GCC: </a:t>
            </a:r>
          </a:p>
        </p:txBody>
      </p:sp>
      <p:sp>
        <p:nvSpPr>
          <p:cNvPr id="12" name="TextBox 11">
            <a:extLst>
              <a:ext uri="{FF2B5EF4-FFF2-40B4-BE49-F238E27FC236}">
                <a16:creationId xmlns:a16="http://schemas.microsoft.com/office/drawing/2014/main" id="{38B04E78-8B7E-4A8E-BB15-4B9E69BA552D}"/>
              </a:ext>
            </a:extLst>
          </p:cNvPr>
          <p:cNvSpPr txBox="1"/>
          <p:nvPr/>
        </p:nvSpPr>
        <p:spPr>
          <a:xfrm>
            <a:off x="519420" y="3836429"/>
            <a:ext cx="6097190" cy="369332"/>
          </a:xfrm>
          <a:prstGeom prst="rect">
            <a:avLst/>
          </a:prstGeom>
          <a:noFill/>
        </p:spPr>
        <p:txBody>
          <a:bodyPr wrap="square">
            <a:spAutoFit/>
          </a:bodyPr>
          <a:lstStyle/>
          <a:p>
            <a:r>
              <a:rPr lang="en-US" dirty="0"/>
              <a:t>MSVS: </a:t>
            </a:r>
            <a:r>
              <a:rPr lang="en-US" dirty="0">
                <a:hlinkClick r:id="rId3"/>
              </a:rPr>
              <a:t>https://github.com/microsoft/STL</a:t>
            </a:r>
            <a:r>
              <a:rPr lang="en-US" dirty="0"/>
              <a:t>  </a:t>
            </a:r>
          </a:p>
        </p:txBody>
      </p:sp>
      <p:sp>
        <p:nvSpPr>
          <p:cNvPr id="13" name="TextBox 12">
            <a:extLst>
              <a:ext uri="{FF2B5EF4-FFF2-40B4-BE49-F238E27FC236}">
                <a16:creationId xmlns:a16="http://schemas.microsoft.com/office/drawing/2014/main" id="{8F52010C-040C-41B7-B956-69939B99D1E3}"/>
              </a:ext>
            </a:extLst>
          </p:cNvPr>
          <p:cNvSpPr txBox="1"/>
          <p:nvPr/>
        </p:nvSpPr>
        <p:spPr>
          <a:xfrm>
            <a:off x="1212651" y="4390427"/>
            <a:ext cx="6097190" cy="369332"/>
          </a:xfrm>
          <a:prstGeom prst="rect">
            <a:avLst/>
          </a:prstGeom>
          <a:noFill/>
        </p:spPr>
        <p:txBody>
          <a:bodyPr wrap="square">
            <a:spAutoFit/>
          </a:bodyPr>
          <a:lstStyle/>
          <a:p>
            <a:r>
              <a:rPr lang="en-US" dirty="0">
                <a:hlinkClick r:id="rId4"/>
              </a:rPr>
              <a:t>https://github.com/llvm/llvm-project/tree/main/libcxx</a:t>
            </a:r>
            <a:r>
              <a:rPr lang="en-US" dirty="0"/>
              <a:t> </a:t>
            </a:r>
          </a:p>
        </p:txBody>
      </p:sp>
      <p:sp>
        <p:nvSpPr>
          <p:cNvPr id="14" name="TextBox 13">
            <a:extLst>
              <a:ext uri="{FF2B5EF4-FFF2-40B4-BE49-F238E27FC236}">
                <a16:creationId xmlns:a16="http://schemas.microsoft.com/office/drawing/2014/main" id="{5AD9B536-8E81-4D95-A3B7-5E463EAE58D1}"/>
              </a:ext>
            </a:extLst>
          </p:cNvPr>
          <p:cNvSpPr txBox="1"/>
          <p:nvPr/>
        </p:nvSpPr>
        <p:spPr>
          <a:xfrm>
            <a:off x="519420" y="4403258"/>
            <a:ext cx="6097190" cy="369332"/>
          </a:xfrm>
          <a:prstGeom prst="rect">
            <a:avLst/>
          </a:prstGeom>
          <a:noFill/>
        </p:spPr>
        <p:txBody>
          <a:bodyPr wrap="square">
            <a:spAutoFit/>
          </a:bodyPr>
          <a:lstStyle/>
          <a:p>
            <a:r>
              <a:rPr lang="en-US" dirty="0"/>
              <a:t>LLVM:</a:t>
            </a:r>
          </a:p>
        </p:txBody>
      </p:sp>
      <p:sp>
        <p:nvSpPr>
          <p:cNvPr id="19" name="TextBox 18">
            <a:extLst>
              <a:ext uri="{FF2B5EF4-FFF2-40B4-BE49-F238E27FC236}">
                <a16:creationId xmlns:a16="http://schemas.microsoft.com/office/drawing/2014/main" id="{18D7521B-AAB9-4D1B-80CF-56A5606E7F25}"/>
              </a:ext>
            </a:extLst>
          </p:cNvPr>
          <p:cNvSpPr txBox="1"/>
          <p:nvPr/>
        </p:nvSpPr>
        <p:spPr>
          <a:xfrm>
            <a:off x="519420" y="4965651"/>
            <a:ext cx="8295968" cy="369332"/>
          </a:xfrm>
          <a:prstGeom prst="rect">
            <a:avLst/>
          </a:prstGeom>
          <a:noFill/>
        </p:spPr>
        <p:txBody>
          <a:bodyPr wrap="square">
            <a:spAutoFit/>
          </a:bodyPr>
          <a:lstStyle/>
          <a:p>
            <a:r>
              <a:rPr lang="en-US" dirty="0"/>
              <a:t>STL </a:t>
            </a:r>
            <a:r>
              <a:rPr lang="ru-RU" dirty="0"/>
              <a:t>- огромна</a:t>
            </a:r>
            <a:r>
              <a:rPr lang="en-US" dirty="0"/>
              <a:t>: </a:t>
            </a:r>
            <a:r>
              <a:rPr lang="ru-RU" dirty="0"/>
              <a:t>описание в </a:t>
            </a:r>
            <a:r>
              <a:rPr lang="en-US" dirty="0"/>
              <a:t>ISO C++ </a:t>
            </a:r>
            <a:r>
              <a:rPr lang="ru-RU" dirty="0"/>
              <a:t>это </a:t>
            </a:r>
            <a:r>
              <a:rPr lang="en-US" dirty="0"/>
              <a:t>785 </a:t>
            </a:r>
            <a:r>
              <a:rPr lang="ru-RU" dirty="0"/>
              <a:t>страниц мелкого текста!</a:t>
            </a:r>
            <a:r>
              <a:rPr lang="en-US" dirty="0"/>
              <a:t> </a:t>
            </a:r>
          </a:p>
        </p:txBody>
      </p:sp>
      <p:pic>
        <p:nvPicPr>
          <p:cNvPr id="21" name="Picture 20">
            <a:extLst>
              <a:ext uri="{FF2B5EF4-FFF2-40B4-BE49-F238E27FC236}">
                <a16:creationId xmlns:a16="http://schemas.microsoft.com/office/drawing/2014/main" id="{84C004C2-A325-4D0A-95A5-434CFD55C74E}"/>
              </a:ext>
            </a:extLst>
          </p:cNvPr>
          <p:cNvPicPr>
            <a:picLocks noChangeAspect="1"/>
          </p:cNvPicPr>
          <p:nvPr/>
        </p:nvPicPr>
        <p:blipFill>
          <a:blip r:embed="rId5"/>
          <a:stretch>
            <a:fillRect/>
          </a:stretch>
        </p:blipFill>
        <p:spPr>
          <a:xfrm>
            <a:off x="519420" y="1346001"/>
            <a:ext cx="1482924" cy="1482924"/>
          </a:xfrm>
          <a:prstGeom prst="rect">
            <a:avLst/>
          </a:prstGeom>
        </p:spPr>
      </p:pic>
    </p:spTree>
    <p:extLst>
      <p:ext uri="{BB962C8B-B14F-4D97-AF65-F5344CB8AC3E}">
        <p14:creationId xmlns:p14="http://schemas.microsoft.com/office/powerpoint/2010/main" val="32617279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STL</a:t>
            </a:r>
          </a:p>
        </p:txBody>
      </p:sp>
      <p:sp>
        <p:nvSpPr>
          <p:cNvPr id="15" name="TextBox 14">
            <a:extLst>
              <a:ext uri="{FF2B5EF4-FFF2-40B4-BE49-F238E27FC236}">
                <a16:creationId xmlns:a16="http://schemas.microsoft.com/office/drawing/2014/main" id="{63FFF636-8945-4299-8E09-190577E2F153}"/>
              </a:ext>
            </a:extLst>
          </p:cNvPr>
          <p:cNvSpPr txBox="1"/>
          <p:nvPr/>
        </p:nvSpPr>
        <p:spPr>
          <a:xfrm>
            <a:off x="521206" y="1285255"/>
            <a:ext cx="9651494" cy="2585323"/>
          </a:xfrm>
          <a:prstGeom prst="rect">
            <a:avLst/>
          </a:prstGeom>
          <a:noFill/>
        </p:spPr>
        <p:txBody>
          <a:bodyPr wrap="square">
            <a:spAutoFit/>
          </a:bodyPr>
          <a:lstStyle/>
          <a:p>
            <a:r>
              <a:rPr lang="ru-RU" dirty="0"/>
              <a:t>Плюсы</a:t>
            </a:r>
            <a:r>
              <a:rPr lang="en-US" dirty="0"/>
              <a:t>:</a:t>
            </a:r>
          </a:p>
          <a:p>
            <a:pPr marL="285750" indent="-285750">
              <a:buFont typeface="Arial" panose="020B0604020202020204" pitchFamily="34" charset="0"/>
              <a:buChar char="•"/>
            </a:pPr>
            <a:r>
              <a:rPr lang="ru-RU" dirty="0"/>
              <a:t>Код легко переносится на другие платформы </a:t>
            </a:r>
            <a:r>
              <a:rPr lang="en-US" dirty="0"/>
              <a:t>(windows/</a:t>
            </a:r>
            <a:r>
              <a:rPr lang="en-US" dirty="0" err="1"/>
              <a:t>linux</a:t>
            </a:r>
            <a:r>
              <a:rPr lang="en-US" dirty="0"/>
              <a:t>/embedded)</a:t>
            </a:r>
          </a:p>
          <a:p>
            <a:pPr marL="285750" indent="-285750">
              <a:buFont typeface="Arial" panose="020B0604020202020204" pitchFamily="34" charset="0"/>
              <a:buChar char="•"/>
            </a:pPr>
            <a:r>
              <a:rPr lang="ru-RU" dirty="0"/>
              <a:t>Новый стандарт не ломает совместимость с прошлой версией </a:t>
            </a:r>
            <a:r>
              <a:rPr lang="en-US" dirty="0"/>
              <a:t>STL</a:t>
            </a:r>
            <a:endParaRPr lang="ru-RU" dirty="0"/>
          </a:p>
          <a:p>
            <a:pPr marL="285750" indent="-285750">
              <a:buFont typeface="Arial" panose="020B0604020202020204" pitchFamily="34" charset="0"/>
              <a:buChar char="•"/>
            </a:pPr>
            <a:r>
              <a:rPr lang="en-US" dirty="0"/>
              <a:t>STL </a:t>
            </a:r>
            <a:r>
              <a:rPr lang="ru-RU" dirty="0"/>
              <a:t>реализации оптимизированны*</a:t>
            </a:r>
          </a:p>
          <a:p>
            <a:pPr marL="285750" indent="-285750">
              <a:buFont typeface="Arial" panose="020B0604020202020204" pitchFamily="34" charset="0"/>
              <a:buChar char="•"/>
            </a:pPr>
            <a:r>
              <a:rPr lang="en-US" dirty="0"/>
              <a:t>Exception safety</a:t>
            </a:r>
            <a:r>
              <a:rPr lang="ru-RU" dirty="0"/>
              <a:t> и </a:t>
            </a:r>
            <a:r>
              <a:rPr lang="en-US" dirty="0"/>
              <a:t>Error handling</a:t>
            </a:r>
            <a:endParaRPr lang="ru-RU" dirty="0"/>
          </a:p>
          <a:p>
            <a:pPr marL="285750" indent="-285750">
              <a:buFont typeface="Arial" panose="020B0604020202020204" pitchFamily="34" charset="0"/>
              <a:buChar char="•"/>
            </a:pPr>
            <a:r>
              <a:rPr lang="ru-RU" dirty="0"/>
              <a:t>Код </a:t>
            </a:r>
            <a:r>
              <a:rPr lang="en-US" dirty="0"/>
              <a:t>STL </a:t>
            </a:r>
            <a:r>
              <a:rPr lang="ru-RU" dirty="0"/>
              <a:t>не надо поддерживать</a:t>
            </a:r>
            <a:endParaRPr lang="en-US" dirty="0"/>
          </a:p>
          <a:p>
            <a:pPr marL="285750" indent="-285750">
              <a:buFont typeface="Arial" panose="020B0604020202020204" pitchFamily="34" charset="0"/>
              <a:buChar char="•"/>
            </a:pPr>
            <a:r>
              <a:rPr lang="ru-RU" dirty="0"/>
              <a:t>Продуманный интерфейс</a:t>
            </a:r>
          </a:p>
          <a:p>
            <a:r>
              <a:rPr lang="ru-RU" dirty="0"/>
              <a:t>Общее соображение</a:t>
            </a:r>
            <a:r>
              <a:rPr lang="en-US" dirty="0"/>
              <a:t> – </a:t>
            </a:r>
            <a:r>
              <a:rPr lang="ru-RU" dirty="0"/>
              <a:t>не надо изобретать велосипед!</a:t>
            </a:r>
            <a:endParaRPr lang="en-US" dirty="0"/>
          </a:p>
          <a:p>
            <a:endParaRPr lang="en-US" dirty="0"/>
          </a:p>
        </p:txBody>
      </p:sp>
      <p:pic>
        <p:nvPicPr>
          <p:cNvPr id="17" name="Picture 16">
            <a:extLst>
              <a:ext uri="{FF2B5EF4-FFF2-40B4-BE49-F238E27FC236}">
                <a16:creationId xmlns:a16="http://schemas.microsoft.com/office/drawing/2014/main" id="{A2BA3A38-B87C-4BE2-BC13-55AA6E8AF402}"/>
              </a:ext>
            </a:extLst>
          </p:cNvPr>
          <p:cNvPicPr>
            <a:picLocks noChangeAspect="1"/>
          </p:cNvPicPr>
          <p:nvPr/>
        </p:nvPicPr>
        <p:blipFill>
          <a:blip r:embed="rId2"/>
          <a:stretch>
            <a:fillRect/>
          </a:stretch>
        </p:blipFill>
        <p:spPr>
          <a:xfrm>
            <a:off x="664081" y="3677697"/>
            <a:ext cx="3883819" cy="2375185"/>
          </a:xfrm>
          <a:prstGeom prst="rect">
            <a:avLst/>
          </a:prstGeom>
        </p:spPr>
      </p:pic>
    </p:spTree>
    <p:extLst>
      <p:ext uri="{BB962C8B-B14F-4D97-AF65-F5344CB8AC3E}">
        <p14:creationId xmlns:p14="http://schemas.microsoft.com/office/powerpoint/2010/main" val="41810941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new/delete vs malloc/free</a:t>
            </a:r>
          </a:p>
        </p:txBody>
      </p:sp>
      <p:sp>
        <p:nvSpPr>
          <p:cNvPr id="6" name="TextBox 5">
            <a:extLst>
              <a:ext uri="{FF2B5EF4-FFF2-40B4-BE49-F238E27FC236}">
                <a16:creationId xmlns:a16="http://schemas.microsoft.com/office/drawing/2014/main" id="{B211DEB7-C6C9-451C-A6F0-1BD11342D112}"/>
              </a:ext>
            </a:extLst>
          </p:cNvPr>
          <p:cNvSpPr txBox="1"/>
          <p:nvPr/>
        </p:nvSpPr>
        <p:spPr>
          <a:xfrm>
            <a:off x="634008" y="1880772"/>
            <a:ext cx="6097190" cy="2123658"/>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test_cpp</a:t>
            </a:r>
            <a:r>
              <a:rPr lang="en-US" sz="1200" dirty="0">
                <a:solidFill>
                  <a:srgbClr val="000000"/>
                </a:solidFill>
                <a:latin typeface="Cascadia Mono" panose="020B0609020000020004" pitchFamily="49" charset="0"/>
              </a:rPr>
              <a:t>()</a:t>
            </a:r>
          </a:p>
          <a:p>
            <a:r>
              <a:rPr lang="en-US" sz="1200" dirty="0">
                <a:solidFill>
                  <a:srgbClr val="008000"/>
                </a:solidFill>
                <a:latin typeface="Cascadia Mono" panose="020B0609020000020004" pitchFamily="49" charset="0"/>
              </a:rPr>
              <a:t>// scope A</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MyStruct</a:t>
            </a:r>
            <a:r>
              <a:rPr lang="en-US" sz="1200" dirty="0">
                <a:solidFill>
                  <a:srgbClr val="000000"/>
                </a:solidFill>
                <a:latin typeface="Cascadia Mono" panose="020B0609020000020004" pitchFamily="49" charset="0"/>
              </a:rPr>
              <a:t> str1;</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scope B</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MyStruct</a:t>
            </a:r>
            <a:r>
              <a:rPr lang="en-US" sz="1200" dirty="0">
                <a:solidFill>
                  <a:srgbClr val="000000"/>
                </a:solidFill>
                <a:latin typeface="Cascadia Mono" panose="020B0609020000020004" pitchFamily="49" charset="0"/>
              </a:rPr>
              <a:t> str2;</a:t>
            </a: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str2 destroyed</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8000"/>
                </a:solidFill>
                <a:latin typeface="Cascadia Mono" panose="020B0609020000020004" pitchFamily="49" charset="0"/>
              </a:rPr>
              <a:t>// str1 destroyed</a:t>
            </a:r>
            <a:endParaRPr lang="en-US" sz="1200" dirty="0">
              <a:solidFill>
                <a:srgbClr val="000000"/>
              </a:solidFill>
              <a:latin typeface="Cascadia Mono" panose="020B0609020000020004" pitchFamily="49" charset="0"/>
            </a:endParaRPr>
          </a:p>
        </p:txBody>
      </p:sp>
      <p:sp>
        <p:nvSpPr>
          <p:cNvPr id="7" name="TextBox 6">
            <a:extLst>
              <a:ext uri="{FF2B5EF4-FFF2-40B4-BE49-F238E27FC236}">
                <a16:creationId xmlns:a16="http://schemas.microsoft.com/office/drawing/2014/main" id="{64D09ED4-1F4B-4A43-BAAF-D20810EE36F8}"/>
              </a:ext>
            </a:extLst>
          </p:cNvPr>
          <p:cNvSpPr txBox="1"/>
          <p:nvPr/>
        </p:nvSpPr>
        <p:spPr>
          <a:xfrm>
            <a:off x="634008" y="1432679"/>
            <a:ext cx="6097190" cy="307777"/>
          </a:xfrm>
          <a:prstGeom prst="rect">
            <a:avLst/>
          </a:prstGeom>
          <a:noFill/>
        </p:spPr>
        <p:txBody>
          <a:bodyPr wrap="square">
            <a:spAutoFit/>
          </a:bodyPr>
          <a:lstStyle/>
          <a:p>
            <a:r>
              <a:rPr lang="ru-RU" sz="1400" dirty="0"/>
              <a:t>Время жизни объекта определяется </a:t>
            </a:r>
            <a:r>
              <a:rPr lang="en-US" sz="1400" dirty="0"/>
              <a:t>scope:</a:t>
            </a:r>
          </a:p>
        </p:txBody>
      </p:sp>
      <p:sp>
        <p:nvSpPr>
          <p:cNvPr id="9" name="TextBox 8">
            <a:extLst>
              <a:ext uri="{FF2B5EF4-FFF2-40B4-BE49-F238E27FC236}">
                <a16:creationId xmlns:a16="http://schemas.microsoft.com/office/drawing/2014/main" id="{705BE9C9-2E45-400A-89FA-3F8942CB5BE4}"/>
              </a:ext>
            </a:extLst>
          </p:cNvPr>
          <p:cNvSpPr txBox="1"/>
          <p:nvPr/>
        </p:nvSpPr>
        <p:spPr>
          <a:xfrm>
            <a:off x="4582120" y="1432679"/>
            <a:ext cx="6097190" cy="523220"/>
          </a:xfrm>
          <a:prstGeom prst="rect">
            <a:avLst/>
          </a:prstGeom>
          <a:noFill/>
        </p:spPr>
        <p:txBody>
          <a:bodyPr wrap="square">
            <a:spAutoFit/>
          </a:bodyPr>
          <a:lstStyle/>
          <a:p>
            <a:r>
              <a:rPr lang="ru-RU" sz="1400" dirty="0"/>
              <a:t>Однако, часто необходимо создать объекты которые имеют время жизни вне </a:t>
            </a:r>
            <a:r>
              <a:rPr lang="en-US" sz="1400" dirty="0"/>
              <a:t>scope:</a:t>
            </a:r>
          </a:p>
        </p:txBody>
      </p:sp>
      <p:sp>
        <p:nvSpPr>
          <p:cNvPr id="12" name="TextBox 11">
            <a:extLst>
              <a:ext uri="{FF2B5EF4-FFF2-40B4-BE49-F238E27FC236}">
                <a16:creationId xmlns:a16="http://schemas.microsoft.com/office/drawing/2014/main" id="{678B5A1C-8BE1-4362-81CF-F710DAF2981C}"/>
              </a:ext>
            </a:extLst>
          </p:cNvPr>
          <p:cNvSpPr txBox="1"/>
          <p:nvPr/>
        </p:nvSpPr>
        <p:spPr>
          <a:xfrm>
            <a:off x="4582120" y="1969489"/>
            <a:ext cx="6097190" cy="1569660"/>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test_c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mem = malloc(</a:t>
            </a:r>
            <a:r>
              <a:rPr lang="en-US" sz="1200" dirty="0" err="1">
                <a:solidFill>
                  <a:srgbClr val="0000FF"/>
                </a:solidFill>
                <a:latin typeface="Cascadia Mono" panose="020B0609020000020004" pitchFamily="49" charset="0"/>
              </a:rPr>
              <a:t>sizeof</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char</a:t>
            </a:r>
            <a:r>
              <a:rPr lang="en-US" sz="1200" dirty="0">
                <a:solidFill>
                  <a:srgbClr val="000000"/>
                </a:solidFill>
                <a:latin typeface="Cascadia Mono" panose="020B0609020000020004" pitchFamily="49" charset="0"/>
              </a:rPr>
              <a:t>) * 256);</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mem;</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free(mem);</a:t>
            </a:r>
          </a:p>
          <a:p>
            <a:r>
              <a:rPr lang="en-US" sz="1200" dirty="0">
                <a:solidFill>
                  <a:srgbClr val="000000"/>
                </a:solidFill>
                <a:latin typeface="Cascadia Mono" panose="020B0609020000020004" pitchFamily="49" charset="0"/>
              </a:rPr>
              <a:t>(mem – 4)</a:t>
            </a:r>
          </a:p>
        </p:txBody>
      </p:sp>
      <p:sp>
        <p:nvSpPr>
          <p:cNvPr id="13" name="TextBox 12">
            <a:extLst>
              <a:ext uri="{FF2B5EF4-FFF2-40B4-BE49-F238E27FC236}">
                <a16:creationId xmlns:a16="http://schemas.microsoft.com/office/drawing/2014/main" id="{E9809AD0-3EBB-4106-A777-86D89EBB928E}"/>
              </a:ext>
            </a:extLst>
          </p:cNvPr>
          <p:cNvSpPr txBox="1"/>
          <p:nvPr/>
        </p:nvSpPr>
        <p:spPr>
          <a:xfrm>
            <a:off x="4582120" y="3481210"/>
            <a:ext cx="6097190" cy="523220"/>
          </a:xfrm>
          <a:prstGeom prst="rect">
            <a:avLst/>
          </a:prstGeom>
          <a:noFill/>
        </p:spPr>
        <p:txBody>
          <a:bodyPr wrap="square">
            <a:spAutoFit/>
          </a:bodyPr>
          <a:lstStyle/>
          <a:p>
            <a:r>
              <a:rPr lang="ru-RU" sz="1400" dirty="0"/>
              <a:t>Для этого в </a:t>
            </a:r>
            <a:r>
              <a:rPr lang="en-US" sz="1400" dirty="0"/>
              <a:t>CPP </a:t>
            </a:r>
            <a:r>
              <a:rPr lang="ru-RU" sz="1400" dirty="0"/>
              <a:t>существует оператор </a:t>
            </a:r>
            <a:r>
              <a:rPr lang="en-US" sz="1400" dirty="0">
                <a:solidFill>
                  <a:schemeClr val="accent1">
                    <a:lumMod val="75000"/>
                  </a:schemeClr>
                </a:solidFill>
              </a:rPr>
              <a:t>new</a:t>
            </a:r>
            <a:r>
              <a:rPr lang="ru-RU" sz="1400" dirty="0"/>
              <a:t>, чтобы создавать объекты</a:t>
            </a:r>
            <a:r>
              <a:rPr lang="en-US" sz="1400" dirty="0"/>
              <a:t>; </a:t>
            </a:r>
            <a:r>
              <a:rPr lang="ru-RU" sz="1400" dirty="0"/>
              <a:t>оператор </a:t>
            </a:r>
            <a:r>
              <a:rPr lang="en-US" sz="1400" dirty="0">
                <a:solidFill>
                  <a:schemeClr val="accent1">
                    <a:lumMod val="75000"/>
                  </a:schemeClr>
                </a:solidFill>
              </a:rPr>
              <a:t>delete</a:t>
            </a:r>
            <a:r>
              <a:rPr lang="en-US" sz="1400" dirty="0"/>
              <a:t> </a:t>
            </a:r>
            <a:r>
              <a:rPr lang="ru-RU" sz="1400" dirty="0"/>
              <a:t>чтобы удалять объекты созданные через </a:t>
            </a:r>
            <a:r>
              <a:rPr lang="en-US" sz="1400" dirty="0">
                <a:solidFill>
                  <a:schemeClr val="accent1">
                    <a:lumMod val="75000"/>
                  </a:schemeClr>
                </a:solidFill>
              </a:rPr>
              <a:t>new</a:t>
            </a:r>
            <a:r>
              <a:rPr lang="en-US" sz="1400" dirty="0"/>
              <a:t>:</a:t>
            </a:r>
          </a:p>
        </p:txBody>
      </p:sp>
      <p:sp>
        <p:nvSpPr>
          <p:cNvPr id="16" name="TextBox 15">
            <a:extLst>
              <a:ext uri="{FF2B5EF4-FFF2-40B4-BE49-F238E27FC236}">
                <a16:creationId xmlns:a16="http://schemas.microsoft.com/office/drawing/2014/main" id="{20ABF9F5-E4E6-47D3-AD31-B6D358793795}"/>
              </a:ext>
            </a:extLst>
          </p:cNvPr>
          <p:cNvSpPr txBox="1"/>
          <p:nvPr/>
        </p:nvSpPr>
        <p:spPr>
          <a:xfrm>
            <a:off x="4582119" y="4144746"/>
            <a:ext cx="6883599" cy="1569660"/>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test_cpp</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ru-RU" sz="1200" dirty="0">
                <a:solidFill>
                  <a:srgbClr val="000000"/>
                </a:solidFill>
                <a:latin typeface="Cascadia Mono" panose="020B0609020000020004" pitchFamily="49" charset="0"/>
              </a:rPr>
              <a:t>    </a:t>
            </a:r>
            <a:r>
              <a:rPr lang="ru-RU" sz="1200" dirty="0">
                <a:solidFill>
                  <a:srgbClr val="008000"/>
                </a:solidFill>
                <a:latin typeface="Cascadia Mono" panose="020B0609020000020004" pitchFamily="49" charset="0"/>
              </a:rPr>
              <a:t>// Аллокация памяти для MyBigObject и вызов конструктора MyBigObject</a:t>
            </a:r>
            <a:endParaRPr lang="ru-RU"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MyBigObject</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ptr</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new</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MyBigObject</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t>
            </a:r>
            <a:endParaRPr lang="en-US" sz="1200" dirty="0">
              <a:solidFill>
                <a:srgbClr val="000000"/>
              </a:solidFill>
              <a:latin typeface="Cascadia Mono" panose="020B0609020000020004" pitchFamily="49" charset="0"/>
            </a:endParaRPr>
          </a:p>
          <a:p>
            <a:r>
              <a:rPr lang="ru-RU" sz="1200" dirty="0">
                <a:solidFill>
                  <a:srgbClr val="000000"/>
                </a:solidFill>
                <a:latin typeface="Cascadia Mono" panose="020B0609020000020004" pitchFamily="49" charset="0"/>
              </a:rPr>
              <a:t>    </a:t>
            </a:r>
            <a:r>
              <a:rPr lang="ru-RU" sz="1200" dirty="0">
                <a:solidFill>
                  <a:srgbClr val="008000"/>
                </a:solidFill>
                <a:latin typeface="Cascadia Mono" panose="020B0609020000020004" pitchFamily="49" charset="0"/>
              </a:rPr>
              <a:t>// Деаллокация памяти и вызов деструктора MyBigObject</a:t>
            </a:r>
            <a:endParaRPr lang="ru-RU"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delete</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ptr</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30867269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new/delete vs malloc/free</a:t>
            </a:r>
          </a:p>
        </p:txBody>
      </p:sp>
      <p:sp>
        <p:nvSpPr>
          <p:cNvPr id="13" name="TextBox 12">
            <a:extLst>
              <a:ext uri="{FF2B5EF4-FFF2-40B4-BE49-F238E27FC236}">
                <a16:creationId xmlns:a16="http://schemas.microsoft.com/office/drawing/2014/main" id="{F753CDFB-3B26-4312-9E46-F1316F51A23D}"/>
              </a:ext>
            </a:extLst>
          </p:cNvPr>
          <p:cNvSpPr txBox="1"/>
          <p:nvPr/>
        </p:nvSpPr>
        <p:spPr>
          <a:xfrm>
            <a:off x="7706321" y="1288016"/>
            <a:ext cx="6097190" cy="1015663"/>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UB_2()</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A</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my_obj</a:t>
            </a:r>
            <a:r>
              <a:rPr lang="en-US" sz="1200" dirty="0">
                <a:solidFill>
                  <a:srgbClr val="000000"/>
                </a:solidFill>
                <a:latin typeface="Cascadia Mono" panose="020B0609020000020004" pitchFamily="49" charset="0"/>
              </a:rPr>
              <a:t> = (</a:t>
            </a:r>
            <a:r>
              <a:rPr lang="en-US" sz="1200" dirty="0">
                <a:solidFill>
                  <a:srgbClr val="2B91AF"/>
                </a:solidFill>
                <a:latin typeface="Cascadia Mono" panose="020B0609020000020004" pitchFamily="49" charset="0"/>
              </a:rPr>
              <a:t>A</a:t>
            </a:r>
            <a:r>
              <a:rPr lang="en-US" sz="1200" dirty="0">
                <a:solidFill>
                  <a:srgbClr val="000000"/>
                </a:solidFill>
                <a:latin typeface="Cascadia Mono" panose="020B0609020000020004" pitchFamily="49" charset="0"/>
              </a:rPr>
              <a:t>*)malloc(</a:t>
            </a:r>
            <a:r>
              <a:rPr lang="en-US" sz="1200" dirty="0" err="1">
                <a:solidFill>
                  <a:srgbClr val="0000FF"/>
                </a:solidFill>
                <a:latin typeface="Cascadia Mono" panose="020B0609020000020004" pitchFamily="49" charset="0"/>
              </a:rPr>
              <a:t>sizeof</a:t>
            </a:r>
            <a:r>
              <a:rPr lang="en-US" sz="1200" dirty="0">
                <a:solidFill>
                  <a:srgbClr val="000000"/>
                </a:solidFill>
                <a:latin typeface="Cascadia Mono" panose="020B0609020000020004" pitchFamily="49" charset="0"/>
              </a:rPr>
              <a:t>(</a:t>
            </a:r>
            <a:r>
              <a:rPr lang="en-US" sz="1200" dirty="0">
                <a:solidFill>
                  <a:srgbClr val="2B91AF"/>
                </a:solidFill>
                <a:latin typeface="Cascadia Mono" panose="020B0609020000020004" pitchFamily="49" charset="0"/>
              </a:rPr>
              <a:t>A</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delete</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my_obj</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endParaRPr lang="en-US" sz="1200" dirty="0"/>
          </a:p>
        </p:txBody>
      </p:sp>
      <p:sp>
        <p:nvSpPr>
          <p:cNvPr id="18" name="TextBox 17">
            <a:extLst>
              <a:ext uri="{FF2B5EF4-FFF2-40B4-BE49-F238E27FC236}">
                <a16:creationId xmlns:a16="http://schemas.microsoft.com/office/drawing/2014/main" id="{82A9E4FD-EC30-46DE-A2E3-0C26F38479FF}"/>
              </a:ext>
            </a:extLst>
          </p:cNvPr>
          <p:cNvSpPr txBox="1"/>
          <p:nvPr/>
        </p:nvSpPr>
        <p:spPr>
          <a:xfrm>
            <a:off x="632222" y="4335004"/>
            <a:ext cx="2868216" cy="1384995"/>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UB_1()</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B</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my_b</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new</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B</a:t>
            </a:r>
            <a:r>
              <a:rPr lang="en-US" sz="1200" dirty="0">
                <a:solidFill>
                  <a:srgbClr val="000000"/>
                </a:solidFill>
                <a:latin typeface="Cascadia Mono" panose="020B0609020000020004" pitchFamily="49" charset="0"/>
              </a:rPr>
              <a:t>(1, 2);</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A</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my_a</a:t>
            </a:r>
            <a:r>
              <a:rPr lang="en-US" sz="1200" dirty="0">
                <a:solidFill>
                  <a:srgbClr val="000000"/>
                </a:solidFill>
                <a:latin typeface="Cascadia Mono" panose="020B0609020000020004" pitchFamily="49" charset="0"/>
              </a:rPr>
              <a:t> = </a:t>
            </a:r>
            <a:r>
              <a:rPr lang="en-US" sz="1200" dirty="0" err="1">
                <a:solidFill>
                  <a:srgbClr val="000000"/>
                </a:solidFill>
                <a:latin typeface="Cascadia Mono" panose="020B0609020000020004" pitchFamily="49" charset="0"/>
              </a:rPr>
              <a:t>my_b</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delete</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my_a</a:t>
            </a: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UB</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delete </a:t>
            </a:r>
            <a:r>
              <a:rPr lang="en-US" sz="1200" dirty="0" err="1">
                <a:solidFill>
                  <a:srgbClr val="008000"/>
                </a:solidFill>
                <a:latin typeface="Cascadia Mono" panose="020B0609020000020004" pitchFamily="49" charset="0"/>
              </a:rPr>
              <a:t>my_b</a:t>
            </a:r>
            <a:r>
              <a:rPr lang="en-US" sz="1200" dirty="0">
                <a:solidFill>
                  <a:srgbClr val="008000"/>
                </a:solidFill>
                <a:latin typeface="Cascadia Mono" panose="020B0609020000020004" pitchFamily="49" charset="0"/>
              </a:rPr>
              <a:t> - fine</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endParaRPr lang="en-US" sz="1200" dirty="0"/>
          </a:p>
        </p:txBody>
      </p:sp>
      <p:sp>
        <p:nvSpPr>
          <p:cNvPr id="22" name="TextBox 21">
            <a:extLst>
              <a:ext uri="{FF2B5EF4-FFF2-40B4-BE49-F238E27FC236}">
                <a16:creationId xmlns:a16="http://schemas.microsoft.com/office/drawing/2014/main" id="{CFAD8525-1B6B-49E2-936D-E4297B28EC90}"/>
              </a:ext>
            </a:extLst>
          </p:cNvPr>
          <p:cNvSpPr txBox="1"/>
          <p:nvPr/>
        </p:nvSpPr>
        <p:spPr>
          <a:xfrm>
            <a:off x="632222" y="1288016"/>
            <a:ext cx="3153966" cy="3046988"/>
          </a:xfrm>
          <a:prstGeom prst="rect">
            <a:avLst/>
          </a:prstGeom>
          <a:noFill/>
        </p:spPr>
        <p:txBody>
          <a:bodyPr wrap="square">
            <a:spAutoFit/>
          </a:bodyPr>
          <a:lstStyle/>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A</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val_1;</a:t>
            </a:r>
          </a:p>
          <a:p>
            <a:r>
              <a:rPr lang="en-US" sz="1200" dirty="0">
                <a:solidFill>
                  <a:srgbClr val="000000"/>
                </a:solidFill>
                <a:latin typeface="Cascadia Mono" panose="020B0609020000020004" pitchFamily="49" charset="0"/>
              </a:rPr>
              <a:t>    A(</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v1</a:t>
            </a:r>
            <a:r>
              <a:rPr lang="en-US" sz="1200" dirty="0">
                <a:solidFill>
                  <a:srgbClr val="000000"/>
                </a:solidFill>
                <a:latin typeface="Cascadia Mono" panose="020B0609020000020004" pitchFamily="49" charset="0"/>
              </a:rPr>
              <a:t>) : val_1{</a:t>
            </a:r>
            <a:r>
              <a:rPr lang="en-US" sz="1200" dirty="0">
                <a:solidFill>
                  <a:srgbClr val="808080"/>
                </a:solidFill>
                <a:latin typeface="Cascadia Mono" panose="020B0609020000020004" pitchFamily="49" charset="0"/>
              </a:rPr>
              <a:t>v1</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virtual ~A() {};</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B</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A</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val_2;</a:t>
            </a:r>
          </a:p>
          <a:p>
            <a:r>
              <a:rPr lang="en-US" sz="1200" dirty="0">
                <a:solidFill>
                  <a:srgbClr val="000000"/>
                </a:solidFill>
                <a:latin typeface="Cascadia Mono" panose="020B0609020000020004" pitchFamily="49" charset="0"/>
              </a:rPr>
              <a:t>    B(</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v1</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v2</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A</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v1</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,val_2{</a:t>
            </a:r>
            <a:r>
              <a:rPr lang="en-US" sz="1200" dirty="0">
                <a:solidFill>
                  <a:srgbClr val="808080"/>
                </a:solidFill>
                <a:latin typeface="Cascadia Mono" panose="020B0609020000020004" pitchFamily="49" charset="0"/>
              </a:rPr>
              <a:t>v2</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a:t>
            </a:r>
          </a:p>
        </p:txBody>
      </p:sp>
      <p:sp>
        <p:nvSpPr>
          <p:cNvPr id="24" name="TextBox 23">
            <a:extLst>
              <a:ext uri="{FF2B5EF4-FFF2-40B4-BE49-F238E27FC236}">
                <a16:creationId xmlns:a16="http://schemas.microsoft.com/office/drawing/2014/main" id="{186BACF9-EDC3-409F-BE2E-9F9F43ACC168}"/>
              </a:ext>
            </a:extLst>
          </p:cNvPr>
          <p:cNvSpPr txBox="1"/>
          <p:nvPr/>
        </p:nvSpPr>
        <p:spPr>
          <a:xfrm>
            <a:off x="4059435" y="1288016"/>
            <a:ext cx="2841427" cy="3046988"/>
          </a:xfrm>
          <a:prstGeom prst="rect">
            <a:avLst/>
          </a:prstGeom>
          <a:noFill/>
        </p:spPr>
        <p:txBody>
          <a:bodyPr wrap="square">
            <a:spAutoFit/>
          </a:bodyPr>
          <a:lstStyle/>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A</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val_1;</a:t>
            </a:r>
          </a:p>
          <a:p>
            <a:r>
              <a:rPr lang="en-US" sz="1200" dirty="0">
                <a:solidFill>
                  <a:srgbClr val="000000"/>
                </a:solidFill>
                <a:latin typeface="Cascadia Mono" panose="020B0609020000020004" pitchFamily="49" charset="0"/>
              </a:rPr>
              <a:t>    A(</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v1</a:t>
            </a:r>
            <a:r>
              <a:rPr lang="en-US" sz="1200" dirty="0">
                <a:solidFill>
                  <a:srgbClr val="000000"/>
                </a:solidFill>
                <a:latin typeface="Cascadia Mono" panose="020B0609020000020004" pitchFamily="49" charset="0"/>
              </a:rPr>
              <a:t>) : val_1{</a:t>
            </a:r>
            <a:r>
              <a:rPr lang="en-US" sz="1200" dirty="0">
                <a:solidFill>
                  <a:srgbClr val="808080"/>
                </a:solidFill>
                <a:latin typeface="Cascadia Mono" panose="020B0609020000020004" pitchFamily="49" charset="0"/>
              </a:rPr>
              <a:t>v1</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virtual</a:t>
            </a:r>
            <a:r>
              <a:rPr lang="en-US" sz="1200" dirty="0">
                <a:solidFill>
                  <a:srgbClr val="000000"/>
                </a:solidFill>
                <a:latin typeface="Cascadia Mono" panose="020B0609020000020004" pitchFamily="49" charset="0"/>
              </a:rPr>
              <a:t> ~A() {};</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B</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A</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val_2;</a:t>
            </a:r>
          </a:p>
          <a:p>
            <a:r>
              <a:rPr lang="en-US" sz="1200" dirty="0">
                <a:solidFill>
                  <a:srgbClr val="000000"/>
                </a:solidFill>
                <a:latin typeface="Cascadia Mono" panose="020B0609020000020004" pitchFamily="49" charset="0"/>
              </a:rPr>
              <a:t>    B(</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v1</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v2</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A</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v1</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,val_2{</a:t>
            </a:r>
            <a:r>
              <a:rPr lang="en-US" sz="1200" dirty="0">
                <a:solidFill>
                  <a:srgbClr val="808080"/>
                </a:solidFill>
                <a:latin typeface="Cascadia Mono" panose="020B0609020000020004" pitchFamily="49" charset="0"/>
              </a:rPr>
              <a:t>v2</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a:t>
            </a:r>
          </a:p>
        </p:txBody>
      </p:sp>
      <p:sp>
        <p:nvSpPr>
          <p:cNvPr id="26" name="TextBox 25">
            <a:extLst>
              <a:ext uri="{FF2B5EF4-FFF2-40B4-BE49-F238E27FC236}">
                <a16:creationId xmlns:a16="http://schemas.microsoft.com/office/drawing/2014/main" id="{BBCC6D51-4604-4E78-B960-59E7592FD63C}"/>
              </a:ext>
            </a:extLst>
          </p:cNvPr>
          <p:cNvSpPr txBox="1"/>
          <p:nvPr/>
        </p:nvSpPr>
        <p:spPr>
          <a:xfrm>
            <a:off x="4059435" y="4335004"/>
            <a:ext cx="3153966" cy="1384995"/>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NOT_UB()</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B</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my_b</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new</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B</a:t>
            </a:r>
            <a:r>
              <a:rPr lang="en-US" sz="1200" dirty="0">
                <a:solidFill>
                  <a:srgbClr val="000000"/>
                </a:solidFill>
                <a:latin typeface="Cascadia Mono" panose="020B0609020000020004" pitchFamily="49" charset="0"/>
              </a:rPr>
              <a:t>(1, 2);</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A</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my_a</a:t>
            </a:r>
            <a:r>
              <a:rPr lang="en-US" sz="1200" dirty="0">
                <a:solidFill>
                  <a:srgbClr val="000000"/>
                </a:solidFill>
                <a:latin typeface="Cascadia Mono" panose="020B0609020000020004" pitchFamily="49" charset="0"/>
              </a:rPr>
              <a:t> = </a:t>
            </a:r>
            <a:r>
              <a:rPr lang="en-US" sz="1200" dirty="0" err="1">
                <a:solidFill>
                  <a:srgbClr val="000000"/>
                </a:solidFill>
                <a:latin typeface="Cascadia Mono" panose="020B0609020000020004" pitchFamily="49" charset="0"/>
              </a:rPr>
              <a:t>my_b</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delete</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my_a</a:t>
            </a: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fine</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delete </a:t>
            </a:r>
            <a:r>
              <a:rPr lang="en-US" sz="1200" dirty="0" err="1">
                <a:solidFill>
                  <a:srgbClr val="008000"/>
                </a:solidFill>
                <a:latin typeface="Cascadia Mono" panose="020B0609020000020004" pitchFamily="49" charset="0"/>
              </a:rPr>
              <a:t>my_b</a:t>
            </a:r>
            <a:r>
              <a:rPr lang="en-US" sz="1200" dirty="0">
                <a:solidFill>
                  <a:srgbClr val="008000"/>
                </a:solidFill>
                <a:latin typeface="Cascadia Mono" panose="020B0609020000020004" pitchFamily="49" charset="0"/>
              </a:rPr>
              <a:t> - fine</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endParaRPr lang="en-US" sz="1200" dirty="0"/>
          </a:p>
        </p:txBody>
      </p:sp>
    </p:spTree>
    <p:extLst>
      <p:ext uri="{BB962C8B-B14F-4D97-AF65-F5344CB8AC3E}">
        <p14:creationId xmlns:p14="http://schemas.microsoft.com/office/powerpoint/2010/main" val="36121037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new/delete vs malloc/free</a:t>
            </a:r>
          </a:p>
        </p:txBody>
      </p:sp>
      <p:sp>
        <p:nvSpPr>
          <p:cNvPr id="10" name="TextBox 9">
            <a:extLst>
              <a:ext uri="{FF2B5EF4-FFF2-40B4-BE49-F238E27FC236}">
                <a16:creationId xmlns:a16="http://schemas.microsoft.com/office/drawing/2014/main" id="{6EB272BB-B367-4AFA-A9B3-5756B0DC7778}"/>
              </a:ext>
            </a:extLst>
          </p:cNvPr>
          <p:cNvSpPr txBox="1"/>
          <p:nvPr/>
        </p:nvSpPr>
        <p:spPr>
          <a:xfrm>
            <a:off x="634008" y="1432679"/>
            <a:ext cx="6097190" cy="307777"/>
          </a:xfrm>
          <a:prstGeom prst="rect">
            <a:avLst/>
          </a:prstGeom>
          <a:noFill/>
        </p:spPr>
        <p:txBody>
          <a:bodyPr wrap="square">
            <a:spAutoFit/>
          </a:bodyPr>
          <a:lstStyle/>
          <a:p>
            <a:r>
              <a:rPr lang="ru-RU" sz="1400" dirty="0"/>
              <a:t>Основные проблемы при работе с указателями в </a:t>
            </a:r>
            <a:r>
              <a:rPr lang="en-US" sz="1400" dirty="0"/>
              <a:t>C++:</a:t>
            </a:r>
            <a:r>
              <a:rPr lang="ru-RU" sz="1400" dirty="0"/>
              <a:t> </a:t>
            </a:r>
            <a:endParaRPr lang="en-US" sz="1400" dirty="0"/>
          </a:p>
        </p:txBody>
      </p:sp>
      <p:sp>
        <p:nvSpPr>
          <p:cNvPr id="14" name="TextBox 13">
            <a:extLst>
              <a:ext uri="{FF2B5EF4-FFF2-40B4-BE49-F238E27FC236}">
                <a16:creationId xmlns:a16="http://schemas.microsoft.com/office/drawing/2014/main" id="{51D031D7-A93D-4A75-80A2-FC08BA7C82AC}"/>
              </a:ext>
            </a:extLst>
          </p:cNvPr>
          <p:cNvSpPr txBox="1"/>
          <p:nvPr/>
        </p:nvSpPr>
        <p:spPr>
          <a:xfrm>
            <a:off x="634008" y="1890834"/>
            <a:ext cx="7809905" cy="738664"/>
          </a:xfrm>
          <a:prstGeom prst="rect">
            <a:avLst/>
          </a:prstGeom>
          <a:noFill/>
        </p:spPr>
        <p:txBody>
          <a:bodyPr wrap="square">
            <a:spAutoFit/>
          </a:bodyPr>
          <a:lstStyle/>
          <a:p>
            <a:pPr marL="285750" indent="-285750">
              <a:buFont typeface="Arial" panose="020B0604020202020204" pitchFamily="34" charset="0"/>
              <a:buChar char="•"/>
            </a:pPr>
            <a:r>
              <a:rPr lang="en-US" sz="1400" dirty="0"/>
              <a:t>Memory leak: new</a:t>
            </a:r>
            <a:r>
              <a:rPr lang="ru-RU" sz="1400" dirty="0"/>
              <a:t>, а когда объект не нужен забыли вызвать </a:t>
            </a:r>
            <a:r>
              <a:rPr lang="en-US" sz="1400" dirty="0"/>
              <a:t>delete</a:t>
            </a:r>
          </a:p>
          <a:p>
            <a:pPr marL="285750" indent="-285750">
              <a:buFont typeface="Arial" panose="020B0604020202020204" pitchFamily="34" charset="0"/>
              <a:buChar char="•"/>
            </a:pPr>
            <a:r>
              <a:rPr lang="ru-RU" sz="1400" dirty="0"/>
              <a:t>Раннее удаление</a:t>
            </a:r>
            <a:r>
              <a:rPr lang="en-US" sz="1400" dirty="0"/>
              <a:t>: </a:t>
            </a:r>
            <a:r>
              <a:rPr lang="ru-RU" sz="1400" dirty="0"/>
              <a:t>Объект был удален, а указатель на него где то используется</a:t>
            </a:r>
            <a:endParaRPr lang="en-US" sz="1400" dirty="0"/>
          </a:p>
          <a:p>
            <a:pPr marL="285750" indent="-285750">
              <a:buFont typeface="Arial" panose="020B0604020202020204" pitchFamily="34" charset="0"/>
              <a:buChar char="•"/>
            </a:pPr>
            <a:r>
              <a:rPr lang="ru-RU" sz="1400" dirty="0"/>
              <a:t>Двойное удаление</a:t>
            </a:r>
            <a:r>
              <a:rPr lang="en-US" sz="1400" dirty="0"/>
              <a:t>: </a:t>
            </a:r>
            <a:r>
              <a:rPr lang="ru-RU" sz="1400" dirty="0"/>
              <a:t>Попытка удаления объекта дважды</a:t>
            </a:r>
            <a:endParaRPr lang="en-US" sz="1400" dirty="0"/>
          </a:p>
        </p:txBody>
      </p:sp>
      <p:sp>
        <p:nvSpPr>
          <p:cNvPr id="16" name="TextBox 15">
            <a:extLst>
              <a:ext uri="{FF2B5EF4-FFF2-40B4-BE49-F238E27FC236}">
                <a16:creationId xmlns:a16="http://schemas.microsoft.com/office/drawing/2014/main" id="{3CEC279D-6EDA-4F96-8286-0C5485C28135}"/>
              </a:ext>
            </a:extLst>
          </p:cNvPr>
          <p:cNvSpPr txBox="1"/>
          <p:nvPr/>
        </p:nvSpPr>
        <p:spPr>
          <a:xfrm>
            <a:off x="634008" y="2690336"/>
            <a:ext cx="8202811" cy="307777"/>
          </a:xfrm>
          <a:prstGeom prst="rect">
            <a:avLst/>
          </a:prstGeom>
          <a:noFill/>
        </p:spPr>
        <p:txBody>
          <a:bodyPr wrap="square">
            <a:spAutoFit/>
          </a:bodyPr>
          <a:lstStyle/>
          <a:p>
            <a:r>
              <a:rPr lang="ru-RU" sz="1400" dirty="0"/>
              <a:t>Два последних пунка это </a:t>
            </a:r>
            <a:r>
              <a:rPr lang="en-US" sz="1400" dirty="0"/>
              <a:t>UB!</a:t>
            </a:r>
            <a:r>
              <a:rPr lang="ru-RU" sz="1400" dirty="0"/>
              <a:t> </a:t>
            </a:r>
            <a:r>
              <a:rPr lang="en-US" sz="1400" dirty="0"/>
              <a:t>Memory leak </a:t>
            </a:r>
            <a:r>
              <a:rPr lang="ru-RU" sz="1400" dirty="0"/>
              <a:t>рано или поздно приведет к падению программы.</a:t>
            </a:r>
            <a:endParaRPr lang="en-US" sz="1400" dirty="0"/>
          </a:p>
        </p:txBody>
      </p:sp>
      <p:sp>
        <p:nvSpPr>
          <p:cNvPr id="17" name="TextBox 16">
            <a:extLst>
              <a:ext uri="{FF2B5EF4-FFF2-40B4-BE49-F238E27FC236}">
                <a16:creationId xmlns:a16="http://schemas.microsoft.com/office/drawing/2014/main" id="{8D373239-9CE8-4356-B6E0-9151E8C640D6}"/>
              </a:ext>
            </a:extLst>
          </p:cNvPr>
          <p:cNvSpPr txBox="1"/>
          <p:nvPr/>
        </p:nvSpPr>
        <p:spPr>
          <a:xfrm>
            <a:off x="634008" y="3034879"/>
            <a:ext cx="8202811" cy="307777"/>
          </a:xfrm>
          <a:prstGeom prst="rect">
            <a:avLst/>
          </a:prstGeom>
          <a:noFill/>
        </p:spPr>
        <p:txBody>
          <a:bodyPr wrap="square">
            <a:spAutoFit/>
          </a:bodyPr>
          <a:lstStyle/>
          <a:p>
            <a:r>
              <a:rPr lang="ru-RU" sz="1400" dirty="0"/>
              <a:t>Как избежать эти проблемы?</a:t>
            </a:r>
            <a:endParaRPr lang="en-US" sz="1400" dirty="0"/>
          </a:p>
        </p:txBody>
      </p:sp>
    </p:spTree>
    <p:extLst>
      <p:ext uri="{BB962C8B-B14F-4D97-AF65-F5344CB8AC3E}">
        <p14:creationId xmlns:p14="http://schemas.microsoft.com/office/powerpoint/2010/main" val="25076656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STL</a:t>
            </a:r>
          </a:p>
        </p:txBody>
      </p:sp>
      <p:sp>
        <p:nvSpPr>
          <p:cNvPr id="6" name="TextBox 5">
            <a:extLst>
              <a:ext uri="{FF2B5EF4-FFF2-40B4-BE49-F238E27FC236}">
                <a16:creationId xmlns:a16="http://schemas.microsoft.com/office/drawing/2014/main" id="{9C444052-9DC6-46BC-A551-98707C978316}"/>
              </a:ext>
            </a:extLst>
          </p:cNvPr>
          <p:cNvSpPr txBox="1"/>
          <p:nvPr/>
        </p:nvSpPr>
        <p:spPr>
          <a:xfrm>
            <a:off x="5420321" y="1937207"/>
            <a:ext cx="6097190" cy="3416320"/>
          </a:xfrm>
          <a:prstGeom prst="rect">
            <a:avLst/>
          </a:prstGeom>
          <a:noFill/>
        </p:spPr>
        <p:txBody>
          <a:bodyPr wrap="square">
            <a:spAutoFit/>
          </a:bodyPr>
          <a:lstStyle/>
          <a:p>
            <a:r>
              <a:rPr lang="en-US" sz="1200" dirty="0">
                <a:solidFill>
                  <a:srgbClr val="0000FF"/>
                </a:solidFill>
                <a:latin typeface="Cascadia Mono" panose="020B0609020000020004" pitchFamily="49" charset="0"/>
              </a:rPr>
              <a:t>static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rs_codec</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codec_init</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symsize</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gfpoly</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gffunc</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fcr</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prim</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nroots</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gfp_t</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gfp</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if</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sr</a:t>
            </a:r>
            <a:r>
              <a:rPr lang="en-US" sz="1200" dirty="0">
                <a:solidFill>
                  <a:srgbClr val="000000"/>
                </a:solidFill>
                <a:latin typeface="Cascadia Mono" panose="020B0609020000020004" pitchFamily="49" charset="0"/>
              </a:rPr>
              <a:t> != </a:t>
            </a:r>
            <a:r>
              <a:rPr lang="en-US" sz="1200" dirty="0" err="1">
                <a:solidFill>
                  <a:srgbClr val="000000"/>
                </a:solidFill>
                <a:latin typeface="Cascadia Mono" panose="020B0609020000020004" pitchFamily="49" charset="0"/>
              </a:rPr>
              <a:t>rs</a:t>
            </a:r>
            <a:r>
              <a:rPr lang="en-US" sz="1200" dirty="0">
                <a:solidFill>
                  <a:srgbClr val="000000"/>
                </a:solidFill>
                <a:latin typeface="Cascadia Mono" panose="020B0609020000020004" pitchFamily="49" charset="0"/>
              </a:rPr>
              <a:t>-&gt;</a:t>
            </a:r>
            <a:r>
              <a:rPr lang="en-US" sz="1200" dirty="0" err="1">
                <a:solidFill>
                  <a:srgbClr val="000000"/>
                </a:solidFill>
                <a:latin typeface="Cascadia Mono" panose="020B0609020000020004" pitchFamily="49" charset="0"/>
              </a:rPr>
              <a:t>alpha_to</a:t>
            </a:r>
            <a:r>
              <a:rPr lang="en-US" sz="1200" dirty="0">
                <a:solidFill>
                  <a:srgbClr val="000000"/>
                </a:solidFill>
                <a:latin typeface="Cascadia Mono" panose="020B0609020000020004" pitchFamily="49" charset="0"/>
              </a:rPr>
              <a:t>[0])</a:t>
            </a:r>
          </a:p>
          <a:p>
            <a:r>
              <a:rPr lang="en-US" sz="1200" dirty="0">
                <a:solidFill>
                  <a:srgbClr val="000000"/>
                </a:solidFill>
                <a:latin typeface="Cascadia Mono" panose="020B0609020000020004" pitchFamily="49" charset="0"/>
              </a:rPr>
              <a:t>        </a:t>
            </a:r>
            <a:r>
              <a:rPr lang="en-US" sz="1200" dirty="0" err="1">
                <a:solidFill>
                  <a:srgbClr val="FF0000"/>
                </a:solidFill>
                <a:latin typeface="Cascadia Mono" panose="020B0609020000020004" pitchFamily="49" charset="0"/>
              </a:rPr>
              <a:t>goto</a:t>
            </a:r>
            <a:r>
              <a:rPr lang="en-US" sz="1200" dirty="0">
                <a:solidFill>
                  <a:srgbClr val="FF0000"/>
                </a:solidFill>
                <a:latin typeface="Cascadia Mono" panose="020B0609020000020004" pitchFamily="49" charset="0"/>
              </a:rPr>
              <a:t> err;</a:t>
            </a:r>
          </a:p>
          <a:p>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 </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rs</a:t>
            </a:r>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FF0000"/>
                </a:solidFill>
                <a:latin typeface="Cascadia Mono" panose="020B0609020000020004" pitchFamily="49" charset="0"/>
              </a:rPr>
              <a:t>err:</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kfree</a:t>
            </a:r>
            <a:r>
              <a:rPr lang="en-US" sz="1200" dirty="0">
                <a:solidFill>
                  <a:srgbClr val="000000"/>
                </a:solidFill>
                <a:latin typeface="Cascadia Mono" panose="020B0609020000020004" pitchFamily="49" charset="0"/>
              </a:rPr>
              <a:t>(</a:t>
            </a:r>
            <a:r>
              <a:rPr lang="en-US" sz="1200" dirty="0" err="1">
                <a:solidFill>
                  <a:srgbClr val="000000"/>
                </a:solidFill>
                <a:latin typeface="Cascadia Mono" panose="020B0609020000020004" pitchFamily="49" charset="0"/>
              </a:rPr>
              <a:t>rs</a:t>
            </a:r>
            <a:r>
              <a:rPr lang="en-US" sz="1200" dirty="0">
                <a:solidFill>
                  <a:srgbClr val="000000"/>
                </a:solidFill>
                <a:latin typeface="Cascadia Mono" panose="020B0609020000020004" pitchFamily="49" charset="0"/>
              </a:rPr>
              <a:t>-&gt;</a:t>
            </a:r>
            <a:r>
              <a:rPr lang="en-US" sz="1200" dirty="0" err="1">
                <a:solidFill>
                  <a:srgbClr val="000000"/>
                </a:solidFill>
                <a:latin typeface="Cascadia Mono" panose="020B0609020000020004" pitchFamily="49" charset="0"/>
              </a:rPr>
              <a:t>genpoly</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kfree</a:t>
            </a:r>
            <a:r>
              <a:rPr lang="en-US" sz="1200" dirty="0">
                <a:solidFill>
                  <a:srgbClr val="000000"/>
                </a:solidFill>
                <a:latin typeface="Cascadia Mono" panose="020B0609020000020004" pitchFamily="49" charset="0"/>
              </a:rPr>
              <a:t>(</a:t>
            </a:r>
            <a:r>
              <a:rPr lang="en-US" sz="1200" dirty="0" err="1">
                <a:solidFill>
                  <a:srgbClr val="000000"/>
                </a:solidFill>
                <a:latin typeface="Cascadia Mono" panose="020B0609020000020004" pitchFamily="49" charset="0"/>
              </a:rPr>
              <a:t>rs</a:t>
            </a:r>
            <a:r>
              <a:rPr lang="en-US" sz="1200" dirty="0">
                <a:solidFill>
                  <a:srgbClr val="000000"/>
                </a:solidFill>
                <a:latin typeface="Cascadia Mono" panose="020B0609020000020004" pitchFamily="49" charset="0"/>
              </a:rPr>
              <a:t>-&gt;</a:t>
            </a:r>
            <a:r>
              <a:rPr lang="en-US" sz="1200" dirty="0" err="1">
                <a:solidFill>
                  <a:srgbClr val="000000"/>
                </a:solidFill>
                <a:latin typeface="Cascadia Mono" panose="020B0609020000020004" pitchFamily="49" charset="0"/>
              </a:rPr>
              <a:t>index_of</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kfree</a:t>
            </a:r>
            <a:r>
              <a:rPr lang="en-US" sz="1200" dirty="0">
                <a:solidFill>
                  <a:srgbClr val="000000"/>
                </a:solidFill>
                <a:latin typeface="Cascadia Mono" panose="020B0609020000020004" pitchFamily="49" charset="0"/>
              </a:rPr>
              <a:t>(</a:t>
            </a:r>
            <a:r>
              <a:rPr lang="en-US" sz="1200" dirty="0" err="1">
                <a:solidFill>
                  <a:srgbClr val="000000"/>
                </a:solidFill>
                <a:latin typeface="Cascadia Mono" panose="020B0609020000020004" pitchFamily="49" charset="0"/>
              </a:rPr>
              <a:t>rs</a:t>
            </a:r>
            <a:r>
              <a:rPr lang="en-US" sz="1200" dirty="0">
                <a:solidFill>
                  <a:srgbClr val="000000"/>
                </a:solidFill>
                <a:latin typeface="Cascadia Mono" panose="020B0609020000020004" pitchFamily="49" charset="0"/>
              </a:rPr>
              <a:t>-&gt;</a:t>
            </a:r>
            <a:r>
              <a:rPr lang="en-US" sz="1200" dirty="0" err="1">
                <a:solidFill>
                  <a:srgbClr val="000000"/>
                </a:solidFill>
                <a:latin typeface="Cascadia Mono" panose="020B0609020000020004" pitchFamily="49" charset="0"/>
              </a:rPr>
              <a:t>alpha_to</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kfree</a:t>
            </a:r>
            <a:r>
              <a:rPr lang="en-US" sz="1200" dirty="0">
                <a:solidFill>
                  <a:srgbClr val="000000"/>
                </a:solidFill>
                <a:latin typeface="Cascadia Mono" panose="020B0609020000020004" pitchFamily="49" charset="0"/>
              </a:rPr>
              <a:t>(</a:t>
            </a:r>
            <a:r>
              <a:rPr lang="en-US" sz="1200" dirty="0" err="1">
                <a:solidFill>
                  <a:srgbClr val="000000"/>
                </a:solidFill>
                <a:latin typeface="Cascadia Mono" panose="020B0609020000020004" pitchFamily="49" charset="0"/>
              </a:rPr>
              <a:t>rs</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6F008A"/>
                </a:solidFill>
                <a:latin typeface="Cascadia Mono" panose="020B0609020000020004" pitchFamily="49" charset="0"/>
              </a:rPr>
              <a:t>NULL</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endParaRPr lang="en-US" sz="1200" dirty="0"/>
          </a:p>
        </p:txBody>
      </p:sp>
      <p:sp>
        <p:nvSpPr>
          <p:cNvPr id="5" name="TextBox 4">
            <a:extLst>
              <a:ext uri="{FF2B5EF4-FFF2-40B4-BE49-F238E27FC236}">
                <a16:creationId xmlns:a16="http://schemas.microsoft.com/office/drawing/2014/main" id="{3332B627-9B41-4B0A-BE1D-11B4E3F3E330}"/>
              </a:ext>
            </a:extLst>
          </p:cNvPr>
          <p:cNvSpPr txBox="1"/>
          <p:nvPr/>
        </p:nvSpPr>
        <p:spPr>
          <a:xfrm>
            <a:off x="5436990" y="1504473"/>
            <a:ext cx="2242922" cy="369332"/>
          </a:xfrm>
          <a:prstGeom prst="rect">
            <a:avLst/>
          </a:prstGeom>
          <a:noFill/>
        </p:spPr>
        <p:txBody>
          <a:bodyPr wrap="none" rtlCol="0">
            <a:spAutoFit/>
          </a:bodyPr>
          <a:lstStyle/>
          <a:p>
            <a:r>
              <a:rPr lang="en-US" dirty="0"/>
              <a:t>Linux code example:</a:t>
            </a:r>
          </a:p>
        </p:txBody>
      </p:sp>
      <p:sp>
        <p:nvSpPr>
          <p:cNvPr id="11" name="TextBox 10">
            <a:extLst>
              <a:ext uri="{FF2B5EF4-FFF2-40B4-BE49-F238E27FC236}">
                <a16:creationId xmlns:a16="http://schemas.microsoft.com/office/drawing/2014/main" id="{2DB25B81-703C-47E8-88E6-84AFBF60FBC7}"/>
              </a:ext>
            </a:extLst>
          </p:cNvPr>
          <p:cNvSpPr txBox="1"/>
          <p:nvPr/>
        </p:nvSpPr>
        <p:spPr>
          <a:xfrm>
            <a:off x="741545" y="2122711"/>
            <a:ext cx="6097190" cy="1200329"/>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test()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my_memory</a:t>
            </a:r>
            <a:r>
              <a:rPr lang="en-US" sz="1200" dirty="0">
                <a:solidFill>
                  <a:srgbClr val="000000"/>
                </a:solidFill>
                <a:latin typeface="Cascadia Mono" panose="020B0609020000020004" pitchFamily="49" charset="0"/>
              </a:rPr>
              <a:t> = malloc(</a:t>
            </a:r>
            <a:r>
              <a:rPr lang="en-US" sz="1200" dirty="0" err="1">
                <a:solidFill>
                  <a:srgbClr val="0000FF"/>
                </a:solidFill>
                <a:latin typeface="Cascadia Mono" panose="020B0609020000020004" pitchFamily="49" charset="0"/>
              </a:rPr>
              <a:t>sizeof</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char</a:t>
            </a:r>
            <a:r>
              <a:rPr lang="en-US" sz="1200" dirty="0">
                <a:solidFill>
                  <a:srgbClr val="000000"/>
                </a:solidFill>
                <a:latin typeface="Cascadia Mono" panose="020B0609020000020004" pitchFamily="49" charset="0"/>
              </a:rPr>
              <a:t>) * 16);</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free(</a:t>
            </a:r>
            <a:r>
              <a:rPr lang="en-US" sz="1200" dirty="0" err="1">
                <a:solidFill>
                  <a:srgbClr val="000000"/>
                </a:solidFill>
                <a:latin typeface="Cascadia Mono" panose="020B0609020000020004" pitchFamily="49" charset="0"/>
              </a:rPr>
              <a:t>my_memory</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endParaRPr lang="en-US" sz="1200" dirty="0"/>
          </a:p>
        </p:txBody>
      </p:sp>
      <p:sp>
        <p:nvSpPr>
          <p:cNvPr id="12" name="TextBox 11">
            <a:extLst>
              <a:ext uri="{FF2B5EF4-FFF2-40B4-BE49-F238E27FC236}">
                <a16:creationId xmlns:a16="http://schemas.microsoft.com/office/drawing/2014/main" id="{1912F228-5DA2-4EDD-9AAE-245A183A9BB3}"/>
              </a:ext>
            </a:extLst>
          </p:cNvPr>
          <p:cNvSpPr txBox="1"/>
          <p:nvPr/>
        </p:nvSpPr>
        <p:spPr>
          <a:xfrm>
            <a:off x="674489" y="1504473"/>
            <a:ext cx="3229987" cy="369332"/>
          </a:xfrm>
          <a:prstGeom prst="rect">
            <a:avLst/>
          </a:prstGeom>
          <a:noFill/>
        </p:spPr>
        <p:txBody>
          <a:bodyPr wrap="none" rtlCol="0">
            <a:spAutoFit/>
          </a:bodyPr>
          <a:lstStyle/>
          <a:p>
            <a:r>
              <a:rPr lang="en-US" dirty="0"/>
              <a:t>C style memory management:</a:t>
            </a:r>
          </a:p>
        </p:txBody>
      </p:sp>
      <p:sp>
        <p:nvSpPr>
          <p:cNvPr id="14" name="TextBox 13">
            <a:extLst>
              <a:ext uri="{FF2B5EF4-FFF2-40B4-BE49-F238E27FC236}">
                <a16:creationId xmlns:a16="http://schemas.microsoft.com/office/drawing/2014/main" id="{B48E28EC-0C36-49B4-8B1F-59F9E13FC449}"/>
              </a:ext>
            </a:extLst>
          </p:cNvPr>
          <p:cNvSpPr txBox="1"/>
          <p:nvPr/>
        </p:nvSpPr>
        <p:spPr>
          <a:xfrm>
            <a:off x="674489" y="3734933"/>
            <a:ext cx="6097190" cy="1200329"/>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test_cpp</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uint8_t</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my_memory</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new</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uint8_t</a:t>
            </a:r>
            <a:r>
              <a:rPr lang="en-US" sz="1200" dirty="0">
                <a:solidFill>
                  <a:srgbClr val="000000"/>
                </a:solidFill>
                <a:latin typeface="Cascadia Mono" panose="020B0609020000020004" pitchFamily="49" charset="0"/>
              </a:rPr>
              <a:t>[16];</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delete</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my_memory</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endParaRPr lang="en-US" sz="1200" dirty="0"/>
          </a:p>
        </p:txBody>
      </p:sp>
    </p:spTree>
    <p:extLst>
      <p:ext uri="{BB962C8B-B14F-4D97-AF65-F5344CB8AC3E}">
        <p14:creationId xmlns:p14="http://schemas.microsoft.com/office/powerpoint/2010/main" val="22685172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RAII</a:t>
            </a:r>
          </a:p>
        </p:txBody>
      </p:sp>
      <p:sp>
        <p:nvSpPr>
          <p:cNvPr id="10" name="TextBox 9">
            <a:extLst>
              <a:ext uri="{FF2B5EF4-FFF2-40B4-BE49-F238E27FC236}">
                <a16:creationId xmlns:a16="http://schemas.microsoft.com/office/drawing/2014/main" id="{6EB272BB-B367-4AFA-A9B3-5756B0DC7778}"/>
              </a:ext>
            </a:extLst>
          </p:cNvPr>
          <p:cNvSpPr txBox="1"/>
          <p:nvPr/>
        </p:nvSpPr>
        <p:spPr>
          <a:xfrm>
            <a:off x="634007" y="1432679"/>
            <a:ext cx="7795617" cy="523220"/>
          </a:xfrm>
          <a:prstGeom prst="rect">
            <a:avLst/>
          </a:prstGeom>
          <a:noFill/>
        </p:spPr>
        <p:txBody>
          <a:bodyPr wrap="square">
            <a:spAutoFit/>
          </a:bodyPr>
          <a:lstStyle/>
          <a:p>
            <a:r>
              <a:rPr lang="en-US" sz="1400" dirty="0"/>
              <a:t>Resource acquisition is initialization</a:t>
            </a:r>
            <a:r>
              <a:rPr lang="ru-RU" sz="1400" dirty="0"/>
              <a:t> - Получение ресурса есть инициализация</a:t>
            </a:r>
          </a:p>
          <a:p>
            <a:endParaRPr lang="en-US" sz="1400" dirty="0"/>
          </a:p>
        </p:txBody>
      </p:sp>
      <p:sp>
        <p:nvSpPr>
          <p:cNvPr id="11" name="TextBox 10">
            <a:extLst>
              <a:ext uri="{FF2B5EF4-FFF2-40B4-BE49-F238E27FC236}">
                <a16:creationId xmlns:a16="http://schemas.microsoft.com/office/drawing/2014/main" id="{F6454803-B599-4803-8DCC-B6CAB30C5483}"/>
              </a:ext>
            </a:extLst>
          </p:cNvPr>
          <p:cNvSpPr txBox="1"/>
          <p:nvPr/>
        </p:nvSpPr>
        <p:spPr>
          <a:xfrm>
            <a:off x="634007" y="1903513"/>
            <a:ext cx="6097190" cy="954107"/>
          </a:xfrm>
          <a:prstGeom prst="rect">
            <a:avLst/>
          </a:prstGeom>
          <a:noFill/>
        </p:spPr>
        <p:txBody>
          <a:bodyPr wrap="square">
            <a:spAutoFit/>
          </a:bodyPr>
          <a:lstStyle/>
          <a:p>
            <a:r>
              <a:rPr lang="ru-RU" sz="1400" dirty="0"/>
              <a:t>Одна из ключевых задач любой нетривиальной программы это менеджмент ресурсов. Это может быть память, </a:t>
            </a:r>
            <a:r>
              <a:rPr lang="en-US" sz="1400" dirty="0"/>
              <a:t>handle </a:t>
            </a:r>
            <a:r>
              <a:rPr lang="ru-RU" sz="1400" dirty="0"/>
              <a:t>на файл, сокеты, </a:t>
            </a:r>
            <a:r>
              <a:rPr lang="en-US" sz="1400" dirty="0"/>
              <a:t>thread handle.</a:t>
            </a:r>
            <a:r>
              <a:rPr lang="ru-RU" sz="1400" dirty="0"/>
              <a:t> Для программы которая работает долго (например серверное ПО) </a:t>
            </a:r>
            <a:r>
              <a:rPr lang="en-US" sz="1400" dirty="0"/>
              <a:t>memory leak </a:t>
            </a:r>
            <a:r>
              <a:rPr lang="ru-RU" sz="1400" dirty="0"/>
              <a:t>приведет к падению программы.</a:t>
            </a:r>
            <a:endParaRPr lang="en-US" sz="1400" dirty="0"/>
          </a:p>
        </p:txBody>
      </p:sp>
      <p:sp>
        <p:nvSpPr>
          <p:cNvPr id="12" name="TextBox 11">
            <a:extLst>
              <a:ext uri="{FF2B5EF4-FFF2-40B4-BE49-F238E27FC236}">
                <a16:creationId xmlns:a16="http://schemas.microsoft.com/office/drawing/2014/main" id="{A3FD99D2-AB87-4048-9CB8-CC756D27A66B}"/>
              </a:ext>
            </a:extLst>
          </p:cNvPr>
          <p:cNvSpPr txBox="1"/>
          <p:nvPr/>
        </p:nvSpPr>
        <p:spPr>
          <a:xfrm>
            <a:off x="634007" y="3020677"/>
            <a:ext cx="6097190" cy="307777"/>
          </a:xfrm>
          <a:prstGeom prst="rect">
            <a:avLst/>
          </a:prstGeom>
          <a:noFill/>
        </p:spPr>
        <p:txBody>
          <a:bodyPr wrap="square">
            <a:spAutoFit/>
          </a:bodyPr>
          <a:lstStyle/>
          <a:p>
            <a:r>
              <a:rPr lang="ru-RU" sz="1400" dirty="0"/>
              <a:t>Компоненты </a:t>
            </a:r>
            <a:r>
              <a:rPr lang="en-US" sz="1400" dirty="0"/>
              <a:t>STL </a:t>
            </a:r>
            <a:r>
              <a:rPr lang="ru-RU" sz="1400" dirty="0"/>
              <a:t>разработанны так чтобы ресурсы не утекали</a:t>
            </a:r>
            <a:r>
              <a:rPr lang="en-US" sz="1400" dirty="0"/>
              <a:t> </a:t>
            </a:r>
          </a:p>
        </p:txBody>
      </p:sp>
      <p:sp>
        <p:nvSpPr>
          <p:cNvPr id="13" name="TextBox 12">
            <a:extLst>
              <a:ext uri="{FF2B5EF4-FFF2-40B4-BE49-F238E27FC236}">
                <a16:creationId xmlns:a16="http://schemas.microsoft.com/office/drawing/2014/main" id="{9165CF91-DDBE-4F12-9DCE-771C6C4A9E52}"/>
              </a:ext>
            </a:extLst>
          </p:cNvPr>
          <p:cNvSpPr txBox="1"/>
          <p:nvPr/>
        </p:nvSpPr>
        <p:spPr>
          <a:xfrm>
            <a:off x="684013" y="3484367"/>
            <a:ext cx="6097190" cy="2031325"/>
          </a:xfrm>
          <a:prstGeom prst="rect">
            <a:avLst/>
          </a:prstGeom>
          <a:noFill/>
        </p:spPr>
        <p:txBody>
          <a:bodyPr wrap="square">
            <a:spAutoFit/>
          </a:bodyPr>
          <a:lstStyle/>
          <a:p>
            <a:r>
              <a:rPr lang="en-US" sz="1400" dirty="0">
                <a:solidFill>
                  <a:srgbClr val="0000FF"/>
                </a:solidFill>
                <a:latin typeface="Cascadia Mono" panose="020B0609020000020004" pitchFamily="49" charset="0"/>
              </a:rPr>
              <a:t>template</a:t>
            </a:r>
            <a:r>
              <a:rPr lang="en-US" sz="1400" dirty="0">
                <a:solidFill>
                  <a:srgbClr val="000000"/>
                </a:solidFill>
                <a:latin typeface="Cascadia Mono" panose="020B0609020000020004" pitchFamily="49" charset="0"/>
              </a:rPr>
              <a:t> &lt;</a:t>
            </a:r>
            <a:r>
              <a:rPr lang="en-US" sz="1400" dirty="0" err="1">
                <a:solidFill>
                  <a:srgbClr val="0000FF"/>
                </a:solidFill>
                <a:latin typeface="Cascadia Mono" panose="020B0609020000020004" pitchFamily="49" charset="0"/>
              </a:rPr>
              <a:t>typename</a:t>
            </a:r>
            <a:r>
              <a:rPr lang="en-US" sz="1400" dirty="0">
                <a:solidFill>
                  <a:srgbClr val="000000"/>
                </a:solidFill>
                <a:latin typeface="Cascadia Mono" panose="020B0609020000020004" pitchFamily="49" charset="0"/>
              </a:rPr>
              <a:t> </a:t>
            </a:r>
            <a:r>
              <a:rPr lang="en-US" sz="1400" dirty="0">
                <a:solidFill>
                  <a:srgbClr val="2B91AF"/>
                </a:solidFill>
                <a:latin typeface="Cascadia Mono" panose="020B0609020000020004" pitchFamily="49" charset="0"/>
              </a:rPr>
              <a:t>T</a:t>
            </a:r>
            <a:r>
              <a:rPr lang="en-US" sz="1400" dirty="0">
                <a:solidFill>
                  <a:srgbClr val="000000"/>
                </a:solidFill>
                <a:latin typeface="Cascadia Mono" panose="020B0609020000020004" pitchFamily="49" charset="0"/>
              </a:rPr>
              <a:t>&gt;</a:t>
            </a:r>
          </a:p>
          <a:p>
            <a:r>
              <a:rPr lang="en-US" sz="1400" dirty="0">
                <a:solidFill>
                  <a:srgbClr val="0000FF"/>
                </a:solidFill>
                <a:latin typeface="Cascadia Mono" panose="020B0609020000020004" pitchFamily="49" charset="0"/>
              </a:rPr>
              <a:t>class</a:t>
            </a:r>
            <a:r>
              <a:rPr lang="en-US" sz="1400" dirty="0">
                <a:solidFill>
                  <a:srgbClr val="000000"/>
                </a:solidFill>
                <a:latin typeface="Cascadia Mono" panose="020B0609020000020004" pitchFamily="49" charset="0"/>
              </a:rPr>
              <a:t> </a:t>
            </a:r>
            <a:r>
              <a:rPr lang="en-US" sz="1400" dirty="0" err="1">
                <a:solidFill>
                  <a:srgbClr val="2B91AF"/>
                </a:solidFill>
                <a:latin typeface="Cascadia Mono" panose="020B0609020000020004" pitchFamily="49" charset="0"/>
              </a:rPr>
              <a:t>UniquePointerSimple</a:t>
            </a:r>
            <a:endParaRPr lang="en-US" sz="1400" dirty="0">
              <a:solidFill>
                <a:srgbClr val="000000"/>
              </a:solidFill>
              <a:latin typeface="Cascadia Mono" panose="020B0609020000020004" pitchFamily="49" charset="0"/>
            </a:endParaRPr>
          </a:p>
          <a:p>
            <a:r>
              <a:rPr lang="en-US" sz="1400" dirty="0">
                <a:solidFill>
                  <a:srgbClr val="000000"/>
                </a:solidFill>
                <a:latin typeface="Cascadia Mono" panose="020B0609020000020004" pitchFamily="49" charset="0"/>
              </a:rPr>
              <a:t>{</a:t>
            </a:r>
          </a:p>
          <a:p>
            <a:r>
              <a:rPr lang="en-US" sz="1400" dirty="0">
                <a:solidFill>
                  <a:srgbClr val="000000"/>
                </a:solidFill>
                <a:latin typeface="Cascadia Mono" panose="020B0609020000020004" pitchFamily="49" charset="0"/>
              </a:rPr>
              <a:t>    </a:t>
            </a:r>
            <a:r>
              <a:rPr lang="en-US" sz="1400" dirty="0">
                <a:solidFill>
                  <a:srgbClr val="2B91AF"/>
                </a:solidFill>
                <a:latin typeface="Cascadia Mono" panose="020B0609020000020004" pitchFamily="49" charset="0"/>
              </a:rPr>
              <a:t>T</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m_ptr</a:t>
            </a:r>
            <a:r>
              <a:rPr lang="en-US" sz="1400" dirty="0">
                <a:solidFill>
                  <a:srgbClr val="000000"/>
                </a:solidFill>
                <a:latin typeface="Cascadia Mono" panose="020B0609020000020004" pitchFamily="49" charset="0"/>
              </a:rPr>
              <a:t> = </a:t>
            </a:r>
            <a:r>
              <a:rPr lang="en-US" sz="1400" dirty="0" err="1">
                <a:solidFill>
                  <a:srgbClr val="0000FF"/>
                </a:solidFill>
                <a:latin typeface="Cascadia Mono" panose="020B0609020000020004" pitchFamily="49" charset="0"/>
              </a:rPr>
              <a:t>nullptr</a:t>
            </a:r>
            <a:r>
              <a:rPr lang="en-US" sz="1400" dirty="0">
                <a:solidFill>
                  <a:srgbClr val="000000"/>
                </a:solidFill>
                <a:latin typeface="Cascadia Mono" panose="020B0609020000020004" pitchFamily="49" charset="0"/>
              </a:rPr>
              <a:t>;</a:t>
            </a:r>
          </a:p>
          <a:p>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a:t>
            </a:r>
          </a:p>
          <a:p>
            <a:r>
              <a:rPr lang="fr-FR" sz="1400" dirty="0">
                <a:solidFill>
                  <a:srgbClr val="000000"/>
                </a:solidFill>
                <a:latin typeface="Cascadia Mono" panose="020B0609020000020004" pitchFamily="49" charset="0"/>
              </a:rPr>
              <a:t>    </a:t>
            </a:r>
            <a:r>
              <a:rPr lang="fr-FR" sz="1400" dirty="0" err="1">
                <a:solidFill>
                  <a:srgbClr val="000000"/>
                </a:solidFill>
                <a:latin typeface="Cascadia Mono" panose="020B0609020000020004" pitchFamily="49" charset="0"/>
              </a:rPr>
              <a:t>UniquePointerSimple</a:t>
            </a:r>
            <a:r>
              <a:rPr lang="fr-FR" sz="1400" dirty="0">
                <a:solidFill>
                  <a:srgbClr val="000000"/>
                </a:solidFill>
                <a:latin typeface="Cascadia Mono" panose="020B0609020000020004" pitchFamily="49" charset="0"/>
              </a:rPr>
              <a:t>(</a:t>
            </a:r>
            <a:r>
              <a:rPr lang="fr-FR" sz="1400" dirty="0">
                <a:solidFill>
                  <a:srgbClr val="2B91AF"/>
                </a:solidFill>
                <a:latin typeface="Cascadia Mono" panose="020B0609020000020004" pitchFamily="49" charset="0"/>
              </a:rPr>
              <a:t>T</a:t>
            </a:r>
            <a:r>
              <a:rPr lang="fr-FR" sz="1400" dirty="0">
                <a:solidFill>
                  <a:srgbClr val="000000"/>
                </a:solidFill>
                <a:latin typeface="Cascadia Mono" panose="020B0609020000020004" pitchFamily="49" charset="0"/>
              </a:rPr>
              <a:t>* </a:t>
            </a:r>
            <a:r>
              <a:rPr lang="fr-FR" sz="1400" dirty="0" err="1">
                <a:solidFill>
                  <a:srgbClr val="808080"/>
                </a:solidFill>
                <a:latin typeface="Cascadia Mono" panose="020B0609020000020004" pitchFamily="49" charset="0"/>
              </a:rPr>
              <a:t>ptr</a:t>
            </a:r>
            <a:r>
              <a:rPr lang="fr-FR" sz="1400" dirty="0">
                <a:solidFill>
                  <a:srgbClr val="000000"/>
                </a:solidFill>
                <a:latin typeface="Cascadia Mono" panose="020B0609020000020004" pitchFamily="49" charset="0"/>
              </a:rPr>
              <a:t>) : </a:t>
            </a:r>
            <a:r>
              <a:rPr lang="fr-FR" sz="1400" dirty="0" err="1">
                <a:solidFill>
                  <a:srgbClr val="000000"/>
                </a:solidFill>
                <a:latin typeface="Cascadia Mono" panose="020B0609020000020004" pitchFamily="49" charset="0"/>
              </a:rPr>
              <a:t>m_ptr</a:t>
            </a:r>
            <a:r>
              <a:rPr lang="fr-FR" sz="1400" dirty="0">
                <a:solidFill>
                  <a:srgbClr val="000000"/>
                </a:solidFill>
                <a:latin typeface="Cascadia Mono" panose="020B0609020000020004" pitchFamily="49" charset="0"/>
              </a:rPr>
              <a:t>{</a:t>
            </a:r>
            <a:r>
              <a:rPr lang="fr-FR" sz="1400" dirty="0" err="1">
                <a:solidFill>
                  <a:srgbClr val="808080"/>
                </a:solidFill>
                <a:latin typeface="Cascadia Mono" panose="020B0609020000020004" pitchFamily="49" charset="0"/>
              </a:rPr>
              <a:t>ptr</a:t>
            </a:r>
            <a:r>
              <a:rPr lang="fr-FR"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a:solidFill>
                  <a:srgbClr val="2B91AF"/>
                </a:solidFill>
                <a:latin typeface="Cascadia Mono" panose="020B0609020000020004" pitchFamily="49" charset="0"/>
              </a:rPr>
              <a:t>T</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GetPtr</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return</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m_ptr</a:t>
            </a:r>
            <a:r>
              <a:rPr lang="en-US" sz="1400" dirty="0">
                <a:solidFill>
                  <a:srgbClr val="000000"/>
                </a:solidFill>
                <a:latin typeface="Cascadia Mono" panose="020B0609020000020004" pitchFamily="49" charset="0"/>
              </a:rPr>
              <a:t>;}</a:t>
            </a:r>
          </a:p>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UniquePointerSimple</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delete</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m_ptr</a:t>
            </a:r>
            <a:r>
              <a:rPr lang="en-US" sz="1400" dirty="0">
                <a:solidFill>
                  <a:srgbClr val="000000"/>
                </a:solidFill>
                <a:latin typeface="Cascadia Mono" panose="020B0609020000020004" pitchFamily="49" charset="0"/>
              </a:rPr>
              <a:t>;}</a:t>
            </a:r>
          </a:p>
          <a:p>
            <a:r>
              <a:rPr lang="en-US" sz="1400" dirty="0">
                <a:solidFill>
                  <a:srgbClr val="000000"/>
                </a:solidFill>
                <a:latin typeface="Cascadia Mono" panose="020B0609020000020004" pitchFamily="49" charset="0"/>
              </a:rPr>
              <a:t>};</a:t>
            </a:r>
            <a:endParaRPr lang="en-US" sz="1400" dirty="0"/>
          </a:p>
        </p:txBody>
      </p:sp>
    </p:spTree>
    <p:extLst>
      <p:ext uri="{BB962C8B-B14F-4D97-AF65-F5344CB8AC3E}">
        <p14:creationId xmlns:p14="http://schemas.microsoft.com/office/powerpoint/2010/main" val="27798539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Smart pointers</a:t>
            </a:r>
          </a:p>
        </p:txBody>
      </p:sp>
      <p:sp>
        <p:nvSpPr>
          <p:cNvPr id="14" name="TextBox 13">
            <a:extLst>
              <a:ext uri="{FF2B5EF4-FFF2-40B4-BE49-F238E27FC236}">
                <a16:creationId xmlns:a16="http://schemas.microsoft.com/office/drawing/2014/main" id="{E0BC6F01-56F9-4369-BBCA-497638609931}"/>
              </a:ext>
            </a:extLst>
          </p:cNvPr>
          <p:cNvSpPr txBox="1"/>
          <p:nvPr/>
        </p:nvSpPr>
        <p:spPr>
          <a:xfrm>
            <a:off x="521207" y="1252181"/>
            <a:ext cx="6903243" cy="1384995"/>
          </a:xfrm>
          <a:prstGeom prst="rect">
            <a:avLst/>
          </a:prstGeom>
          <a:noFill/>
        </p:spPr>
        <p:txBody>
          <a:bodyPr wrap="square">
            <a:spAutoFit/>
          </a:bodyPr>
          <a:lstStyle/>
          <a:p>
            <a:r>
              <a:rPr lang="en-US" sz="1400" dirty="0"/>
              <a:t>std::</a:t>
            </a:r>
            <a:r>
              <a:rPr lang="en-US" sz="1400" dirty="0" err="1"/>
              <a:t>unique_ptr</a:t>
            </a:r>
            <a:r>
              <a:rPr lang="en-US" sz="1400" dirty="0"/>
              <a:t> </a:t>
            </a:r>
            <a:r>
              <a:rPr lang="ru-RU" sz="1400" dirty="0"/>
              <a:t>–</a:t>
            </a:r>
            <a:r>
              <a:rPr lang="en-US" sz="1400" dirty="0"/>
              <a:t> </a:t>
            </a:r>
            <a:r>
              <a:rPr lang="ru-RU" sz="1400" dirty="0"/>
              <a:t>предоставляет семантику строгого владения</a:t>
            </a:r>
            <a:r>
              <a:rPr lang="en-US" sz="1400" dirty="0"/>
              <a:t>:</a:t>
            </a:r>
          </a:p>
          <a:p>
            <a:pPr marL="285750" indent="-285750">
              <a:buFont typeface="Arial" panose="020B0604020202020204" pitchFamily="34" charset="0"/>
              <a:buChar char="•"/>
            </a:pPr>
            <a:r>
              <a:rPr lang="en-US" sz="1400" dirty="0" err="1"/>
              <a:t>unique_ptr</a:t>
            </a:r>
            <a:r>
              <a:rPr lang="en-US" sz="1400" dirty="0"/>
              <a:t> – </a:t>
            </a:r>
            <a:r>
              <a:rPr lang="ru-RU" sz="1400" dirty="0"/>
              <a:t>владеет объектом на который указывает указатель, те его обязаность входит удаление объекта</a:t>
            </a:r>
          </a:p>
          <a:p>
            <a:pPr marL="285750" indent="-285750">
              <a:buFont typeface="Arial" panose="020B0604020202020204" pitchFamily="34" charset="0"/>
              <a:buChar char="•"/>
            </a:pPr>
            <a:r>
              <a:rPr lang="en-US" sz="1400" dirty="0" err="1"/>
              <a:t>unique_ptr</a:t>
            </a:r>
            <a:r>
              <a:rPr lang="ru-RU" sz="1400" dirty="0"/>
              <a:t> нельзя скопировать</a:t>
            </a:r>
          </a:p>
          <a:p>
            <a:pPr marL="285750" indent="-285750">
              <a:buFont typeface="Arial" panose="020B0604020202020204" pitchFamily="34" charset="0"/>
              <a:buChar char="•"/>
            </a:pPr>
            <a:r>
              <a:rPr lang="ru-RU" sz="1400" dirty="0"/>
              <a:t>Подходит для того чтобы возвращать динамическую память из функции</a:t>
            </a:r>
          </a:p>
          <a:p>
            <a:pPr marL="285750" indent="-285750">
              <a:buFont typeface="Arial" panose="020B0604020202020204" pitchFamily="34" charset="0"/>
              <a:buChar char="•"/>
            </a:pPr>
            <a:r>
              <a:rPr lang="ru-RU" sz="1400" dirty="0"/>
              <a:t>Можно хранить в контейнере</a:t>
            </a:r>
          </a:p>
        </p:txBody>
      </p:sp>
      <p:sp>
        <p:nvSpPr>
          <p:cNvPr id="15" name="TextBox 14">
            <a:extLst>
              <a:ext uri="{FF2B5EF4-FFF2-40B4-BE49-F238E27FC236}">
                <a16:creationId xmlns:a16="http://schemas.microsoft.com/office/drawing/2014/main" id="{681F1806-0600-486F-897B-F836D2A5E4B0}"/>
              </a:ext>
            </a:extLst>
          </p:cNvPr>
          <p:cNvSpPr txBox="1"/>
          <p:nvPr/>
        </p:nvSpPr>
        <p:spPr>
          <a:xfrm>
            <a:off x="521207" y="2892087"/>
            <a:ext cx="6097190" cy="1938992"/>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big_obj_user</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err="1">
                <a:solidFill>
                  <a:srgbClr val="2B91AF"/>
                </a:solidFill>
                <a:latin typeface="Cascadia Mono" panose="020B0609020000020004" pitchFamily="49" charset="0"/>
              </a:rPr>
              <a:t>unique_ptr</a:t>
            </a:r>
            <a:r>
              <a:rPr lang="en-US" sz="1200" dirty="0">
                <a:solidFill>
                  <a:srgbClr val="000000"/>
                </a:solidFill>
                <a:latin typeface="Cascadia Mono" panose="020B0609020000020004" pitchFamily="49" charset="0"/>
              </a:rPr>
              <a:t>&lt;</a:t>
            </a:r>
            <a:r>
              <a:rPr lang="en-US" sz="1200" dirty="0" err="1">
                <a:solidFill>
                  <a:srgbClr val="2B91AF"/>
                </a:solidFill>
                <a:latin typeface="Cascadia Mono" panose="020B0609020000020004" pitchFamily="49" charset="0"/>
              </a:rPr>
              <a:t>MyBigObject</a:t>
            </a:r>
            <a:r>
              <a:rPr lang="en-US" sz="1200" dirty="0">
                <a:solidFill>
                  <a:srgbClr val="000000"/>
                </a:solidFill>
                <a:latin typeface="Cascadia Mono" panose="020B0609020000020004" pitchFamily="49" charset="0"/>
              </a:rPr>
              <a:t>&gt; </a:t>
            </a:r>
            <a:r>
              <a:rPr lang="en-US" sz="1200" dirty="0" err="1">
                <a:solidFill>
                  <a:srgbClr val="000000"/>
                </a:solidFill>
                <a:latin typeface="Cascadia Mono" panose="020B0609020000020004" pitchFamily="49" charset="0"/>
              </a:rPr>
              <a:t>my_big_obj</a:t>
            </a:r>
            <a:r>
              <a:rPr lang="en-US" sz="1200" dirty="0">
                <a:solidFill>
                  <a:srgbClr val="000000"/>
                </a:solidFill>
                <a:latin typeface="Cascadia Mono" panose="020B0609020000020004" pitchFamily="49" charset="0"/>
              </a:rPr>
              <a:t> = </a:t>
            </a:r>
            <a:r>
              <a:rPr lang="en-US" sz="1200" dirty="0" err="1">
                <a:solidFill>
                  <a:srgbClr val="000000"/>
                </a:solidFill>
                <a:latin typeface="Cascadia Mono" panose="020B0609020000020004" pitchFamily="49" charset="0"/>
              </a:rPr>
              <a:t>big_obj_factory</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calls ~</a:t>
            </a:r>
            <a:r>
              <a:rPr lang="en-US" sz="1200" dirty="0" err="1">
                <a:solidFill>
                  <a:srgbClr val="008000"/>
                </a:solidFill>
                <a:latin typeface="Cascadia Mono" panose="020B0609020000020004" pitchFamily="49" charset="0"/>
              </a:rPr>
              <a:t>MyBigObject</a:t>
            </a:r>
            <a:r>
              <a:rPr lang="en-US" sz="1200" dirty="0">
                <a:solidFill>
                  <a:srgbClr val="008000"/>
                </a:solidFill>
                <a:latin typeface="Cascadia Mono" panose="020B0609020000020004" pitchFamily="49" charset="0"/>
              </a:rPr>
              <a:t>()</a:t>
            </a:r>
            <a:endParaRPr lang="en-US" sz="1200" dirty="0">
              <a:solidFill>
                <a:srgbClr val="000000"/>
              </a:solidFill>
              <a:latin typeface="Cascadia Mono" panose="020B0609020000020004" pitchFamily="49" charset="0"/>
            </a:endParaRPr>
          </a:p>
          <a:p>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std::</a:t>
            </a:r>
            <a:r>
              <a:rPr lang="en-US" sz="1200" dirty="0" err="1">
                <a:solidFill>
                  <a:srgbClr val="2B91AF"/>
                </a:solidFill>
                <a:latin typeface="Cascadia Mono" panose="020B0609020000020004" pitchFamily="49" charset="0"/>
              </a:rPr>
              <a:t>unique_ptr</a:t>
            </a:r>
            <a:r>
              <a:rPr lang="en-US" sz="1200" dirty="0">
                <a:solidFill>
                  <a:srgbClr val="000000"/>
                </a:solidFill>
                <a:latin typeface="Cascadia Mono" panose="020B0609020000020004" pitchFamily="49" charset="0"/>
              </a:rPr>
              <a:t>&lt;</a:t>
            </a:r>
            <a:r>
              <a:rPr lang="en-US" sz="1200" dirty="0" err="1">
                <a:solidFill>
                  <a:srgbClr val="2B91AF"/>
                </a:solidFill>
                <a:latin typeface="Cascadia Mono" panose="020B0609020000020004" pitchFamily="49" charset="0"/>
              </a:rPr>
              <a:t>MyBigObject</a:t>
            </a:r>
            <a:r>
              <a:rPr lang="en-US" sz="1200" dirty="0">
                <a:solidFill>
                  <a:srgbClr val="000000"/>
                </a:solidFill>
                <a:latin typeface="Cascadia Mono" panose="020B0609020000020004" pitchFamily="49" charset="0"/>
              </a:rPr>
              <a:t>&gt; </a:t>
            </a:r>
            <a:r>
              <a:rPr lang="en-US" sz="1200" dirty="0" err="1">
                <a:solidFill>
                  <a:srgbClr val="000000"/>
                </a:solidFill>
                <a:latin typeface="Cascadia Mono" panose="020B0609020000020004" pitchFamily="49" charset="0"/>
              </a:rPr>
              <a:t>big_obj_factory</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make_unique</a:t>
            </a:r>
            <a:r>
              <a:rPr lang="en-US" sz="1200" dirty="0">
                <a:solidFill>
                  <a:srgbClr val="000000"/>
                </a:solidFill>
                <a:latin typeface="Cascadia Mono" panose="020B0609020000020004" pitchFamily="49" charset="0"/>
              </a:rPr>
              <a:t>&lt;</a:t>
            </a:r>
            <a:r>
              <a:rPr lang="en-US" sz="1200" dirty="0" err="1">
                <a:solidFill>
                  <a:srgbClr val="2B91AF"/>
                </a:solidFill>
                <a:latin typeface="Cascadia Mono" panose="020B0609020000020004" pitchFamily="49" charset="0"/>
              </a:rPr>
              <a:t>MyBigObject</a:t>
            </a:r>
            <a:r>
              <a:rPr lang="en-US" sz="1200" dirty="0">
                <a:solidFill>
                  <a:srgbClr val="000000"/>
                </a:solidFill>
                <a:latin typeface="Cascadia Mono" panose="020B0609020000020004" pitchFamily="49" charset="0"/>
              </a:rPr>
              <a:t>&gt;();</a:t>
            </a:r>
          </a:p>
          <a:p>
            <a:r>
              <a:rPr lang="en-US" sz="1200" dirty="0">
                <a:solidFill>
                  <a:srgbClr val="000000"/>
                </a:solidFill>
                <a:latin typeface="Cascadia Mono" panose="020B0609020000020004" pitchFamily="49" charset="0"/>
              </a:rPr>
              <a:t>}</a:t>
            </a:r>
            <a:endParaRPr lang="en-US" sz="1200" dirty="0"/>
          </a:p>
        </p:txBody>
      </p:sp>
    </p:spTree>
    <p:extLst>
      <p:ext uri="{BB962C8B-B14F-4D97-AF65-F5344CB8AC3E}">
        <p14:creationId xmlns:p14="http://schemas.microsoft.com/office/powerpoint/2010/main" val="11947083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Smart pointers</a:t>
            </a:r>
          </a:p>
        </p:txBody>
      </p:sp>
      <p:sp>
        <p:nvSpPr>
          <p:cNvPr id="2" name="Rectangle 1">
            <a:extLst>
              <a:ext uri="{FF2B5EF4-FFF2-40B4-BE49-F238E27FC236}">
                <a16:creationId xmlns:a16="http://schemas.microsoft.com/office/drawing/2014/main" id="{48D23D11-C439-4964-9CC4-4F086737D24E}"/>
              </a:ext>
            </a:extLst>
          </p:cNvPr>
          <p:cNvSpPr/>
          <p:nvPr/>
        </p:nvSpPr>
        <p:spPr>
          <a:xfrm>
            <a:off x="864394" y="2611041"/>
            <a:ext cx="1885950" cy="6215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User1</a:t>
            </a:r>
          </a:p>
        </p:txBody>
      </p:sp>
      <p:sp>
        <p:nvSpPr>
          <p:cNvPr id="6" name="Rectangle 5">
            <a:extLst>
              <a:ext uri="{FF2B5EF4-FFF2-40B4-BE49-F238E27FC236}">
                <a16:creationId xmlns:a16="http://schemas.microsoft.com/office/drawing/2014/main" id="{C849A9F8-3728-4E87-A7B6-F8EFE58117BE}"/>
              </a:ext>
            </a:extLst>
          </p:cNvPr>
          <p:cNvSpPr/>
          <p:nvPr/>
        </p:nvSpPr>
        <p:spPr>
          <a:xfrm>
            <a:off x="3738562" y="2611041"/>
            <a:ext cx="1885950" cy="6215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User2</a:t>
            </a:r>
          </a:p>
        </p:txBody>
      </p:sp>
      <p:sp>
        <p:nvSpPr>
          <p:cNvPr id="7" name="Rectangle 6">
            <a:extLst>
              <a:ext uri="{FF2B5EF4-FFF2-40B4-BE49-F238E27FC236}">
                <a16:creationId xmlns:a16="http://schemas.microsoft.com/office/drawing/2014/main" id="{A2CEF18E-D03B-4566-9AF1-45E9792F73E3}"/>
              </a:ext>
            </a:extLst>
          </p:cNvPr>
          <p:cNvSpPr/>
          <p:nvPr/>
        </p:nvSpPr>
        <p:spPr>
          <a:xfrm>
            <a:off x="3738562" y="3985023"/>
            <a:ext cx="1885950" cy="6215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a:t>
            </a:r>
          </a:p>
        </p:txBody>
      </p:sp>
      <p:sp>
        <p:nvSpPr>
          <p:cNvPr id="9" name="Rectangle 8">
            <a:extLst>
              <a:ext uri="{FF2B5EF4-FFF2-40B4-BE49-F238E27FC236}">
                <a16:creationId xmlns:a16="http://schemas.microsoft.com/office/drawing/2014/main" id="{418A5EDB-4201-4ECC-8132-A48EB7C62B22}"/>
              </a:ext>
            </a:extLst>
          </p:cNvPr>
          <p:cNvSpPr/>
          <p:nvPr/>
        </p:nvSpPr>
        <p:spPr>
          <a:xfrm>
            <a:off x="864394" y="3951685"/>
            <a:ext cx="1885950" cy="3274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 count</a:t>
            </a:r>
          </a:p>
        </p:txBody>
      </p:sp>
      <p:sp>
        <p:nvSpPr>
          <p:cNvPr id="10" name="Rectangle 9">
            <a:extLst>
              <a:ext uri="{FF2B5EF4-FFF2-40B4-BE49-F238E27FC236}">
                <a16:creationId xmlns:a16="http://schemas.microsoft.com/office/drawing/2014/main" id="{CF4A396E-3A23-4E9F-BAD6-A7827B5620BA}"/>
              </a:ext>
            </a:extLst>
          </p:cNvPr>
          <p:cNvSpPr/>
          <p:nvPr/>
        </p:nvSpPr>
        <p:spPr>
          <a:xfrm>
            <a:off x="864394" y="4279107"/>
            <a:ext cx="1885950" cy="3274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deleter</a:t>
            </a:r>
            <a:endParaRPr lang="en-US" dirty="0"/>
          </a:p>
        </p:txBody>
      </p:sp>
      <p:cxnSp>
        <p:nvCxnSpPr>
          <p:cNvPr id="4" name="Straight Arrow Connector 3">
            <a:extLst>
              <a:ext uri="{FF2B5EF4-FFF2-40B4-BE49-F238E27FC236}">
                <a16:creationId xmlns:a16="http://schemas.microsoft.com/office/drawing/2014/main" id="{CCC1F974-AEE1-4878-A49C-CA0B4376BD26}"/>
              </a:ext>
            </a:extLst>
          </p:cNvPr>
          <p:cNvCxnSpPr>
            <a:cxnSpLocks/>
            <a:stCxn id="2" idx="2"/>
          </p:cNvCxnSpPr>
          <p:nvPr/>
        </p:nvCxnSpPr>
        <p:spPr>
          <a:xfrm>
            <a:off x="1807369" y="3232547"/>
            <a:ext cx="2807397" cy="667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B73F229-52EC-4D80-8DA1-B711BA0F5E40}"/>
              </a:ext>
            </a:extLst>
          </p:cNvPr>
          <p:cNvCxnSpPr>
            <a:cxnSpLocks/>
            <a:stCxn id="6" idx="2"/>
          </p:cNvCxnSpPr>
          <p:nvPr/>
        </p:nvCxnSpPr>
        <p:spPr>
          <a:xfrm flipH="1">
            <a:off x="1857375" y="3232547"/>
            <a:ext cx="2824162" cy="6036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696CB78-DA6B-4781-9E3E-B015CEACF365}"/>
              </a:ext>
            </a:extLst>
          </p:cNvPr>
          <p:cNvCxnSpPr>
            <a:stCxn id="6" idx="2"/>
          </p:cNvCxnSpPr>
          <p:nvPr/>
        </p:nvCxnSpPr>
        <p:spPr>
          <a:xfrm>
            <a:off x="4681537" y="3232547"/>
            <a:ext cx="0" cy="5536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F4D9A6F-D0F0-48F7-8854-2C66366DFB4E}"/>
              </a:ext>
            </a:extLst>
          </p:cNvPr>
          <p:cNvCxnSpPr>
            <a:stCxn id="2" idx="2"/>
          </p:cNvCxnSpPr>
          <p:nvPr/>
        </p:nvCxnSpPr>
        <p:spPr>
          <a:xfrm>
            <a:off x="1807369" y="3232547"/>
            <a:ext cx="50006" cy="4964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6D8365C1-8FC4-4944-B7A3-C3E6CB4A9F14}"/>
              </a:ext>
            </a:extLst>
          </p:cNvPr>
          <p:cNvSpPr txBox="1"/>
          <p:nvPr/>
        </p:nvSpPr>
        <p:spPr>
          <a:xfrm>
            <a:off x="521207" y="1415558"/>
            <a:ext cx="7279769" cy="954107"/>
          </a:xfrm>
          <a:prstGeom prst="rect">
            <a:avLst/>
          </a:prstGeom>
          <a:noFill/>
        </p:spPr>
        <p:txBody>
          <a:bodyPr wrap="square">
            <a:spAutoFit/>
          </a:bodyPr>
          <a:lstStyle/>
          <a:p>
            <a:r>
              <a:rPr lang="en-US" sz="1400" dirty="0" err="1"/>
              <a:t>shared_ptr</a:t>
            </a:r>
            <a:r>
              <a:rPr lang="en-US" sz="1400" dirty="0"/>
              <a:t> </a:t>
            </a:r>
            <a:r>
              <a:rPr lang="ru-RU" sz="1400" dirty="0"/>
              <a:t>реализует множественное владение </a:t>
            </a:r>
            <a:r>
              <a:rPr lang="en-US" sz="1400" dirty="0"/>
              <a:t>(shared ownership). </a:t>
            </a:r>
            <a:r>
              <a:rPr lang="ru-RU" sz="1400" dirty="0"/>
              <a:t>Используется когда две части кода или больше имеют доступ к общему ресурсу, но никто не имеет уникального владения ресурсом. Думать о </a:t>
            </a:r>
            <a:r>
              <a:rPr lang="en-US" sz="1400" dirty="0" err="1"/>
              <a:t>shared_ptr</a:t>
            </a:r>
            <a:r>
              <a:rPr lang="en-US" sz="1400" dirty="0"/>
              <a:t> </a:t>
            </a:r>
            <a:r>
              <a:rPr lang="ru-RU" sz="1400" dirty="0"/>
              <a:t>можно как о структуре с двумя указателями</a:t>
            </a:r>
            <a:r>
              <a:rPr lang="en-US" sz="1400" dirty="0"/>
              <a:t>: </a:t>
            </a:r>
            <a:r>
              <a:rPr lang="ru-RU" sz="1400" dirty="0"/>
              <a:t>один на объект, другой на счетчик использования.  </a:t>
            </a:r>
          </a:p>
        </p:txBody>
      </p:sp>
      <p:sp>
        <p:nvSpPr>
          <p:cNvPr id="23" name="TextBox 22">
            <a:extLst>
              <a:ext uri="{FF2B5EF4-FFF2-40B4-BE49-F238E27FC236}">
                <a16:creationId xmlns:a16="http://schemas.microsoft.com/office/drawing/2014/main" id="{7778E69A-82C9-4417-8E28-15CE71153E46}"/>
              </a:ext>
            </a:extLst>
          </p:cNvPr>
          <p:cNvSpPr txBox="1"/>
          <p:nvPr/>
        </p:nvSpPr>
        <p:spPr>
          <a:xfrm>
            <a:off x="819249" y="4805364"/>
            <a:ext cx="6916935" cy="1384995"/>
          </a:xfrm>
          <a:prstGeom prst="rect">
            <a:avLst/>
          </a:prstGeom>
          <a:noFill/>
        </p:spPr>
        <p:txBody>
          <a:bodyPr wrap="square">
            <a:spAutoFit/>
          </a:bodyPr>
          <a:lstStyle/>
          <a:p>
            <a:r>
              <a:rPr lang="en-US" sz="1200" dirty="0">
                <a:solidFill>
                  <a:srgbClr val="000000"/>
                </a:solidFill>
                <a:latin typeface="Cascadia Mono" panose="020B0609020000020004" pitchFamily="49" charset="0"/>
              </a:rPr>
              <a:t>std::</a:t>
            </a:r>
            <a:r>
              <a:rPr lang="en-US" sz="1200" dirty="0" err="1">
                <a:solidFill>
                  <a:srgbClr val="2B91AF"/>
                </a:solidFill>
                <a:latin typeface="Cascadia Mono" panose="020B0609020000020004" pitchFamily="49" charset="0"/>
              </a:rPr>
              <a:t>shared_ptr</a:t>
            </a:r>
            <a:r>
              <a:rPr lang="en-US" sz="1200" dirty="0">
                <a:solidFill>
                  <a:srgbClr val="000000"/>
                </a:solidFill>
                <a:latin typeface="Cascadia Mono" panose="020B0609020000020004" pitchFamily="49" charset="0"/>
              </a:rPr>
              <a:t>&lt;</a:t>
            </a:r>
            <a:r>
              <a:rPr lang="en-US" sz="1200" dirty="0" err="1">
                <a:solidFill>
                  <a:srgbClr val="2B91AF"/>
                </a:solidFill>
                <a:latin typeface="Cascadia Mono" panose="020B0609020000020004" pitchFamily="49" charset="0"/>
              </a:rPr>
              <a:t>MyBigObject</a:t>
            </a:r>
            <a:r>
              <a:rPr lang="en-US" sz="1200" dirty="0">
                <a:solidFill>
                  <a:srgbClr val="000000"/>
                </a:solidFill>
                <a:latin typeface="Cascadia Mono" panose="020B0609020000020004" pitchFamily="49" charset="0"/>
              </a:rPr>
              <a:t>&gt; 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err="1">
                <a:solidFill>
                  <a:srgbClr val="2B91AF"/>
                </a:solidFill>
                <a:latin typeface="Cascadia Mono" panose="020B0609020000020004" pitchFamily="49" charset="0"/>
              </a:rPr>
              <a:t>shared_ptr</a:t>
            </a:r>
            <a:r>
              <a:rPr lang="en-US" sz="1200" dirty="0">
                <a:solidFill>
                  <a:srgbClr val="000000"/>
                </a:solidFill>
                <a:latin typeface="Cascadia Mono" panose="020B0609020000020004" pitchFamily="49" charset="0"/>
              </a:rPr>
              <a:t>&lt;</a:t>
            </a:r>
            <a:r>
              <a:rPr lang="en-US" sz="1200" dirty="0" err="1">
                <a:solidFill>
                  <a:srgbClr val="2B91AF"/>
                </a:solidFill>
                <a:latin typeface="Cascadia Mono" panose="020B0609020000020004" pitchFamily="49" charset="0"/>
              </a:rPr>
              <a:t>MyBigObject</a:t>
            </a:r>
            <a:r>
              <a:rPr lang="en-US" sz="1200" dirty="0">
                <a:solidFill>
                  <a:srgbClr val="000000"/>
                </a:solidFill>
                <a:latin typeface="Cascadia Mono" panose="020B0609020000020004" pitchFamily="49" charset="0"/>
              </a:rPr>
              <a:t>&gt; p1 = std::</a:t>
            </a:r>
            <a:r>
              <a:rPr lang="en-US" sz="1200" dirty="0" err="1">
                <a:solidFill>
                  <a:srgbClr val="000000"/>
                </a:solidFill>
                <a:latin typeface="Cascadia Mono" panose="020B0609020000020004" pitchFamily="49" charset="0"/>
              </a:rPr>
              <a:t>make_shared</a:t>
            </a:r>
            <a:r>
              <a:rPr lang="en-US" sz="1200" dirty="0">
                <a:solidFill>
                  <a:srgbClr val="000000"/>
                </a:solidFill>
                <a:latin typeface="Cascadia Mono" panose="020B0609020000020004" pitchFamily="49" charset="0"/>
              </a:rPr>
              <a:t>&lt;</a:t>
            </a:r>
            <a:r>
              <a:rPr lang="en-US" sz="1200" dirty="0" err="1">
                <a:solidFill>
                  <a:srgbClr val="2B91AF"/>
                </a:solidFill>
                <a:latin typeface="Cascadia Mono" panose="020B0609020000020004" pitchFamily="49" charset="0"/>
              </a:rPr>
              <a:t>MyBigObject</a:t>
            </a:r>
            <a:r>
              <a:rPr lang="en-US" sz="1200" dirty="0">
                <a:solidFill>
                  <a:srgbClr val="000000"/>
                </a:solidFill>
                <a:latin typeface="Cascadia Mono" panose="020B0609020000020004" pitchFamily="49" charset="0"/>
              </a:rPr>
              <a:t>&gt;();</a:t>
            </a:r>
          </a:p>
          <a:p>
            <a:r>
              <a:rPr lang="en-US" sz="1200" dirty="0">
                <a:solidFill>
                  <a:srgbClr val="000000"/>
                </a:solidFill>
                <a:latin typeface="Cascadia Mono" panose="020B0609020000020004" pitchFamily="49" charset="0"/>
              </a:rPr>
              <a:t>    std::</a:t>
            </a:r>
            <a:r>
              <a:rPr lang="en-US" sz="1200" dirty="0" err="1">
                <a:solidFill>
                  <a:srgbClr val="2B91AF"/>
                </a:solidFill>
                <a:latin typeface="Cascadia Mono" panose="020B0609020000020004" pitchFamily="49" charset="0"/>
              </a:rPr>
              <a:t>shared_ptr</a:t>
            </a:r>
            <a:r>
              <a:rPr lang="en-US" sz="1200" dirty="0">
                <a:solidFill>
                  <a:srgbClr val="000000"/>
                </a:solidFill>
                <a:latin typeface="Cascadia Mono" panose="020B0609020000020004" pitchFamily="49" charset="0"/>
              </a:rPr>
              <a:t>&lt;</a:t>
            </a:r>
            <a:r>
              <a:rPr lang="en-US" sz="1200" dirty="0" err="1">
                <a:solidFill>
                  <a:srgbClr val="2B91AF"/>
                </a:solidFill>
                <a:latin typeface="Cascadia Mono" panose="020B0609020000020004" pitchFamily="49" charset="0"/>
              </a:rPr>
              <a:t>MyBigObject</a:t>
            </a:r>
            <a:r>
              <a:rPr lang="en-US" sz="1200" dirty="0">
                <a:solidFill>
                  <a:srgbClr val="000000"/>
                </a:solidFill>
                <a:latin typeface="Cascadia Mono" panose="020B0609020000020004" pitchFamily="49" charset="0"/>
              </a:rPr>
              <a:t>&gt; p2;</a:t>
            </a:r>
          </a:p>
          <a:p>
            <a:r>
              <a:rPr lang="en-US" sz="1200" dirty="0">
                <a:solidFill>
                  <a:srgbClr val="000000"/>
                </a:solidFill>
                <a:latin typeface="Cascadia Mono" panose="020B0609020000020004" pitchFamily="49" charset="0"/>
              </a:rPr>
              <a:t>    p2 </a:t>
            </a:r>
            <a:r>
              <a:rPr lang="en-US" sz="1200" dirty="0">
                <a:solidFill>
                  <a:srgbClr val="008080"/>
                </a:solidFill>
                <a:latin typeface="Cascadia Mono" panose="020B0609020000020004" pitchFamily="49" charset="0"/>
              </a:rPr>
              <a:t>=</a:t>
            </a:r>
            <a:r>
              <a:rPr lang="en-US" sz="1200" dirty="0">
                <a:solidFill>
                  <a:srgbClr val="000000"/>
                </a:solidFill>
                <a:latin typeface="Cascadia Mono" panose="020B0609020000020004" pitchFamily="49" charset="0"/>
              </a:rPr>
              <a:t> p1;</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p2;</a:t>
            </a:r>
          </a:p>
          <a:p>
            <a:r>
              <a:rPr lang="en-US" sz="120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4354110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Smart pointers</a:t>
            </a:r>
          </a:p>
        </p:txBody>
      </p:sp>
      <p:sp>
        <p:nvSpPr>
          <p:cNvPr id="16" name="TextBox 15">
            <a:extLst>
              <a:ext uri="{FF2B5EF4-FFF2-40B4-BE49-F238E27FC236}">
                <a16:creationId xmlns:a16="http://schemas.microsoft.com/office/drawing/2014/main" id="{73A0A562-7BCB-42DD-B919-2DBFE214AE04}"/>
              </a:ext>
            </a:extLst>
          </p:cNvPr>
          <p:cNvSpPr txBox="1"/>
          <p:nvPr/>
        </p:nvSpPr>
        <p:spPr>
          <a:xfrm>
            <a:off x="521207" y="1328381"/>
            <a:ext cx="4236531" cy="3231654"/>
          </a:xfrm>
          <a:prstGeom prst="rect">
            <a:avLst/>
          </a:prstGeom>
          <a:noFill/>
        </p:spPr>
        <p:txBody>
          <a:bodyPr wrap="square">
            <a:spAutoFit/>
          </a:bodyPr>
          <a:lstStyle/>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B</a:t>
            </a:r>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A</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err="1">
                <a:solidFill>
                  <a:srgbClr val="2B91AF"/>
                </a:solidFill>
                <a:latin typeface="Cascadia Mono" panose="020B0609020000020004" pitchFamily="49" charset="0"/>
              </a:rPr>
              <a:t>shared_ptr</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B</a:t>
            </a:r>
            <a:r>
              <a:rPr lang="en-US" sz="1200" dirty="0">
                <a:solidFill>
                  <a:srgbClr val="000000"/>
                </a:solidFill>
                <a:latin typeface="Cascadia Mono" panose="020B0609020000020004" pitchFamily="49" charset="0"/>
              </a:rPr>
              <a:t>&gt; </a:t>
            </a:r>
            <a:r>
              <a:rPr lang="en-US" sz="1200" dirty="0" err="1">
                <a:solidFill>
                  <a:srgbClr val="000000"/>
                </a:solidFill>
                <a:latin typeface="Cascadia Mono" panose="020B0609020000020004" pitchFamily="49" charset="0"/>
              </a:rPr>
              <a:t>m_b</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A(std::</a:t>
            </a:r>
            <a:r>
              <a:rPr lang="en-US" sz="1200" dirty="0" err="1">
                <a:solidFill>
                  <a:srgbClr val="2B91AF"/>
                </a:solidFill>
                <a:latin typeface="Cascadia Mono" panose="020B0609020000020004" pitchFamily="49" charset="0"/>
              </a:rPr>
              <a:t>shared_ptr</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B</a:t>
            </a:r>
            <a:r>
              <a:rPr lang="en-US" sz="1200" dirty="0">
                <a:solidFill>
                  <a:srgbClr val="000000"/>
                </a:solidFill>
                <a:latin typeface="Cascadia Mono" panose="020B0609020000020004" pitchFamily="49" charset="0"/>
              </a:rPr>
              <a:t>&gt; </a:t>
            </a:r>
            <a:r>
              <a:rPr lang="en-US" sz="1200" dirty="0">
                <a:solidFill>
                  <a:srgbClr val="808080"/>
                </a:solidFill>
                <a:latin typeface="Cascadia Mono" panose="020B0609020000020004" pitchFamily="49" charset="0"/>
              </a:rPr>
              <a:t>b</a:t>
            </a:r>
            <a:r>
              <a:rPr lang="en-US" sz="1200" dirty="0">
                <a:solidFill>
                  <a:srgbClr val="000000"/>
                </a:solidFill>
                <a:latin typeface="Cascadia Mono" panose="020B0609020000020004" pitchFamily="49" charset="0"/>
              </a:rPr>
              <a:t>) : </a:t>
            </a:r>
            <a:r>
              <a:rPr lang="en-US" sz="1200" dirty="0" err="1">
                <a:solidFill>
                  <a:srgbClr val="000000"/>
                </a:solidFill>
                <a:latin typeface="Cascadia Mono" panose="020B0609020000020004" pitchFamily="49" charset="0"/>
              </a:rPr>
              <a:t>m_b</a:t>
            </a:r>
            <a:r>
              <a:rPr lang="en-US" sz="1200" dirty="0">
                <a:solidFill>
                  <a:srgbClr val="000000"/>
                </a:solidFill>
                <a:latin typeface="Cascadia Mono" panose="020B0609020000020004" pitchFamily="49" charset="0"/>
              </a:rPr>
              <a:t>{</a:t>
            </a:r>
            <a:r>
              <a:rPr lang="en-US" sz="1200" dirty="0">
                <a:solidFill>
                  <a:srgbClr val="808080"/>
                </a:solidFill>
                <a:latin typeface="Cascadia Mono" panose="020B0609020000020004" pitchFamily="49" charset="0"/>
              </a:rPr>
              <a:t>b</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B</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err="1">
                <a:solidFill>
                  <a:srgbClr val="2B91AF"/>
                </a:solidFill>
                <a:latin typeface="Cascadia Mono" panose="020B0609020000020004" pitchFamily="49" charset="0"/>
              </a:rPr>
              <a:t>shared_ptr</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A</a:t>
            </a:r>
            <a:r>
              <a:rPr lang="en-US" sz="1200" dirty="0">
                <a:solidFill>
                  <a:srgbClr val="000000"/>
                </a:solidFill>
                <a:latin typeface="Cascadia Mono" panose="020B0609020000020004" pitchFamily="49" charset="0"/>
              </a:rPr>
              <a:t>&gt; </a:t>
            </a:r>
            <a:r>
              <a:rPr lang="en-US" sz="1200" dirty="0" err="1">
                <a:solidFill>
                  <a:srgbClr val="000000"/>
                </a:solidFill>
                <a:latin typeface="Cascadia Mono" panose="020B0609020000020004" pitchFamily="49" charset="0"/>
              </a:rPr>
              <a:t>m_a</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B()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set_a</a:t>
            </a:r>
            <a:r>
              <a:rPr lang="en-US" sz="1200" dirty="0">
                <a:solidFill>
                  <a:srgbClr val="000000"/>
                </a:solidFill>
                <a:latin typeface="Cascadia Mono" panose="020B0609020000020004" pitchFamily="49" charset="0"/>
              </a:rPr>
              <a:t>(std::</a:t>
            </a:r>
            <a:r>
              <a:rPr lang="en-US" sz="1200" dirty="0" err="1">
                <a:solidFill>
                  <a:srgbClr val="2B91AF"/>
                </a:solidFill>
                <a:latin typeface="Cascadia Mono" panose="020B0609020000020004" pitchFamily="49" charset="0"/>
              </a:rPr>
              <a:t>shared_ptr</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A</a:t>
            </a:r>
            <a:r>
              <a:rPr lang="en-US" sz="1200" dirty="0">
                <a:solidFill>
                  <a:srgbClr val="000000"/>
                </a:solidFill>
                <a:latin typeface="Cascadia Mono" panose="020B0609020000020004" pitchFamily="49" charset="0"/>
              </a:rPr>
              <a:t>&gt; </a:t>
            </a:r>
            <a:r>
              <a:rPr lang="en-US" sz="1200" dirty="0">
                <a:solidFill>
                  <a:srgbClr val="808080"/>
                </a:solidFill>
                <a:latin typeface="Cascadia Mono" panose="020B0609020000020004" pitchFamily="49" charset="0"/>
              </a:rPr>
              <a:t>a</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m_a</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a:t>
            </a:r>
            <a:r>
              <a:rPr lang="en-US" sz="1200" dirty="0">
                <a:solidFill>
                  <a:srgbClr val="000000"/>
                </a:solidFill>
                <a:latin typeface="Cascadia Mono" panose="020B0609020000020004" pitchFamily="49" charset="0"/>
              </a:rPr>
              <a:t> </a:t>
            </a:r>
            <a:r>
              <a:rPr lang="en-US" sz="1200" dirty="0">
                <a:solidFill>
                  <a:srgbClr val="808080"/>
                </a:solidFill>
                <a:latin typeface="Cascadia Mono" panose="020B0609020000020004" pitchFamily="49" charset="0"/>
              </a:rPr>
              <a:t>a</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a:t>
            </a:r>
            <a:endParaRPr lang="en-US" sz="1200" dirty="0"/>
          </a:p>
        </p:txBody>
      </p:sp>
      <p:sp>
        <p:nvSpPr>
          <p:cNvPr id="18" name="TextBox 17">
            <a:extLst>
              <a:ext uri="{FF2B5EF4-FFF2-40B4-BE49-F238E27FC236}">
                <a16:creationId xmlns:a16="http://schemas.microsoft.com/office/drawing/2014/main" id="{D505B949-0A0C-41D2-BB40-76A62C30932C}"/>
              </a:ext>
            </a:extLst>
          </p:cNvPr>
          <p:cNvSpPr txBox="1"/>
          <p:nvPr/>
        </p:nvSpPr>
        <p:spPr>
          <a:xfrm>
            <a:off x="4698802" y="1328381"/>
            <a:ext cx="6097190" cy="1200329"/>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leak()</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auto</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b_obj</a:t>
            </a:r>
            <a:r>
              <a:rPr lang="en-US" sz="1200" dirty="0">
                <a:solidFill>
                  <a:srgbClr val="000000"/>
                </a:solidFill>
                <a:latin typeface="Cascadia Mono" panose="020B0609020000020004" pitchFamily="49" charset="0"/>
              </a:rPr>
              <a:t> = std::</a:t>
            </a:r>
            <a:r>
              <a:rPr lang="en-US" sz="1200" dirty="0" err="1">
                <a:solidFill>
                  <a:srgbClr val="000000"/>
                </a:solidFill>
                <a:latin typeface="Cascadia Mono" panose="020B0609020000020004" pitchFamily="49" charset="0"/>
              </a:rPr>
              <a:t>make_shared</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B</a:t>
            </a:r>
            <a:r>
              <a:rPr lang="en-US" sz="1200" dirty="0">
                <a:solidFill>
                  <a:srgbClr val="000000"/>
                </a:solidFill>
                <a:latin typeface="Cascadia Mono" panose="020B0609020000020004" pitchFamily="49" charset="0"/>
              </a:rPr>
              <a:t>&gt;();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auto</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a_obj</a:t>
            </a:r>
            <a:r>
              <a:rPr lang="en-US" sz="1200" dirty="0">
                <a:solidFill>
                  <a:srgbClr val="000000"/>
                </a:solidFill>
                <a:latin typeface="Cascadia Mono" panose="020B0609020000020004" pitchFamily="49" charset="0"/>
              </a:rPr>
              <a:t> = std::</a:t>
            </a:r>
            <a:r>
              <a:rPr lang="en-US" sz="1200" dirty="0" err="1">
                <a:solidFill>
                  <a:srgbClr val="000000"/>
                </a:solidFill>
                <a:latin typeface="Cascadia Mono" panose="020B0609020000020004" pitchFamily="49" charset="0"/>
              </a:rPr>
              <a:t>make_shared</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A</a:t>
            </a:r>
            <a:r>
              <a:rPr lang="en-US" sz="1200" dirty="0">
                <a:solidFill>
                  <a:srgbClr val="000000"/>
                </a:solidFill>
                <a:latin typeface="Cascadia Mono" panose="020B0609020000020004" pitchFamily="49" charset="0"/>
              </a:rPr>
              <a:t>&gt;(</a:t>
            </a:r>
            <a:r>
              <a:rPr lang="en-US" sz="1200" dirty="0" err="1">
                <a:solidFill>
                  <a:srgbClr val="000000"/>
                </a:solidFill>
                <a:latin typeface="Cascadia Mono" panose="020B0609020000020004" pitchFamily="49" charset="0"/>
              </a:rPr>
              <a:t>b_obj</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b_obj</a:t>
            </a:r>
            <a:r>
              <a:rPr lang="en-US" sz="1200" dirty="0">
                <a:solidFill>
                  <a:srgbClr val="008080"/>
                </a:solidFill>
                <a:latin typeface="Cascadia Mono" panose="020B0609020000020004" pitchFamily="49" charset="0"/>
              </a:rPr>
              <a:t>-&gt;</a:t>
            </a:r>
            <a:r>
              <a:rPr lang="en-US" sz="1200" dirty="0" err="1">
                <a:solidFill>
                  <a:srgbClr val="000000"/>
                </a:solidFill>
                <a:latin typeface="Cascadia Mono" panose="020B0609020000020004" pitchFamily="49" charset="0"/>
              </a:rPr>
              <a:t>set_a</a:t>
            </a:r>
            <a:r>
              <a:rPr lang="en-US" sz="1200" dirty="0">
                <a:solidFill>
                  <a:srgbClr val="000000"/>
                </a:solidFill>
                <a:latin typeface="Cascadia Mono" panose="020B0609020000020004" pitchFamily="49" charset="0"/>
              </a:rPr>
              <a:t>(</a:t>
            </a:r>
            <a:r>
              <a:rPr lang="en-US" sz="1200" dirty="0" err="1">
                <a:solidFill>
                  <a:srgbClr val="000000"/>
                </a:solidFill>
                <a:latin typeface="Cascadia Mono" panose="020B0609020000020004" pitchFamily="49" charset="0"/>
              </a:rPr>
              <a:t>a_obj</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endParaRPr lang="en-US" sz="1200" dirty="0"/>
          </a:p>
        </p:txBody>
      </p:sp>
      <p:sp>
        <p:nvSpPr>
          <p:cNvPr id="23" name="TextBox 22">
            <a:extLst>
              <a:ext uri="{FF2B5EF4-FFF2-40B4-BE49-F238E27FC236}">
                <a16:creationId xmlns:a16="http://schemas.microsoft.com/office/drawing/2014/main" id="{EE520FE0-6CEE-46CC-A5A4-5E6C5F62CFE2}"/>
              </a:ext>
            </a:extLst>
          </p:cNvPr>
          <p:cNvSpPr txBox="1"/>
          <p:nvPr/>
        </p:nvSpPr>
        <p:spPr>
          <a:xfrm>
            <a:off x="4698802" y="2574876"/>
            <a:ext cx="6903243" cy="1815882"/>
          </a:xfrm>
          <a:prstGeom prst="rect">
            <a:avLst/>
          </a:prstGeom>
          <a:noFill/>
        </p:spPr>
        <p:txBody>
          <a:bodyPr wrap="square">
            <a:spAutoFit/>
          </a:bodyPr>
          <a:lstStyle/>
          <a:p>
            <a:r>
              <a:rPr lang="ru-RU" sz="1400" dirty="0"/>
              <a:t>Предпочтительно использовать </a:t>
            </a:r>
            <a:r>
              <a:rPr lang="en-US" sz="1400" dirty="0" err="1"/>
              <a:t>unique_ptr</a:t>
            </a:r>
            <a:r>
              <a:rPr lang="en-US" sz="1400" dirty="0"/>
              <a:t> </a:t>
            </a:r>
            <a:r>
              <a:rPr lang="ru-RU" sz="1400" dirty="0"/>
              <a:t>а не </a:t>
            </a:r>
            <a:r>
              <a:rPr lang="en-US" sz="1400" dirty="0" err="1"/>
              <a:t>shared_ptr</a:t>
            </a:r>
            <a:endParaRPr lang="en-US" sz="1400" dirty="0"/>
          </a:p>
          <a:p>
            <a:r>
              <a:rPr lang="ru-RU" sz="1400" dirty="0"/>
              <a:t>Структура владения внутри объектов должна быть похожа на матрешку, а не на паутину.</a:t>
            </a:r>
          </a:p>
          <a:p>
            <a:r>
              <a:rPr lang="ru-RU" sz="1400" dirty="0"/>
              <a:t>Плохо продуманный дизайн ведет к паутине.</a:t>
            </a:r>
          </a:p>
          <a:p>
            <a:r>
              <a:rPr lang="ru-RU" sz="1400" dirty="0"/>
              <a:t>В </a:t>
            </a:r>
            <a:r>
              <a:rPr lang="en-US" sz="1400" dirty="0"/>
              <a:t>C++ </a:t>
            </a:r>
            <a:r>
              <a:rPr lang="ru-RU" sz="1400" dirty="0"/>
              <a:t>нужно разделять владение ресурсом и его использование</a:t>
            </a:r>
            <a:endParaRPr lang="en-US" sz="1400" dirty="0"/>
          </a:p>
          <a:p>
            <a:r>
              <a:rPr lang="en-US" sz="1400" dirty="0"/>
              <a:t>(</a:t>
            </a:r>
            <a:r>
              <a:rPr lang="ru-RU" sz="1400" dirty="0"/>
              <a:t>чаще всего можно передать ссылку на объект</a:t>
            </a:r>
            <a:r>
              <a:rPr lang="en-US" sz="1400" dirty="0"/>
              <a:t>/</a:t>
            </a:r>
            <a:r>
              <a:rPr lang="en-US" sz="1400" dirty="0" err="1"/>
              <a:t>unqiue_ptr</a:t>
            </a:r>
            <a:r>
              <a:rPr lang="en-US" sz="1400" dirty="0"/>
              <a:t> </a:t>
            </a:r>
            <a:r>
              <a:rPr lang="ru-RU" sz="1400" dirty="0"/>
              <a:t>для использования ресурса</a:t>
            </a:r>
            <a:r>
              <a:rPr lang="en-US" sz="1400" dirty="0"/>
              <a:t>)</a:t>
            </a:r>
          </a:p>
          <a:p>
            <a:r>
              <a:rPr lang="ru-RU" sz="1400" dirty="0"/>
              <a:t>Упрощает </a:t>
            </a:r>
            <a:r>
              <a:rPr lang="en-US" sz="1400" dirty="0"/>
              <a:t>resource management </a:t>
            </a:r>
            <a:r>
              <a:rPr lang="ru-RU" sz="1400" dirty="0"/>
              <a:t>в </a:t>
            </a:r>
            <a:r>
              <a:rPr lang="en-US" sz="1400" dirty="0" err="1"/>
              <a:t>multhreaded</a:t>
            </a:r>
            <a:r>
              <a:rPr lang="en-US" sz="1400" dirty="0"/>
              <a:t> </a:t>
            </a:r>
            <a:r>
              <a:rPr lang="ru-RU" sz="1400" dirty="0"/>
              <a:t>коде  </a:t>
            </a:r>
          </a:p>
        </p:txBody>
      </p:sp>
    </p:spTree>
    <p:extLst>
      <p:ext uri="{BB962C8B-B14F-4D97-AF65-F5344CB8AC3E}">
        <p14:creationId xmlns:p14="http://schemas.microsoft.com/office/powerpoint/2010/main" val="9324617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std::</a:t>
            </a:r>
            <a:r>
              <a:rPr lang="en-US" dirty="0" err="1">
                <a:latin typeface="Segoe UI Light" panose="020B0502040204020203" pitchFamily="34" charset="0"/>
                <a:cs typeface="Segoe UI Light" panose="020B0502040204020203" pitchFamily="34" charset="0"/>
              </a:rPr>
              <a:t>weak_ptr</a:t>
            </a:r>
            <a:endParaRPr lang="en-US" dirty="0">
              <a:latin typeface="Segoe UI Light" panose="020B0502040204020203" pitchFamily="34" charset="0"/>
              <a:cs typeface="Segoe UI Light" panose="020B0502040204020203" pitchFamily="34" charset="0"/>
            </a:endParaRPr>
          </a:p>
        </p:txBody>
      </p:sp>
      <p:sp>
        <p:nvSpPr>
          <p:cNvPr id="9" name="TextBox 8">
            <a:extLst>
              <a:ext uri="{FF2B5EF4-FFF2-40B4-BE49-F238E27FC236}">
                <a16:creationId xmlns:a16="http://schemas.microsoft.com/office/drawing/2014/main" id="{79A6AC7C-6419-46D8-91E4-22F6F22A0084}"/>
              </a:ext>
            </a:extLst>
          </p:cNvPr>
          <p:cNvSpPr txBox="1"/>
          <p:nvPr/>
        </p:nvSpPr>
        <p:spPr>
          <a:xfrm>
            <a:off x="585501" y="1361212"/>
            <a:ext cx="6097190" cy="1169551"/>
          </a:xfrm>
          <a:prstGeom prst="rect">
            <a:avLst/>
          </a:prstGeom>
          <a:noFill/>
        </p:spPr>
        <p:txBody>
          <a:bodyPr wrap="square">
            <a:spAutoFit/>
          </a:bodyPr>
          <a:lstStyle/>
          <a:p>
            <a:r>
              <a:rPr lang="en-US" sz="1400" dirty="0" err="1"/>
              <a:t>weak_ptr</a:t>
            </a:r>
            <a:r>
              <a:rPr lang="en-US" sz="1400" dirty="0"/>
              <a:t> </a:t>
            </a:r>
            <a:r>
              <a:rPr lang="ru-RU" sz="1400" dirty="0"/>
              <a:t>ссылается на объект которым владеет </a:t>
            </a:r>
            <a:r>
              <a:rPr lang="en-US" sz="1400" dirty="0" err="1"/>
              <a:t>shared_ptr</a:t>
            </a:r>
            <a:r>
              <a:rPr lang="ru-RU" sz="1400" dirty="0"/>
              <a:t>. Для доступа к объекту </a:t>
            </a:r>
            <a:r>
              <a:rPr lang="en-US" sz="1400" dirty="0" err="1"/>
              <a:t>weak_ptr</a:t>
            </a:r>
            <a:r>
              <a:rPr lang="en-US" sz="1400" dirty="0"/>
              <a:t> </a:t>
            </a:r>
            <a:r>
              <a:rPr lang="ru-RU" sz="1400" dirty="0"/>
              <a:t>можно преобразовать к </a:t>
            </a:r>
            <a:r>
              <a:rPr lang="en-US" sz="1400" dirty="0" err="1"/>
              <a:t>shared_ptr</a:t>
            </a:r>
            <a:r>
              <a:rPr lang="en-US" sz="1400" dirty="0"/>
              <a:t> </a:t>
            </a:r>
            <a:r>
              <a:rPr lang="ru-RU" sz="1400" dirty="0"/>
              <a:t>через метод </a:t>
            </a:r>
            <a:r>
              <a:rPr lang="en-US" sz="1400" dirty="0"/>
              <a:t>lock(). </a:t>
            </a:r>
            <a:r>
              <a:rPr lang="en-US" sz="1400" dirty="0" err="1"/>
              <a:t>weak_ptr</a:t>
            </a:r>
            <a:r>
              <a:rPr lang="en-US" sz="1400" dirty="0"/>
              <a:t> </a:t>
            </a:r>
            <a:r>
              <a:rPr lang="ru-RU" sz="1400" dirty="0"/>
              <a:t>предоставляет доступ к объекту которым владеет кто-то другой. Чаще всего используется в случае если нужен доступ к объекту который может быть удален где-то извне в неизвестный момент.</a:t>
            </a:r>
            <a:r>
              <a:rPr lang="en-US" sz="1400" dirty="0"/>
              <a:t> </a:t>
            </a:r>
          </a:p>
        </p:txBody>
      </p:sp>
      <p:sp>
        <p:nvSpPr>
          <p:cNvPr id="14" name="TextBox 13">
            <a:extLst>
              <a:ext uri="{FF2B5EF4-FFF2-40B4-BE49-F238E27FC236}">
                <a16:creationId xmlns:a16="http://schemas.microsoft.com/office/drawing/2014/main" id="{4260DC5D-FCB7-4812-A84D-126C6B856C87}"/>
              </a:ext>
            </a:extLst>
          </p:cNvPr>
          <p:cNvSpPr txBox="1"/>
          <p:nvPr/>
        </p:nvSpPr>
        <p:spPr>
          <a:xfrm>
            <a:off x="676868" y="2679709"/>
            <a:ext cx="9095781" cy="2123658"/>
          </a:xfrm>
          <a:prstGeom prst="rect">
            <a:avLst/>
          </a:prstGeom>
          <a:noFill/>
        </p:spPr>
        <p:txBody>
          <a:bodyPr wrap="square">
            <a:spAutoFit/>
          </a:bodyPr>
          <a:lstStyle/>
          <a:p>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main()</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err="1">
                <a:solidFill>
                  <a:srgbClr val="2B91AF"/>
                </a:solidFill>
                <a:latin typeface="Cascadia Mono" panose="020B0609020000020004" pitchFamily="49" charset="0"/>
              </a:rPr>
              <a:t>weak_ptr</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A</a:t>
            </a:r>
            <a:r>
              <a:rPr lang="en-US" sz="1200" dirty="0">
                <a:solidFill>
                  <a:srgbClr val="000000"/>
                </a:solidFill>
                <a:latin typeface="Cascadia Mono" panose="020B0609020000020004" pitchFamily="49" charset="0"/>
              </a:rPr>
              <a:t>&gt; w1;</a:t>
            </a: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std::</a:t>
            </a:r>
            <a:r>
              <a:rPr lang="en-US" sz="1200" dirty="0" err="1">
                <a:solidFill>
                  <a:srgbClr val="2B91AF"/>
                </a:solidFill>
                <a:latin typeface="Cascadia Mono" panose="020B0609020000020004" pitchFamily="49" charset="0"/>
              </a:rPr>
              <a:t>shared_ptr</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A</a:t>
            </a:r>
            <a:r>
              <a:rPr lang="en-US" sz="1200" dirty="0">
                <a:solidFill>
                  <a:srgbClr val="000000"/>
                </a:solidFill>
                <a:latin typeface="Cascadia Mono" panose="020B0609020000020004" pitchFamily="49" charset="0"/>
              </a:rPr>
              <a:t>&gt; </a:t>
            </a:r>
            <a:r>
              <a:rPr lang="en-US" sz="1200" dirty="0" err="1">
                <a:solidFill>
                  <a:srgbClr val="000000"/>
                </a:solidFill>
                <a:latin typeface="Cascadia Mono" panose="020B0609020000020004" pitchFamily="49" charset="0"/>
              </a:rPr>
              <a:t>a_obj</a:t>
            </a:r>
            <a:r>
              <a:rPr lang="en-US" sz="1200" dirty="0">
                <a:solidFill>
                  <a:srgbClr val="000000"/>
                </a:solidFill>
                <a:latin typeface="Cascadia Mono" panose="020B0609020000020004" pitchFamily="49" charset="0"/>
              </a:rPr>
              <a:t> = std::</a:t>
            </a:r>
            <a:r>
              <a:rPr lang="en-US" sz="1200" dirty="0" err="1">
                <a:solidFill>
                  <a:srgbClr val="000000"/>
                </a:solidFill>
                <a:latin typeface="Cascadia Mono" panose="020B0609020000020004" pitchFamily="49" charset="0"/>
              </a:rPr>
              <a:t>make_shared</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A</a:t>
            </a:r>
            <a:r>
              <a:rPr lang="en-US" sz="1200" dirty="0">
                <a:solidFill>
                  <a:srgbClr val="000000"/>
                </a:solidFill>
                <a:latin typeface="Cascadia Mono" panose="020B0609020000020004" pitchFamily="49" charset="0"/>
              </a:rPr>
              <a:t>&gt;();</a:t>
            </a:r>
          </a:p>
          <a:p>
            <a:r>
              <a:rPr lang="en-US" sz="1200" dirty="0">
                <a:solidFill>
                  <a:srgbClr val="000000"/>
                </a:solidFill>
                <a:latin typeface="Cascadia Mono" panose="020B0609020000020004" pitchFamily="49" charset="0"/>
              </a:rPr>
              <a:t>        std::</a:t>
            </a:r>
            <a:r>
              <a:rPr lang="en-US" sz="1200" dirty="0" err="1">
                <a:solidFill>
                  <a:srgbClr val="2B91AF"/>
                </a:solidFill>
                <a:latin typeface="Cascadia Mono" panose="020B0609020000020004" pitchFamily="49" charset="0"/>
              </a:rPr>
              <a:t>weak_ptr</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A</a:t>
            </a:r>
            <a:r>
              <a:rPr lang="en-US" sz="1200" dirty="0">
                <a:solidFill>
                  <a:srgbClr val="000000"/>
                </a:solidFill>
                <a:latin typeface="Cascadia Mono" panose="020B0609020000020004" pitchFamily="49" charset="0"/>
              </a:rPr>
              <a:t>&gt; w2 = </a:t>
            </a:r>
            <a:r>
              <a:rPr lang="en-US" sz="1200" dirty="0" err="1">
                <a:solidFill>
                  <a:srgbClr val="000000"/>
                </a:solidFill>
                <a:latin typeface="Cascadia Mono" panose="020B0609020000020004" pitchFamily="49" charset="0"/>
              </a:rPr>
              <a:t>a_obj</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w2.lock()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endl</a:t>
            </a: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000001BF737A0630 - valid pointer</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w1 </a:t>
            </a:r>
            <a:r>
              <a:rPr lang="en-US" sz="1200" dirty="0">
                <a:solidFill>
                  <a:srgbClr val="008080"/>
                </a:solidFill>
                <a:latin typeface="Cascadia Mono" panose="020B0609020000020004" pitchFamily="49" charset="0"/>
              </a:rPr>
              <a:t>=</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a_obj</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w1.lock()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endl</a:t>
            </a: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0000000000000000 - </a:t>
            </a:r>
            <a:r>
              <a:rPr lang="en-US" sz="1200" dirty="0" err="1">
                <a:solidFill>
                  <a:srgbClr val="008000"/>
                </a:solidFill>
                <a:latin typeface="Cascadia Mono" panose="020B0609020000020004" pitchFamily="49" charset="0"/>
              </a:rPr>
              <a:t>nullptr</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endParaRPr lang="en-US" sz="1200" dirty="0"/>
          </a:p>
        </p:txBody>
      </p:sp>
    </p:spTree>
    <p:extLst>
      <p:ext uri="{BB962C8B-B14F-4D97-AF65-F5344CB8AC3E}">
        <p14:creationId xmlns:p14="http://schemas.microsoft.com/office/powerpoint/2010/main" val="27442770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std::vector</a:t>
            </a:r>
          </a:p>
        </p:txBody>
      </p:sp>
      <p:sp>
        <p:nvSpPr>
          <p:cNvPr id="4" name="TextBox 3">
            <a:extLst>
              <a:ext uri="{FF2B5EF4-FFF2-40B4-BE49-F238E27FC236}">
                <a16:creationId xmlns:a16="http://schemas.microsoft.com/office/drawing/2014/main" id="{CF63EB9B-E416-4E2D-9919-1E9F9905DAC6}"/>
              </a:ext>
            </a:extLst>
          </p:cNvPr>
          <p:cNvSpPr txBox="1"/>
          <p:nvPr/>
        </p:nvSpPr>
        <p:spPr>
          <a:xfrm>
            <a:off x="595908" y="1419534"/>
            <a:ext cx="6097190" cy="1200329"/>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test()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my_memory</a:t>
            </a:r>
            <a:r>
              <a:rPr lang="en-US" sz="1200" dirty="0">
                <a:solidFill>
                  <a:srgbClr val="000000"/>
                </a:solidFill>
                <a:latin typeface="Cascadia Mono" panose="020B0609020000020004" pitchFamily="49" charset="0"/>
              </a:rPr>
              <a:t> = malloc(</a:t>
            </a:r>
            <a:r>
              <a:rPr lang="en-US" sz="1200" dirty="0" err="1">
                <a:solidFill>
                  <a:srgbClr val="0000FF"/>
                </a:solidFill>
                <a:latin typeface="Cascadia Mono" panose="020B0609020000020004" pitchFamily="49" charset="0"/>
              </a:rPr>
              <a:t>sizeof</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char</a:t>
            </a:r>
            <a:r>
              <a:rPr lang="en-US" sz="1200" dirty="0">
                <a:solidFill>
                  <a:srgbClr val="000000"/>
                </a:solidFill>
                <a:latin typeface="Cascadia Mono" panose="020B0609020000020004" pitchFamily="49" charset="0"/>
              </a:rPr>
              <a:t>) * 16);</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return </a:t>
            </a:r>
            <a:r>
              <a:rPr lang="en-US" sz="1200" dirty="0" err="1">
                <a:solidFill>
                  <a:srgbClr val="000000"/>
                </a:solidFill>
                <a:latin typeface="Cascadia Mono" panose="020B0609020000020004" pitchFamily="49" charset="0"/>
              </a:rPr>
              <a:t>my_memory</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endParaRPr lang="en-US" sz="1200" dirty="0"/>
          </a:p>
        </p:txBody>
      </p:sp>
      <p:sp>
        <p:nvSpPr>
          <p:cNvPr id="6" name="TextBox 5">
            <a:extLst>
              <a:ext uri="{FF2B5EF4-FFF2-40B4-BE49-F238E27FC236}">
                <a16:creationId xmlns:a16="http://schemas.microsoft.com/office/drawing/2014/main" id="{8F4B57FC-60AF-43ED-9642-B1A3456A8358}"/>
              </a:ext>
            </a:extLst>
          </p:cNvPr>
          <p:cNvSpPr txBox="1"/>
          <p:nvPr/>
        </p:nvSpPr>
        <p:spPr>
          <a:xfrm>
            <a:off x="595908" y="2790833"/>
            <a:ext cx="6097190" cy="276999"/>
          </a:xfrm>
          <a:prstGeom prst="rect">
            <a:avLst/>
          </a:prstGeom>
          <a:noFill/>
        </p:spPr>
        <p:txBody>
          <a:bodyPr wrap="square">
            <a:spAutoFit/>
          </a:bodyPr>
          <a:lstStyle/>
          <a:p>
            <a:r>
              <a:rPr lang="en-US" sz="1200" dirty="0">
                <a:solidFill>
                  <a:srgbClr val="000000"/>
                </a:solidFill>
                <a:latin typeface="Cascadia Mono" panose="020B0609020000020004" pitchFamily="49" charset="0"/>
              </a:rPr>
              <a:t>std::</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uint8_t</a:t>
            </a:r>
            <a:r>
              <a:rPr lang="en-US" sz="1200" dirty="0">
                <a:solidFill>
                  <a:srgbClr val="000000"/>
                </a:solidFill>
                <a:latin typeface="Cascadia Mono" panose="020B0609020000020004" pitchFamily="49" charset="0"/>
              </a:rPr>
              <a:t>&gt; v{ 1,2,3,4,5,6 };</a:t>
            </a:r>
            <a:endParaRPr lang="en-US" sz="1200" dirty="0"/>
          </a:p>
        </p:txBody>
      </p:sp>
      <p:sp>
        <p:nvSpPr>
          <p:cNvPr id="7" name="TextBox 6">
            <a:extLst>
              <a:ext uri="{FF2B5EF4-FFF2-40B4-BE49-F238E27FC236}">
                <a16:creationId xmlns:a16="http://schemas.microsoft.com/office/drawing/2014/main" id="{5ABBC12C-5477-4E35-AA64-DBCDA96573F8}"/>
              </a:ext>
            </a:extLst>
          </p:cNvPr>
          <p:cNvSpPr txBox="1"/>
          <p:nvPr/>
        </p:nvSpPr>
        <p:spPr>
          <a:xfrm>
            <a:off x="595908" y="3152001"/>
            <a:ext cx="6097190" cy="276999"/>
          </a:xfrm>
          <a:prstGeom prst="rect">
            <a:avLst/>
          </a:prstGeom>
          <a:noFill/>
        </p:spPr>
        <p:txBody>
          <a:bodyPr wrap="square">
            <a:spAutoFit/>
          </a:bodyPr>
          <a:lstStyle/>
          <a:p>
            <a:r>
              <a:rPr lang="en-US" sz="1200" dirty="0"/>
              <a:t>vector&lt;T&gt; </a:t>
            </a:r>
            <a:r>
              <a:rPr lang="ru-RU" sz="1200" dirty="0">
                <a:solidFill>
                  <a:srgbClr val="000000"/>
                </a:solidFill>
                <a:latin typeface="Cascadia Mono" panose="020B0609020000020004" pitchFamily="49" charset="0"/>
              </a:rPr>
              <a:t>Непрерыно аллоцируемая последовательность из объектов </a:t>
            </a:r>
            <a:r>
              <a:rPr lang="en-US" sz="1200" dirty="0">
                <a:solidFill>
                  <a:srgbClr val="000000"/>
                </a:solidFill>
                <a:latin typeface="Cascadia Mono" panose="020B0609020000020004" pitchFamily="49" charset="0"/>
              </a:rPr>
              <a:t>T</a:t>
            </a:r>
            <a:endParaRPr lang="en-US" sz="1200" dirty="0"/>
          </a:p>
        </p:txBody>
      </p:sp>
      <p:sp>
        <p:nvSpPr>
          <p:cNvPr id="3" name="Rectangle 2">
            <a:extLst>
              <a:ext uri="{FF2B5EF4-FFF2-40B4-BE49-F238E27FC236}">
                <a16:creationId xmlns:a16="http://schemas.microsoft.com/office/drawing/2014/main" id="{FCEC2221-6554-495A-9C25-AD40D10A8042}"/>
              </a:ext>
            </a:extLst>
          </p:cNvPr>
          <p:cNvSpPr/>
          <p:nvPr/>
        </p:nvSpPr>
        <p:spPr>
          <a:xfrm>
            <a:off x="678657" y="4031458"/>
            <a:ext cx="1493043" cy="5786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Vector</a:t>
            </a:r>
          </a:p>
        </p:txBody>
      </p:sp>
      <p:sp>
        <p:nvSpPr>
          <p:cNvPr id="10" name="Rectangle 9">
            <a:extLst>
              <a:ext uri="{FF2B5EF4-FFF2-40B4-BE49-F238E27FC236}">
                <a16:creationId xmlns:a16="http://schemas.microsoft.com/office/drawing/2014/main" id="{33D9E9A5-05A6-4DFD-99D5-FD98F473EDDE}"/>
              </a:ext>
            </a:extLst>
          </p:cNvPr>
          <p:cNvSpPr/>
          <p:nvPr/>
        </p:nvSpPr>
        <p:spPr>
          <a:xfrm>
            <a:off x="3245645" y="4610101"/>
            <a:ext cx="2597943" cy="376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Элементы</a:t>
            </a:r>
            <a:endParaRPr lang="en-US" dirty="0"/>
          </a:p>
        </p:txBody>
      </p:sp>
      <p:sp>
        <p:nvSpPr>
          <p:cNvPr id="11" name="Rectangle 10">
            <a:extLst>
              <a:ext uri="{FF2B5EF4-FFF2-40B4-BE49-F238E27FC236}">
                <a16:creationId xmlns:a16="http://schemas.microsoft.com/office/drawing/2014/main" id="{0904CA31-8401-410D-B039-C9178BCEEFE3}"/>
              </a:ext>
            </a:extLst>
          </p:cNvPr>
          <p:cNvSpPr/>
          <p:nvPr/>
        </p:nvSpPr>
        <p:spPr>
          <a:xfrm>
            <a:off x="5843588" y="4610101"/>
            <a:ext cx="2047875" cy="376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Пустая память</a:t>
            </a:r>
            <a:endParaRPr lang="en-US" dirty="0"/>
          </a:p>
        </p:txBody>
      </p:sp>
      <p:cxnSp>
        <p:nvCxnSpPr>
          <p:cNvPr id="12" name="Straight Arrow Connector 11">
            <a:extLst>
              <a:ext uri="{FF2B5EF4-FFF2-40B4-BE49-F238E27FC236}">
                <a16:creationId xmlns:a16="http://schemas.microsoft.com/office/drawing/2014/main" id="{ABED974F-7AE4-445E-98FD-EFC78B2328E6}"/>
              </a:ext>
            </a:extLst>
          </p:cNvPr>
          <p:cNvCxnSpPr>
            <a:stCxn id="3" idx="3"/>
            <a:endCxn id="10" idx="1"/>
          </p:cNvCxnSpPr>
          <p:nvPr/>
        </p:nvCxnSpPr>
        <p:spPr>
          <a:xfrm>
            <a:off x="2171700" y="4320780"/>
            <a:ext cx="1073945" cy="4774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24804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std::vector</a:t>
            </a:r>
          </a:p>
        </p:txBody>
      </p:sp>
      <p:sp>
        <p:nvSpPr>
          <p:cNvPr id="3" name="Rectangle 2">
            <a:extLst>
              <a:ext uri="{FF2B5EF4-FFF2-40B4-BE49-F238E27FC236}">
                <a16:creationId xmlns:a16="http://schemas.microsoft.com/office/drawing/2014/main" id="{FCEC2221-6554-495A-9C25-AD40D10A8042}"/>
              </a:ext>
            </a:extLst>
          </p:cNvPr>
          <p:cNvSpPr/>
          <p:nvPr/>
        </p:nvSpPr>
        <p:spPr>
          <a:xfrm>
            <a:off x="678657" y="4031458"/>
            <a:ext cx="1493043" cy="5786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Vector</a:t>
            </a:r>
          </a:p>
        </p:txBody>
      </p:sp>
      <p:sp>
        <p:nvSpPr>
          <p:cNvPr id="10" name="Rectangle 9">
            <a:extLst>
              <a:ext uri="{FF2B5EF4-FFF2-40B4-BE49-F238E27FC236}">
                <a16:creationId xmlns:a16="http://schemas.microsoft.com/office/drawing/2014/main" id="{33D9E9A5-05A6-4DFD-99D5-FD98F473EDDE}"/>
              </a:ext>
            </a:extLst>
          </p:cNvPr>
          <p:cNvSpPr/>
          <p:nvPr/>
        </p:nvSpPr>
        <p:spPr>
          <a:xfrm>
            <a:off x="3245645" y="4610101"/>
            <a:ext cx="2597943" cy="376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Элементы</a:t>
            </a:r>
            <a:endParaRPr lang="en-US" dirty="0"/>
          </a:p>
        </p:txBody>
      </p:sp>
      <p:sp>
        <p:nvSpPr>
          <p:cNvPr id="11" name="Rectangle 10">
            <a:extLst>
              <a:ext uri="{FF2B5EF4-FFF2-40B4-BE49-F238E27FC236}">
                <a16:creationId xmlns:a16="http://schemas.microsoft.com/office/drawing/2014/main" id="{0904CA31-8401-410D-B039-C9178BCEEFE3}"/>
              </a:ext>
            </a:extLst>
          </p:cNvPr>
          <p:cNvSpPr/>
          <p:nvPr/>
        </p:nvSpPr>
        <p:spPr>
          <a:xfrm>
            <a:off x="5843588" y="4610101"/>
            <a:ext cx="2047875" cy="376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Пустая память</a:t>
            </a:r>
            <a:endParaRPr lang="en-US" dirty="0"/>
          </a:p>
        </p:txBody>
      </p:sp>
      <p:cxnSp>
        <p:nvCxnSpPr>
          <p:cNvPr id="12" name="Straight Arrow Connector 11">
            <a:extLst>
              <a:ext uri="{FF2B5EF4-FFF2-40B4-BE49-F238E27FC236}">
                <a16:creationId xmlns:a16="http://schemas.microsoft.com/office/drawing/2014/main" id="{ABED974F-7AE4-445E-98FD-EFC78B2328E6}"/>
              </a:ext>
            </a:extLst>
          </p:cNvPr>
          <p:cNvCxnSpPr>
            <a:stCxn id="3" idx="3"/>
            <a:endCxn id="10" idx="1"/>
          </p:cNvCxnSpPr>
          <p:nvPr/>
        </p:nvCxnSpPr>
        <p:spPr>
          <a:xfrm>
            <a:off x="2171700" y="4320780"/>
            <a:ext cx="1073945" cy="4774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69B4E58-1395-4DF0-9C30-FC4021CC5E3B}"/>
              </a:ext>
            </a:extLst>
          </p:cNvPr>
          <p:cNvSpPr txBox="1"/>
          <p:nvPr/>
        </p:nvSpPr>
        <p:spPr>
          <a:xfrm>
            <a:off x="566452" y="1462804"/>
            <a:ext cx="8291798" cy="1384995"/>
          </a:xfrm>
          <a:prstGeom prst="rect">
            <a:avLst/>
          </a:prstGeom>
          <a:noFill/>
        </p:spPr>
        <p:txBody>
          <a:bodyPr wrap="square">
            <a:spAutoFit/>
          </a:bodyPr>
          <a:lstStyle/>
          <a:p>
            <a:r>
              <a:rPr lang="en-US" sz="1200" dirty="0"/>
              <a:t>X=</a:t>
            </a:r>
            <a:r>
              <a:rPr lang="en-US" sz="1200" dirty="0" err="1"/>
              <a:t>vec.capacity</a:t>
            </a:r>
            <a:r>
              <a:rPr lang="en-US" sz="1200" dirty="0"/>
              <a:t>() - </a:t>
            </a:r>
            <a:r>
              <a:rPr lang="ru-RU" sz="1200" dirty="0"/>
              <a:t>аллоцированная память (в объектах)</a:t>
            </a:r>
          </a:p>
          <a:p>
            <a:r>
              <a:rPr lang="en-US" sz="1200" dirty="0"/>
              <a:t>X=</a:t>
            </a:r>
            <a:r>
              <a:rPr lang="en-US" sz="1200" dirty="0" err="1"/>
              <a:t>vec.size</a:t>
            </a:r>
            <a:r>
              <a:rPr lang="en-US" sz="1200" dirty="0"/>
              <a:t>() – </a:t>
            </a:r>
            <a:r>
              <a:rPr lang="ru-RU" sz="1200" dirty="0"/>
              <a:t>количество элементов</a:t>
            </a:r>
          </a:p>
          <a:p>
            <a:r>
              <a:rPr lang="en-US" sz="1200" dirty="0" err="1"/>
              <a:t>vec.reserve</a:t>
            </a:r>
            <a:r>
              <a:rPr lang="en-US" sz="1200" dirty="0"/>
              <a:t>(n) </a:t>
            </a:r>
            <a:r>
              <a:rPr lang="ru-RU" sz="1200" dirty="0"/>
              <a:t>– резервирует память под </a:t>
            </a:r>
            <a:r>
              <a:rPr lang="en-US" sz="1200" dirty="0"/>
              <a:t>n </a:t>
            </a:r>
            <a:r>
              <a:rPr lang="ru-RU" sz="1200" dirty="0"/>
              <a:t>объектов (но не добавляет новые)</a:t>
            </a:r>
          </a:p>
          <a:p>
            <a:r>
              <a:rPr lang="en-US" sz="1200" dirty="0" err="1"/>
              <a:t>vec.resize</a:t>
            </a:r>
            <a:r>
              <a:rPr lang="en-US" sz="1200" dirty="0"/>
              <a:t>(n) – </a:t>
            </a:r>
            <a:r>
              <a:rPr lang="ru-RU" sz="1200" dirty="0"/>
              <a:t>изменяет количество элементов (удаляет элементы</a:t>
            </a:r>
            <a:r>
              <a:rPr lang="en-US" sz="1200" dirty="0"/>
              <a:t>/</a:t>
            </a:r>
            <a:r>
              <a:rPr lang="ru-RU" sz="1200" dirty="0"/>
              <a:t>либо добавляет новые с </a:t>
            </a:r>
            <a:r>
              <a:rPr lang="en-US" sz="1200" dirty="0"/>
              <a:t>default constructor</a:t>
            </a:r>
            <a:r>
              <a:rPr lang="ru-RU" sz="1200" dirty="0"/>
              <a:t>)</a:t>
            </a:r>
          </a:p>
          <a:p>
            <a:r>
              <a:rPr lang="ru-RU" sz="1200" dirty="0"/>
              <a:t>Не уменьшает количество резевируемой памяти</a:t>
            </a:r>
            <a:endParaRPr lang="en-US" sz="1200" dirty="0"/>
          </a:p>
          <a:p>
            <a:r>
              <a:rPr lang="en-US" sz="1200" dirty="0" err="1"/>
              <a:t>vec.push_back</a:t>
            </a:r>
            <a:r>
              <a:rPr lang="en-US" sz="1200" dirty="0"/>
              <a:t>(</a:t>
            </a:r>
            <a:r>
              <a:rPr lang="en-US" sz="1200" dirty="0" err="1"/>
              <a:t>elem</a:t>
            </a:r>
            <a:r>
              <a:rPr lang="en-US" sz="1200" dirty="0"/>
              <a:t>) </a:t>
            </a:r>
            <a:r>
              <a:rPr lang="ru-RU" sz="1200" dirty="0"/>
              <a:t>– добавляет элемент в конец вектора.</a:t>
            </a:r>
            <a:endParaRPr lang="en-US" sz="1200" dirty="0"/>
          </a:p>
          <a:p>
            <a:endParaRPr lang="en-US" sz="1200" dirty="0"/>
          </a:p>
        </p:txBody>
      </p:sp>
      <p:sp>
        <p:nvSpPr>
          <p:cNvPr id="14" name="TextBox 13">
            <a:extLst>
              <a:ext uri="{FF2B5EF4-FFF2-40B4-BE49-F238E27FC236}">
                <a16:creationId xmlns:a16="http://schemas.microsoft.com/office/drawing/2014/main" id="{0447F405-5C8D-48FD-9A98-AFAF997A2A38}"/>
              </a:ext>
            </a:extLst>
          </p:cNvPr>
          <p:cNvSpPr txBox="1"/>
          <p:nvPr/>
        </p:nvSpPr>
        <p:spPr>
          <a:xfrm>
            <a:off x="566452" y="1277222"/>
            <a:ext cx="6097190" cy="276999"/>
          </a:xfrm>
          <a:prstGeom prst="rect">
            <a:avLst/>
          </a:prstGeom>
          <a:noFill/>
        </p:spPr>
        <p:txBody>
          <a:bodyPr wrap="square">
            <a:spAutoFit/>
          </a:bodyPr>
          <a:lstStyle/>
          <a:p>
            <a:r>
              <a:rPr lang="en-US" sz="1200" dirty="0">
                <a:solidFill>
                  <a:srgbClr val="000000"/>
                </a:solidFill>
                <a:latin typeface="Cascadia Mono" panose="020B0609020000020004" pitchFamily="49" charset="0"/>
              </a:rPr>
              <a:t>std::</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uint8_t</a:t>
            </a:r>
            <a:r>
              <a:rPr lang="en-US" sz="1200" dirty="0">
                <a:solidFill>
                  <a:srgbClr val="000000"/>
                </a:solidFill>
                <a:latin typeface="Cascadia Mono" panose="020B0609020000020004" pitchFamily="49" charset="0"/>
              </a:rPr>
              <a:t>&gt; v{ 1,2,3,4,5,6 };</a:t>
            </a:r>
            <a:endParaRPr lang="en-US" sz="1200" dirty="0"/>
          </a:p>
        </p:txBody>
      </p:sp>
      <p:sp>
        <p:nvSpPr>
          <p:cNvPr id="17" name="TextBox 16">
            <a:extLst>
              <a:ext uri="{FF2B5EF4-FFF2-40B4-BE49-F238E27FC236}">
                <a16:creationId xmlns:a16="http://schemas.microsoft.com/office/drawing/2014/main" id="{11AEB887-737F-4A9D-9CC7-0AE85B0D9DF8}"/>
              </a:ext>
            </a:extLst>
          </p:cNvPr>
          <p:cNvSpPr txBox="1"/>
          <p:nvPr/>
        </p:nvSpPr>
        <p:spPr>
          <a:xfrm>
            <a:off x="3355776" y="2786067"/>
            <a:ext cx="6097190" cy="1754326"/>
          </a:xfrm>
          <a:prstGeom prst="rect">
            <a:avLst/>
          </a:prstGeom>
          <a:noFill/>
        </p:spPr>
        <p:txBody>
          <a:bodyPr wrap="square">
            <a:spAutoFit/>
          </a:bodyPr>
          <a:lstStyle/>
          <a:p>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main()</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uint8_t</a:t>
            </a:r>
            <a:r>
              <a:rPr lang="en-US" sz="1200" dirty="0">
                <a:solidFill>
                  <a:srgbClr val="000000"/>
                </a:solidFill>
                <a:latin typeface="Cascadia Mono" panose="020B0609020000020004" pitchFamily="49" charset="0"/>
              </a:rPr>
              <a:t>&gt; </a:t>
            </a:r>
            <a:r>
              <a:rPr lang="en-US" sz="1200" dirty="0" err="1">
                <a:solidFill>
                  <a:srgbClr val="000000"/>
                </a:solidFill>
                <a:latin typeface="Cascadia Mono" panose="020B0609020000020004" pitchFamily="49" charset="0"/>
              </a:rPr>
              <a:t>vec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vec.get_value</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vec.resize</a:t>
            </a:r>
            <a:r>
              <a:rPr lang="en-US" sz="1200" dirty="0">
                <a:solidFill>
                  <a:srgbClr val="000000"/>
                </a:solidFill>
                <a:latin typeface="Cascadia Mono" panose="020B0609020000020004" pitchFamily="49" charset="0"/>
              </a:rPr>
              <a:t>(2000);</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vec.push_back</a:t>
            </a:r>
            <a:r>
              <a:rPr lang="en-US" sz="1200" dirty="0">
                <a:solidFill>
                  <a:srgbClr val="000000"/>
                </a:solidFill>
                <a:latin typeface="Cascadia Mono" panose="020B0609020000020004" pitchFamily="49" charset="0"/>
              </a:rPr>
              <a:t>(1);</a:t>
            </a: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vec.capacity</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endl</a:t>
            </a: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3000</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cout</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vec.size</a:t>
            </a:r>
            <a:r>
              <a:rPr lang="en-US" sz="1200" dirty="0">
                <a:solidFill>
                  <a:srgbClr val="000000"/>
                </a:solidFill>
                <a:latin typeface="Cascadia Mono" panose="020B0609020000020004" pitchFamily="49" charset="0"/>
              </a:rPr>
              <a:t>() </a:t>
            </a:r>
            <a:r>
              <a:rPr lang="en-US" sz="1200" dirty="0">
                <a:solidFill>
                  <a:srgbClr val="008080"/>
                </a:solidFill>
                <a:latin typeface="Cascadia Mono" panose="020B0609020000020004" pitchFamily="49" charset="0"/>
              </a:rPr>
              <a:t>&lt;&lt;</a:t>
            </a:r>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endl</a:t>
            </a: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2001</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endParaRPr lang="en-US" sz="1200" dirty="0"/>
          </a:p>
        </p:txBody>
      </p:sp>
    </p:spTree>
    <p:extLst>
      <p:ext uri="{BB962C8B-B14F-4D97-AF65-F5344CB8AC3E}">
        <p14:creationId xmlns:p14="http://schemas.microsoft.com/office/powerpoint/2010/main" val="33141314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CB089F-95F7-4EF1-88CC-EF8C6D179AA2}"/>
              </a:ext>
            </a:extLst>
          </p:cNvPr>
          <p:cNvPicPr>
            <a:picLocks noChangeAspect="1"/>
          </p:cNvPicPr>
          <p:nvPr/>
        </p:nvPicPr>
        <p:blipFill>
          <a:blip r:embed="rId2"/>
          <a:stretch>
            <a:fillRect/>
          </a:stretch>
        </p:blipFill>
        <p:spPr>
          <a:xfrm>
            <a:off x="702797" y="2261818"/>
            <a:ext cx="4848902" cy="3543795"/>
          </a:xfrm>
          <a:prstGeom prst="rect">
            <a:avLst/>
          </a:prstGeom>
        </p:spPr>
      </p:pic>
      <p:pic>
        <p:nvPicPr>
          <p:cNvPr id="10" name="Picture 9">
            <a:extLst>
              <a:ext uri="{FF2B5EF4-FFF2-40B4-BE49-F238E27FC236}">
                <a16:creationId xmlns:a16="http://schemas.microsoft.com/office/drawing/2014/main" id="{E6389B6D-54B6-45B4-8FD3-023F295F46B4}"/>
              </a:ext>
            </a:extLst>
          </p:cNvPr>
          <p:cNvPicPr>
            <a:picLocks noChangeAspect="1"/>
          </p:cNvPicPr>
          <p:nvPr/>
        </p:nvPicPr>
        <p:blipFill>
          <a:blip r:embed="rId3"/>
          <a:stretch>
            <a:fillRect/>
          </a:stretch>
        </p:blipFill>
        <p:spPr>
          <a:xfrm>
            <a:off x="6906768" y="2347555"/>
            <a:ext cx="2867425" cy="1686160"/>
          </a:xfrm>
          <a:prstGeom prst="rect">
            <a:avLst/>
          </a:prstGeom>
        </p:spPr>
      </p:pic>
      <p:sp>
        <p:nvSpPr>
          <p:cNvPr id="8" name="TextBox 7">
            <a:extLst>
              <a:ext uri="{FF2B5EF4-FFF2-40B4-BE49-F238E27FC236}">
                <a16:creationId xmlns:a16="http://schemas.microsoft.com/office/drawing/2014/main" id="{32BC3DE5-31B6-4DDB-82AD-B4B8EE6714BA}"/>
              </a:ext>
            </a:extLst>
          </p:cNvPr>
          <p:cNvSpPr txBox="1"/>
          <p:nvPr/>
        </p:nvSpPr>
        <p:spPr>
          <a:xfrm>
            <a:off x="515112" y="725716"/>
            <a:ext cx="11161776" cy="646331"/>
          </a:xfrm>
          <a:prstGeom prst="rect">
            <a:avLst/>
          </a:prstGeom>
          <a:noFill/>
        </p:spPr>
        <p:txBody>
          <a:bodyPr wrap="square">
            <a:spAutoFit/>
          </a:bodyPr>
          <a:lstStyle/>
          <a:p>
            <a:r>
              <a:rPr lang="en-US" sz="1800" dirty="0">
                <a:solidFill>
                  <a:srgbClr val="000000"/>
                </a:solidFill>
                <a:latin typeface="Cascadia Mono" panose="020B0609020000020004" pitchFamily="49" charset="0"/>
              </a:rPr>
              <a:t> std::</a:t>
            </a:r>
            <a:r>
              <a:rPr lang="en-US" sz="1800" dirty="0">
                <a:solidFill>
                  <a:srgbClr val="2B91AF"/>
                </a:solidFill>
                <a:latin typeface="Cascadia Mono" panose="020B0609020000020004" pitchFamily="49" charset="0"/>
              </a:rPr>
              <a:t>vector</a:t>
            </a:r>
            <a:r>
              <a:rPr lang="en-US" sz="1800" dirty="0">
                <a:solidFill>
                  <a:srgbClr val="000000"/>
                </a:solidFill>
                <a:latin typeface="Cascadia Mono" panose="020B0609020000020004" pitchFamily="49" charset="0"/>
              </a:rPr>
              <a:t>&lt;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&gt; v1{ 1, 2, 3, 4, 5 }; </a:t>
            </a:r>
            <a:r>
              <a:rPr lang="en-US" sz="1800" dirty="0">
                <a:solidFill>
                  <a:srgbClr val="008000"/>
                </a:solidFill>
                <a:latin typeface="Cascadia Mono" panose="020B0609020000020004" pitchFamily="49" charset="0"/>
              </a:rPr>
              <a:t>// constructor with initializer list</a:t>
            </a:r>
            <a:endParaRPr lang="en-US" sz="1800" dirty="0">
              <a:solidFill>
                <a:srgbClr val="000000"/>
              </a:solidFill>
              <a:latin typeface="Cascadia Mono" panose="020B0609020000020004" pitchFamily="49" charset="0"/>
            </a:endParaRPr>
          </a:p>
          <a:p>
            <a:r>
              <a:rPr lang="en-US" sz="1800" dirty="0">
                <a:solidFill>
                  <a:srgbClr val="000000"/>
                </a:solidFill>
                <a:latin typeface="Cascadia Mono" panose="020B0609020000020004" pitchFamily="49" charset="0"/>
              </a:rPr>
              <a:t> std::</a:t>
            </a:r>
            <a:r>
              <a:rPr lang="en-US" sz="1800" dirty="0">
                <a:solidFill>
                  <a:srgbClr val="2B91AF"/>
                </a:solidFill>
                <a:latin typeface="Cascadia Mono" panose="020B0609020000020004" pitchFamily="49" charset="0"/>
              </a:rPr>
              <a:t>vector</a:t>
            </a:r>
            <a:r>
              <a:rPr lang="en-US" sz="1800" dirty="0">
                <a:solidFill>
                  <a:srgbClr val="000000"/>
                </a:solidFill>
                <a:latin typeface="Cascadia Mono" panose="020B0609020000020004" pitchFamily="49" charset="0"/>
              </a:rPr>
              <a:t>&lt;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&gt; v2{}; </a:t>
            </a:r>
            <a:r>
              <a:rPr lang="en-US" sz="1800" dirty="0">
                <a:solidFill>
                  <a:srgbClr val="008000"/>
                </a:solidFill>
                <a:latin typeface="Cascadia Mono" panose="020B0609020000020004" pitchFamily="49" charset="0"/>
              </a:rPr>
              <a:t>// default constructor</a:t>
            </a:r>
            <a:endParaRPr lang="en-US" dirty="0"/>
          </a:p>
        </p:txBody>
      </p:sp>
    </p:spTree>
    <p:extLst>
      <p:ext uri="{BB962C8B-B14F-4D97-AF65-F5344CB8AC3E}">
        <p14:creationId xmlns:p14="http://schemas.microsoft.com/office/powerpoint/2010/main" val="12443798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CB089F-95F7-4EF1-88CC-EF8C6D179AA2}"/>
              </a:ext>
            </a:extLst>
          </p:cNvPr>
          <p:cNvPicPr>
            <a:picLocks noChangeAspect="1"/>
          </p:cNvPicPr>
          <p:nvPr/>
        </p:nvPicPr>
        <p:blipFill>
          <a:blip r:embed="rId2"/>
          <a:stretch>
            <a:fillRect/>
          </a:stretch>
        </p:blipFill>
        <p:spPr>
          <a:xfrm>
            <a:off x="702797" y="2261818"/>
            <a:ext cx="4848902" cy="3543795"/>
          </a:xfrm>
          <a:prstGeom prst="rect">
            <a:avLst/>
          </a:prstGeom>
        </p:spPr>
      </p:pic>
      <p:sp>
        <p:nvSpPr>
          <p:cNvPr id="8" name="TextBox 7">
            <a:extLst>
              <a:ext uri="{FF2B5EF4-FFF2-40B4-BE49-F238E27FC236}">
                <a16:creationId xmlns:a16="http://schemas.microsoft.com/office/drawing/2014/main" id="{32BC3DE5-31B6-4DDB-82AD-B4B8EE6714BA}"/>
              </a:ext>
            </a:extLst>
          </p:cNvPr>
          <p:cNvSpPr txBox="1"/>
          <p:nvPr/>
        </p:nvSpPr>
        <p:spPr>
          <a:xfrm>
            <a:off x="515112" y="725716"/>
            <a:ext cx="11161776" cy="646331"/>
          </a:xfrm>
          <a:prstGeom prst="rect">
            <a:avLst/>
          </a:prstGeom>
          <a:noFill/>
        </p:spPr>
        <p:txBody>
          <a:bodyPr wrap="square">
            <a:spAutoFit/>
          </a:bodyPr>
          <a:lstStyle/>
          <a:p>
            <a:r>
              <a:rPr lang="en-US" sz="1800" dirty="0">
                <a:solidFill>
                  <a:srgbClr val="000000"/>
                </a:solidFill>
                <a:latin typeface="Cascadia Mono" panose="020B0609020000020004" pitchFamily="49" charset="0"/>
              </a:rPr>
              <a:t> std::</a:t>
            </a:r>
            <a:r>
              <a:rPr lang="en-US" sz="1800" dirty="0">
                <a:solidFill>
                  <a:srgbClr val="2B91AF"/>
                </a:solidFill>
                <a:latin typeface="Cascadia Mono" panose="020B0609020000020004" pitchFamily="49" charset="0"/>
              </a:rPr>
              <a:t>vector</a:t>
            </a:r>
            <a:r>
              <a:rPr lang="en-US" sz="1800" dirty="0">
                <a:solidFill>
                  <a:srgbClr val="000000"/>
                </a:solidFill>
                <a:latin typeface="Cascadia Mono" panose="020B0609020000020004" pitchFamily="49" charset="0"/>
              </a:rPr>
              <a:t>&lt;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&gt; v1{ 1, 2, 3, 4, 5 }; </a:t>
            </a:r>
            <a:r>
              <a:rPr lang="en-US" sz="1800" dirty="0">
                <a:solidFill>
                  <a:srgbClr val="008000"/>
                </a:solidFill>
                <a:latin typeface="Cascadia Mono" panose="020B0609020000020004" pitchFamily="49" charset="0"/>
              </a:rPr>
              <a:t>// constructor with initializer list</a:t>
            </a:r>
            <a:endParaRPr lang="en-US" sz="1800" dirty="0">
              <a:solidFill>
                <a:srgbClr val="000000"/>
              </a:solidFill>
              <a:latin typeface="Cascadia Mono" panose="020B0609020000020004" pitchFamily="49" charset="0"/>
            </a:endParaRPr>
          </a:p>
          <a:p>
            <a:r>
              <a:rPr lang="en-US" sz="1800" dirty="0">
                <a:solidFill>
                  <a:srgbClr val="000000"/>
                </a:solidFill>
                <a:latin typeface="Cascadia Mono" panose="020B0609020000020004" pitchFamily="49" charset="0"/>
              </a:rPr>
              <a:t> std::</a:t>
            </a:r>
            <a:r>
              <a:rPr lang="en-US" sz="1800" dirty="0">
                <a:solidFill>
                  <a:srgbClr val="2B91AF"/>
                </a:solidFill>
                <a:latin typeface="Cascadia Mono" panose="020B0609020000020004" pitchFamily="49" charset="0"/>
              </a:rPr>
              <a:t>vector</a:t>
            </a:r>
            <a:r>
              <a:rPr lang="en-US" sz="1800" dirty="0">
                <a:solidFill>
                  <a:srgbClr val="000000"/>
                </a:solidFill>
                <a:latin typeface="Cascadia Mono" panose="020B0609020000020004" pitchFamily="49" charset="0"/>
              </a:rPr>
              <a:t>&lt;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&gt; v2{}; </a:t>
            </a:r>
            <a:r>
              <a:rPr lang="en-US" sz="1800" dirty="0">
                <a:solidFill>
                  <a:srgbClr val="008000"/>
                </a:solidFill>
                <a:latin typeface="Cascadia Mono" panose="020B0609020000020004" pitchFamily="49" charset="0"/>
              </a:rPr>
              <a:t>// default constructor</a:t>
            </a:r>
            <a:endParaRPr lang="en-US" dirty="0"/>
          </a:p>
        </p:txBody>
      </p:sp>
      <p:sp>
        <p:nvSpPr>
          <p:cNvPr id="6" name="TextBox 5">
            <a:extLst>
              <a:ext uri="{FF2B5EF4-FFF2-40B4-BE49-F238E27FC236}">
                <a16:creationId xmlns:a16="http://schemas.microsoft.com/office/drawing/2014/main" id="{2A8B3AD3-5438-4A53-9862-93194FB05B82}"/>
              </a:ext>
            </a:extLst>
          </p:cNvPr>
          <p:cNvSpPr txBox="1"/>
          <p:nvPr/>
        </p:nvSpPr>
        <p:spPr>
          <a:xfrm>
            <a:off x="515112" y="1262934"/>
            <a:ext cx="6096000" cy="369332"/>
          </a:xfrm>
          <a:prstGeom prst="rect">
            <a:avLst/>
          </a:prstGeom>
          <a:noFill/>
        </p:spPr>
        <p:txBody>
          <a:bodyPr wrap="square">
            <a:spAutoFit/>
          </a:bodyPr>
          <a:lstStyle/>
          <a:p>
            <a:r>
              <a:rPr lang="en-US" sz="1800" dirty="0">
                <a:solidFill>
                  <a:srgbClr val="000000"/>
                </a:solidFill>
                <a:latin typeface="Cascadia Mono" panose="020B0609020000020004" pitchFamily="49" charset="0"/>
              </a:rPr>
              <a:t> v</a:t>
            </a:r>
            <a:r>
              <a:rPr lang="ru-RU" sz="1800" dirty="0">
                <a:solidFill>
                  <a:srgbClr val="000000"/>
                </a:solidFill>
                <a:latin typeface="Cascadia Mono" panose="020B0609020000020004" pitchFamily="49" charset="0"/>
              </a:rPr>
              <a:t>2</a:t>
            </a:r>
            <a:r>
              <a:rPr lang="en-US" sz="1800" dirty="0">
                <a:solidFill>
                  <a:srgbClr val="000000"/>
                </a:solidFill>
                <a:latin typeface="Cascadia Mono" panose="020B0609020000020004" pitchFamily="49" charset="0"/>
              </a:rPr>
              <a:t> </a:t>
            </a:r>
            <a:r>
              <a:rPr lang="en-US" sz="1800" dirty="0">
                <a:solidFill>
                  <a:srgbClr val="008080"/>
                </a:solidFill>
                <a:latin typeface="Cascadia Mono" panose="020B0609020000020004" pitchFamily="49" charset="0"/>
              </a:rPr>
              <a:t>=</a:t>
            </a:r>
            <a:r>
              <a:rPr lang="en-US" sz="1800" dirty="0">
                <a:solidFill>
                  <a:srgbClr val="000000"/>
                </a:solidFill>
                <a:latin typeface="Cascadia Mono" panose="020B0609020000020004" pitchFamily="49" charset="0"/>
              </a:rPr>
              <a:t> v</a:t>
            </a:r>
            <a:r>
              <a:rPr lang="ru-RU" sz="1800" dirty="0">
                <a:solidFill>
                  <a:srgbClr val="000000"/>
                </a:solidFill>
                <a:latin typeface="Cascadia Mono" panose="020B0609020000020004" pitchFamily="49" charset="0"/>
              </a:rPr>
              <a:t>1</a:t>
            </a:r>
            <a:r>
              <a:rPr lang="en-US" sz="1800" dirty="0">
                <a:solidFill>
                  <a:srgbClr val="000000"/>
                </a:solidFill>
                <a:latin typeface="Cascadia Mono" panose="020B0609020000020004" pitchFamily="49" charset="0"/>
              </a:rPr>
              <a:t>; </a:t>
            </a:r>
            <a:r>
              <a:rPr lang="en-US" sz="1800" dirty="0">
                <a:solidFill>
                  <a:srgbClr val="008000"/>
                </a:solidFill>
                <a:latin typeface="Cascadia Mono" panose="020B0609020000020004" pitchFamily="49" charset="0"/>
              </a:rPr>
              <a:t>// copy assignment</a:t>
            </a:r>
            <a:endParaRPr lang="en-US" dirty="0"/>
          </a:p>
        </p:txBody>
      </p:sp>
      <p:pic>
        <p:nvPicPr>
          <p:cNvPr id="4" name="Picture 3">
            <a:extLst>
              <a:ext uri="{FF2B5EF4-FFF2-40B4-BE49-F238E27FC236}">
                <a16:creationId xmlns:a16="http://schemas.microsoft.com/office/drawing/2014/main" id="{01C19F80-A6A7-473C-8E82-D15760E26D82}"/>
              </a:ext>
            </a:extLst>
          </p:cNvPr>
          <p:cNvPicPr>
            <a:picLocks noChangeAspect="1"/>
          </p:cNvPicPr>
          <p:nvPr/>
        </p:nvPicPr>
        <p:blipFill>
          <a:blip r:embed="rId3"/>
          <a:stretch>
            <a:fillRect/>
          </a:stretch>
        </p:blipFill>
        <p:spPr>
          <a:xfrm>
            <a:off x="6522597" y="2385660"/>
            <a:ext cx="4486901" cy="3296110"/>
          </a:xfrm>
          <a:prstGeom prst="rect">
            <a:avLst/>
          </a:prstGeom>
        </p:spPr>
      </p:pic>
    </p:spTree>
    <p:extLst>
      <p:ext uri="{BB962C8B-B14F-4D97-AF65-F5344CB8AC3E}">
        <p14:creationId xmlns:p14="http://schemas.microsoft.com/office/powerpoint/2010/main" val="34233914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Construct and copy</a:t>
            </a:r>
          </a:p>
        </p:txBody>
      </p:sp>
      <p:sp>
        <p:nvSpPr>
          <p:cNvPr id="16" name="TextBox 15">
            <a:extLst>
              <a:ext uri="{FF2B5EF4-FFF2-40B4-BE49-F238E27FC236}">
                <a16:creationId xmlns:a16="http://schemas.microsoft.com/office/drawing/2014/main" id="{383A99A7-578E-49FB-A350-C7D4C2BC5C26}"/>
              </a:ext>
            </a:extLst>
          </p:cNvPr>
          <p:cNvSpPr txBox="1"/>
          <p:nvPr/>
        </p:nvSpPr>
        <p:spPr>
          <a:xfrm>
            <a:off x="664464" y="1351509"/>
            <a:ext cx="6096000" cy="2123658"/>
          </a:xfrm>
          <a:prstGeom prst="rect">
            <a:avLst/>
          </a:prstGeom>
          <a:noFill/>
        </p:spPr>
        <p:txBody>
          <a:bodyPr wrap="square">
            <a:spAutoFit/>
          </a:bodyPr>
          <a:lstStyle/>
          <a:p>
            <a:r>
              <a:rPr lang="en-US" sz="1200" dirty="0">
                <a:solidFill>
                  <a:srgbClr val="0000FF"/>
                </a:solidFill>
                <a:latin typeface="Cascadia Mono" panose="020B0609020000020004" pitchFamily="49" charset="0"/>
              </a:rPr>
              <a:t>template</a:t>
            </a:r>
            <a:r>
              <a:rPr lang="en-US" sz="1200" dirty="0">
                <a:solidFill>
                  <a:srgbClr val="000000"/>
                </a:solidFill>
                <a:latin typeface="Cascadia Mono" panose="020B0609020000020004" pitchFamily="49" charset="0"/>
              </a:rPr>
              <a:t>&lt;</a:t>
            </a:r>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T</a:t>
            </a:r>
            <a:r>
              <a:rPr lang="en-US" sz="1200" dirty="0">
                <a:solidFill>
                  <a:srgbClr val="000000"/>
                </a:solidFill>
                <a:latin typeface="Cascadia Mono" panose="020B0609020000020004" pitchFamily="49" charset="0"/>
              </a:rPr>
              <a:t>&gt; </a:t>
            </a:r>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Vector</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Default Constructor</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Vector();</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Copy Constructor</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Vector(</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&amp; </a:t>
            </a:r>
            <a:r>
              <a:rPr lang="en-US" sz="1200" dirty="0" err="1">
                <a:solidFill>
                  <a:srgbClr val="808080"/>
                </a:solidFill>
                <a:latin typeface="Cascadia Mono" panose="020B0609020000020004" pitchFamily="49" charset="0"/>
              </a:rPr>
              <a:t>arg</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Copy assignment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T</a:t>
            </a:r>
            <a:r>
              <a:rPr lang="en-US" sz="1200" dirty="0">
                <a:solidFill>
                  <a:srgbClr val="000000"/>
                </a:solidFill>
                <a:latin typeface="Cascadia Mono" panose="020B0609020000020004" pitchFamily="49" charset="0"/>
              </a:rPr>
              <a:t>&gt;&amp;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T</a:t>
            </a:r>
            <a:r>
              <a:rPr lang="en-US" sz="1200" dirty="0">
                <a:solidFill>
                  <a:srgbClr val="000000"/>
                </a:solidFill>
                <a:latin typeface="Cascadia Mono" panose="020B0609020000020004" pitchFamily="49" charset="0"/>
              </a:rPr>
              <a:t>&gt;&amp; </a:t>
            </a:r>
            <a:r>
              <a:rPr lang="en-US" sz="1200" dirty="0" err="1">
                <a:solidFill>
                  <a:srgbClr val="808080"/>
                </a:solidFill>
                <a:latin typeface="Cascadia Mono" panose="020B0609020000020004" pitchFamily="49" charset="0"/>
              </a:rPr>
              <a:t>arg</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Destructor</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~Vector();</a:t>
            </a:r>
          </a:p>
          <a:p>
            <a:r>
              <a:rPr lang="en-US" sz="1200" dirty="0">
                <a:solidFill>
                  <a:srgbClr val="000000"/>
                </a:solidFill>
                <a:latin typeface="Cascadia Mono" panose="020B0609020000020004" pitchFamily="49" charset="0"/>
              </a:rPr>
              <a:t>};</a:t>
            </a:r>
            <a:endParaRPr lang="en-US" sz="1200" dirty="0"/>
          </a:p>
        </p:txBody>
      </p:sp>
      <p:sp>
        <p:nvSpPr>
          <p:cNvPr id="18" name="TextBox 17">
            <a:extLst>
              <a:ext uri="{FF2B5EF4-FFF2-40B4-BE49-F238E27FC236}">
                <a16:creationId xmlns:a16="http://schemas.microsoft.com/office/drawing/2014/main" id="{DB7A2C3A-96D6-4778-81B2-3F40834811E0}"/>
              </a:ext>
            </a:extLst>
          </p:cNvPr>
          <p:cNvSpPr txBox="1"/>
          <p:nvPr/>
        </p:nvSpPr>
        <p:spPr>
          <a:xfrm>
            <a:off x="4943856" y="1351509"/>
            <a:ext cx="7248144" cy="830997"/>
          </a:xfrm>
          <a:prstGeom prst="rect">
            <a:avLst/>
          </a:prstGeom>
          <a:noFill/>
        </p:spPr>
        <p:txBody>
          <a:bodyPr wrap="square">
            <a:spAutoFit/>
          </a:bodyPr>
          <a:lstStyle/>
          <a:p>
            <a:r>
              <a:rPr lang="en-US" sz="1200" dirty="0">
                <a:solidFill>
                  <a:srgbClr val="000000"/>
                </a:solidFill>
                <a:latin typeface="Cascadia Mono" panose="020B0609020000020004" pitchFamily="49" charset="0"/>
              </a:rPr>
              <a:t> std::</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&lt;</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&gt; v1{ 1, 2, 3, 4, 5 }; </a:t>
            </a:r>
            <a:r>
              <a:rPr lang="en-US" sz="1200" dirty="0">
                <a:solidFill>
                  <a:srgbClr val="008000"/>
                </a:solidFill>
                <a:latin typeface="Cascadia Mono" panose="020B0609020000020004" pitchFamily="49" charset="0"/>
              </a:rPr>
              <a:t>// constructor with initializer list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std::</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&lt;</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&gt; v2{}; </a:t>
            </a:r>
            <a:r>
              <a:rPr lang="en-US" sz="1200" dirty="0">
                <a:solidFill>
                  <a:srgbClr val="008000"/>
                </a:solidFill>
                <a:latin typeface="Cascadia Mono" panose="020B0609020000020004" pitchFamily="49" charset="0"/>
              </a:rPr>
              <a:t>// default constructor</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v2 </a:t>
            </a:r>
            <a:r>
              <a:rPr lang="en-US" sz="1200" dirty="0">
                <a:solidFill>
                  <a:srgbClr val="008080"/>
                </a:solidFill>
                <a:latin typeface="Cascadia Mono" panose="020B0609020000020004" pitchFamily="49" charset="0"/>
              </a:rPr>
              <a:t>=</a:t>
            </a:r>
            <a:r>
              <a:rPr lang="en-US" sz="1200" dirty="0">
                <a:solidFill>
                  <a:srgbClr val="000000"/>
                </a:solidFill>
                <a:latin typeface="Cascadia Mono" panose="020B0609020000020004" pitchFamily="49" charset="0"/>
              </a:rPr>
              <a:t> v1; </a:t>
            </a:r>
            <a:r>
              <a:rPr lang="en-US" sz="1200" dirty="0">
                <a:solidFill>
                  <a:srgbClr val="008000"/>
                </a:solidFill>
                <a:latin typeface="Cascadia Mono" panose="020B0609020000020004" pitchFamily="49" charset="0"/>
              </a:rPr>
              <a:t>// copy assignment</a:t>
            </a:r>
            <a:endParaRPr lang="en-US" sz="1200" dirty="0">
              <a:solidFill>
                <a:srgbClr val="000000"/>
              </a:solidFill>
              <a:latin typeface="Cascadia Mono" panose="020B0609020000020004" pitchFamily="49" charset="0"/>
            </a:endParaRPr>
          </a:p>
          <a:p>
            <a:r>
              <a:rPr lang="es-ES" sz="1200" dirty="0">
                <a:solidFill>
                  <a:srgbClr val="000000"/>
                </a:solidFill>
                <a:latin typeface="Cascadia Mono" panose="020B0609020000020004" pitchFamily="49" charset="0"/>
              </a:rPr>
              <a:t> </a:t>
            </a:r>
            <a:r>
              <a:rPr lang="es-ES" sz="1200" dirty="0" err="1">
                <a:solidFill>
                  <a:srgbClr val="000000"/>
                </a:solidFill>
                <a:latin typeface="Cascadia Mono" panose="020B0609020000020004" pitchFamily="49" charset="0"/>
              </a:rPr>
              <a:t>std</a:t>
            </a:r>
            <a:r>
              <a:rPr lang="es-ES" sz="1200" dirty="0">
                <a:solidFill>
                  <a:srgbClr val="000000"/>
                </a:solidFill>
                <a:latin typeface="Cascadia Mono" panose="020B0609020000020004" pitchFamily="49" charset="0"/>
              </a:rPr>
              <a:t>::</a:t>
            </a:r>
            <a:r>
              <a:rPr lang="es-ES" sz="1200" dirty="0">
                <a:solidFill>
                  <a:srgbClr val="2B91AF"/>
                </a:solidFill>
                <a:latin typeface="Cascadia Mono" panose="020B0609020000020004" pitchFamily="49" charset="0"/>
              </a:rPr>
              <a:t>vector</a:t>
            </a:r>
            <a:r>
              <a:rPr lang="es-ES" sz="1200" dirty="0">
                <a:solidFill>
                  <a:srgbClr val="000000"/>
                </a:solidFill>
                <a:latin typeface="Cascadia Mono" panose="020B0609020000020004" pitchFamily="49" charset="0"/>
              </a:rPr>
              <a:t>&lt;</a:t>
            </a:r>
            <a:r>
              <a:rPr lang="es-ES" sz="1200" dirty="0" err="1">
                <a:solidFill>
                  <a:srgbClr val="0000FF"/>
                </a:solidFill>
                <a:latin typeface="Cascadia Mono" panose="020B0609020000020004" pitchFamily="49" charset="0"/>
              </a:rPr>
              <a:t>int</a:t>
            </a:r>
            <a:r>
              <a:rPr lang="es-ES" sz="1200" dirty="0">
                <a:solidFill>
                  <a:srgbClr val="000000"/>
                </a:solidFill>
                <a:latin typeface="Cascadia Mono" panose="020B0609020000020004" pitchFamily="49" charset="0"/>
              </a:rPr>
              <a:t>&gt; v3{v1}; </a:t>
            </a:r>
            <a:r>
              <a:rPr lang="es-ES" sz="1200" dirty="0">
                <a:solidFill>
                  <a:srgbClr val="008000"/>
                </a:solidFill>
                <a:latin typeface="Cascadia Mono" panose="020B0609020000020004" pitchFamily="49" charset="0"/>
              </a:rPr>
              <a:t>// </a:t>
            </a:r>
            <a:r>
              <a:rPr lang="es-ES" sz="1200" dirty="0" err="1">
                <a:solidFill>
                  <a:srgbClr val="008000"/>
                </a:solidFill>
                <a:latin typeface="Cascadia Mono" panose="020B0609020000020004" pitchFamily="49" charset="0"/>
              </a:rPr>
              <a:t>copy</a:t>
            </a:r>
            <a:r>
              <a:rPr lang="es-ES" sz="1200" dirty="0">
                <a:solidFill>
                  <a:srgbClr val="008000"/>
                </a:solidFill>
                <a:latin typeface="Cascadia Mono" panose="020B0609020000020004" pitchFamily="49" charset="0"/>
              </a:rPr>
              <a:t> constructor</a:t>
            </a:r>
            <a:endParaRPr lang="en-US" sz="1200" dirty="0"/>
          </a:p>
        </p:txBody>
      </p:sp>
      <p:pic>
        <p:nvPicPr>
          <p:cNvPr id="19" name="Picture 18">
            <a:extLst>
              <a:ext uri="{FF2B5EF4-FFF2-40B4-BE49-F238E27FC236}">
                <a16:creationId xmlns:a16="http://schemas.microsoft.com/office/drawing/2014/main" id="{275E7924-7CD2-4CF6-B995-F76DA8DACDCA}"/>
              </a:ext>
            </a:extLst>
          </p:cNvPr>
          <p:cNvPicPr>
            <a:picLocks noChangeAspect="1"/>
          </p:cNvPicPr>
          <p:nvPr/>
        </p:nvPicPr>
        <p:blipFill>
          <a:blip r:embed="rId2"/>
          <a:stretch>
            <a:fillRect/>
          </a:stretch>
        </p:blipFill>
        <p:spPr>
          <a:xfrm>
            <a:off x="5683229" y="2445879"/>
            <a:ext cx="4848902" cy="3543795"/>
          </a:xfrm>
          <a:prstGeom prst="rect">
            <a:avLst/>
          </a:prstGeom>
        </p:spPr>
      </p:pic>
      <p:sp>
        <p:nvSpPr>
          <p:cNvPr id="20" name="TextBox 19">
            <a:extLst>
              <a:ext uri="{FF2B5EF4-FFF2-40B4-BE49-F238E27FC236}">
                <a16:creationId xmlns:a16="http://schemas.microsoft.com/office/drawing/2014/main" id="{748FDFA2-73DE-4FEC-A81C-3C1EA9885A54}"/>
              </a:ext>
            </a:extLst>
          </p:cNvPr>
          <p:cNvSpPr txBox="1"/>
          <p:nvPr/>
        </p:nvSpPr>
        <p:spPr>
          <a:xfrm>
            <a:off x="521207" y="3738540"/>
            <a:ext cx="6096000" cy="369332"/>
          </a:xfrm>
          <a:prstGeom prst="rect">
            <a:avLst/>
          </a:prstGeom>
          <a:noFill/>
        </p:spPr>
        <p:txBody>
          <a:bodyPr wrap="square">
            <a:spAutoFit/>
          </a:bodyPr>
          <a:lstStyle/>
          <a:p>
            <a:r>
              <a:rPr lang="en-US" sz="1800" dirty="0">
                <a:solidFill>
                  <a:srgbClr val="000000"/>
                </a:solidFill>
                <a:latin typeface="Cascadia Mono" panose="020B0609020000020004" pitchFamily="49" charset="0"/>
              </a:rPr>
              <a:t> std::</a:t>
            </a:r>
            <a:r>
              <a:rPr lang="en-US" sz="1800" dirty="0">
                <a:solidFill>
                  <a:srgbClr val="2B91AF"/>
                </a:solidFill>
                <a:latin typeface="Cascadia Mono" panose="020B0609020000020004" pitchFamily="49" charset="0"/>
              </a:rPr>
              <a:t>vector</a:t>
            </a:r>
            <a:r>
              <a:rPr lang="en-US" sz="1800" dirty="0">
                <a:solidFill>
                  <a:srgbClr val="000000"/>
                </a:solidFill>
                <a:latin typeface="Cascadia Mono" panose="020B0609020000020004" pitchFamily="49" charset="0"/>
              </a:rPr>
              <a:t>&lt;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&gt; v4 = v1; </a:t>
            </a:r>
            <a:r>
              <a:rPr lang="en-US" sz="1800" dirty="0">
                <a:solidFill>
                  <a:srgbClr val="008000"/>
                </a:solidFill>
                <a:latin typeface="Cascadia Mono" panose="020B0609020000020004" pitchFamily="49" charset="0"/>
              </a:rPr>
              <a:t>// ???</a:t>
            </a:r>
            <a:endParaRPr lang="en-US" dirty="0"/>
          </a:p>
        </p:txBody>
      </p:sp>
    </p:spTree>
    <p:extLst>
      <p:ext uri="{BB962C8B-B14F-4D97-AF65-F5344CB8AC3E}">
        <p14:creationId xmlns:p14="http://schemas.microsoft.com/office/powerpoint/2010/main" val="25201668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Construct and copy</a:t>
            </a:r>
          </a:p>
        </p:txBody>
      </p:sp>
      <p:sp>
        <p:nvSpPr>
          <p:cNvPr id="9" name="TextBox 8">
            <a:extLst>
              <a:ext uri="{FF2B5EF4-FFF2-40B4-BE49-F238E27FC236}">
                <a16:creationId xmlns:a16="http://schemas.microsoft.com/office/drawing/2014/main" id="{7B8C1930-6847-4EEA-9AE6-F7BD38759FCC}"/>
              </a:ext>
            </a:extLst>
          </p:cNvPr>
          <p:cNvSpPr txBox="1"/>
          <p:nvPr/>
        </p:nvSpPr>
        <p:spPr>
          <a:xfrm>
            <a:off x="566928" y="1420660"/>
            <a:ext cx="6096000" cy="830997"/>
          </a:xfrm>
          <a:prstGeom prst="rect">
            <a:avLst/>
          </a:prstGeom>
          <a:noFill/>
        </p:spPr>
        <p:txBody>
          <a:bodyPr wrap="square">
            <a:spAutoFit/>
          </a:bodyPr>
          <a:lstStyle/>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TrivialStruct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 = 0;</a:t>
            </a:r>
          </a:p>
          <a:p>
            <a:r>
              <a:rPr lang="en-US" sz="1200" dirty="0">
                <a:solidFill>
                  <a:srgbClr val="000000"/>
                </a:solidFill>
                <a:latin typeface="Cascadia Mono" panose="020B0609020000020004" pitchFamily="49" charset="0"/>
              </a:rPr>
              <a:t>};</a:t>
            </a:r>
          </a:p>
        </p:txBody>
      </p:sp>
      <p:sp>
        <p:nvSpPr>
          <p:cNvPr id="14" name="TextBox 13">
            <a:extLst>
              <a:ext uri="{FF2B5EF4-FFF2-40B4-BE49-F238E27FC236}">
                <a16:creationId xmlns:a16="http://schemas.microsoft.com/office/drawing/2014/main" id="{1A8E0ECB-FA12-43CE-BFFE-67A8B5CD9AE9}"/>
              </a:ext>
            </a:extLst>
          </p:cNvPr>
          <p:cNvSpPr txBox="1"/>
          <p:nvPr/>
        </p:nvSpPr>
        <p:spPr>
          <a:xfrm>
            <a:off x="451104" y="2355056"/>
            <a:ext cx="6096000" cy="646331"/>
          </a:xfrm>
          <a:prstGeom prst="rect">
            <a:avLst/>
          </a:prstGeom>
          <a:noFill/>
        </p:spPr>
        <p:txBody>
          <a:bodyPr wrap="square">
            <a:spAutoFit/>
          </a:bodyPr>
          <a:lstStyle/>
          <a:p>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TrivialStruct</a:t>
            </a:r>
            <a:r>
              <a:rPr lang="en-US" sz="1200" dirty="0">
                <a:solidFill>
                  <a:srgbClr val="000000"/>
                </a:solidFill>
                <a:latin typeface="Cascadia Mono" panose="020B0609020000020004" pitchFamily="49" charset="0"/>
              </a:rPr>
              <a:t> st1{}; </a:t>
            </a:r>
            <a:r>
              <a:rPr lang="en-US" sz="1200" dirty="0">
                <a:solidFill>
                  <a:srgbClr val="008000"/>
                </a:solidFill>
                <a:latin typeface="Cascadia Mono" panose="020B0609020000020004" pitchFamily="49" charset="0"/>
              </a:rPr>
              <a:t>// default constructor</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TrivialStruct</a:t>
            </a:r>
            <a:r>
              <a:rPr lang="en-US" sz="1200" dirty="0">
                <a:solidFill>
                  <a:srgbClr val="000000"/>
                </a:solidFill>
                <a:latin typeface="Cascadia Mono" panose="020B0609020000020004" pitchFamily="49" charset="0"/>
              </a:rPr>
              <a:t> st2 = st1; </a:t>
            </a:r>
            <a:r>
              <a:rPr lang="en-US" sz="1200" dirty="0">
                <a:solidFill>
                  <a:srgbClr val="008000"/>
                </a:solidFill>
                <a:latin typeface="Cascadia Mono" panose="020B0609020000020004" pitchFamily="49" charset="0"/>
              </a:rPr>
              <a:t>// copy constructor</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TrivialStruct</a:t>
            </a:r>
            <a:r>
              <a:rPr lang="en-US" sz="1200" dirty="0">
                <a:solidFill>
                  <a:srgbClr val="000000"/>
                </a:solidFill>
                <a:latin typeface="Cascadia Mono" panose="020B0609020000020004" pitchFamily="49" charset="0"/>
              </a:rPr>
              <a:t> st3{st1}; </a:t>
            </a:r>
            <a:r>
              <a:rPr lang="en-US" sz="1200" dirty="0">
                <a:solidFill>
                  <a:srgbClr val="008000"/>
                </a:solidFill>
                <a:latin typeface="Cascadia Mono" panose="020B0609020000020004" pitchFamily="49" charset="0"/>
              </a:rPr>
              <a:t>// copy constructor</a:t>
            </a:r>
            <a:endParaRPr lang="en-US" sz="1200" dirty="0">
              <a:solidFill>
                <a:srgbClr val="000000"/>
              </a:solidFill>
              <a:latin typeface="Cascadia Mono" panose="020B0609020000020004" pitchFamily="49" charset="0"/>
            </a:endParaRPr>
          </a:p>
        </p:txBody>
      </p:sp>
    </p:spTree>
    <p:extLst>
      <p:ext uri="{BB962C8B-B14F-4D97-AF65-F5344CB8AC3E}">
        <p14:creationId xmlns:p14="http://schemas.microsoft.com/office/powerpoint/2010/main" val="36265862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Construct and copy</a:t>
            </a:r>
          </a:p>
        </p:txBody>
      </p:sp>
      <p:sp>
        <p:nvSpPr>
          <p:cNvPr id="14" name="TextBox 13">
            <a:extLst>
              <a:ext uri="{FF2B5EF4-FFF2-40B4-BE49-F238E27FC236}">
                <a16:creationId xmlns:a16="http://schemas.microsoft.com/office/drawing/2014/main" id="{1A8E0ECB-FA12-43CE-BFFE-67A8B5CD9AE9}"/>
              </a:ext>
            </a:extLst>
          </p:cNvPr>
          <p:cNvSpPr txBox="1"/>
          <p:nvPr/>
        </p:nvSpPr>
        <p:spPr>
          <a:xfrm>
            <a:off x="469392" y="2728854"/>
            <a:ext cx="6096000" cy="646331"/>
          </a:xfrm>
          <a:prstGeom prst="rect">
            <a:avLst/>
          </a:prstGeom>
          <a:noFill/>
        </p:spPr>
        <p:txBody>
          <a:bodyPr wrap="square">
            <a:spAutoFit/>
          </a:bodyPr>
          <a:lstStyle/>
          <a:p>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TrivialStruct</a:t>
            </a:r>
            <a:r>
              <a:rPr lang="en-US" sz="1200" dirty="0">
                <a:solidFill>
                  <a:srgbClr val="000000"/>
                </a:solidFill>
                <a:latin typeface="Cascadia Mono" panose="020B0609020000020004" pitchFamily="49" charset="0"/>
              </a:rPr>
              <a:t> st1{}; </a:t>
            </a:r>
            <a:r>
              <a:rPr lang="en-US" sz="1200" dirty="0">
                <a:solidFill>
                  <a:srgbClr val="008000"/>
                </a:solidFill>
                <a:latin typeface="Cascadia Mono" panose="020B0609020000020004" pitchFamily="49" charset="0"/>
              </a:rPr>
              <a:t>// default constructor</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TrivialStruct</a:t>
            </a:r>
            <a:r>
              <a:rPr lang="en-US" sz="1200" dirty="0">
                <a:solidFill>
                  <a:srgbClr val="000000"/>
                </a:solidFill>
                <a:latin typeface="Cascadia Mono" panose="020B0609020000020004" pitchFamily="49" charset="0"/>
              </a:rPr>
              <a:t> st2 = st1; </a:t>
            </a:r>
            <a:r>
              <a:rPr lang="en-US" sz="1200" dirty="0">
                <a:solidFill>
                  <a:srgbClr val="008000"/>
                </a:solidFill>
                <a:latin typeface="Cascadia Mono" panose="020B0609020000020004" pitchFamily="49" charset="0"/>
              </a:rPr>
              <a:t>// copy constructor</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TrivialStruct</a:t>
            </a:r>
            <a:r>
              <a:rPr lang="en-US" sz="1200" dirty="0">
                <a:solidFill>
                  <a:srgbClr val="000000"/>
                </a:solidFill>
                <a:latin typeface="Cascadia Mono" panose="020B0609020000020004" pitchFamily="49" charset="0"/>
              </a:rPr>
              <a:t> st3{st1}; </a:t>
            </a:r>
            <a:r>
              <a:rPr lang="en-US" sz="1200" dirty="0">
                <a:solidFill>
                  <a:srgbClr val="008000"/>
                </a:solidFill>
                <a:latin typeface="Cascadia Mono" panose="020B0609020000020004" pitchFamily="49" charset="0"/>
              </a:rPr>
              <a:t>// copy assignment</a:t>
            </a:r>
            <a:endParaRPr lang="en-US" sz="1200" dirty="0"/>
          </a:p>
        </p:txBody>
      </p:sp>
      <p:sp>
        <p:nvSpPr>
          <p:cNvPr id="6" name="TextBox 5">
            <a:extLst>
              <a:ext uri="{FF2B5EF4-FFF2-40B4-BE49-F238E27FC236}">
                <a16:creationId xmlns:a16="http://schemas.microsoft.com/office/drawing/2014/main" id="{3789ABD2-6E1C-4F03-857A-6B9AA833D417}"/>
              </a:ext>
            </a:extLst>
          </p:cNvPr>
          <p:cNvSpPr txBox="1"/>
          <p:nvPr/>
        </p:nvSpPr>
        <p:spPr>
          <a:xfrm>
            <a:off x="566928" y="1343859"/>
            <a:ext cx="6096000" cy="1384995"/>
          </a:xfrm>
          <a:prstGeom prst="rect">
            <a:avLst/>
          </a:prstGeom>
          <a:noFill/>
        </p:spPr>
        <p:txBody>
          <a:bodyPr wrap="square">
            <a:spAutoFit/>
          </a:bodyPr>
          <a:lstStyle/>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TrivialStruct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 = 0;</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t>
            </a:r>
            <a:r>
              <a:rPr lang="en-US" sz="1200" dirty="0" err="1">
                <a:solidFill>
                  <a:srgbClr val="008000"/>
                </a:solidFill>
                <a:latin typeface="Cascadia Mono" panose="020B0609020000020004" pitchFamily="49" charset="0"/>
              </a:rPr>
              <a:t>TrivialStruct</a:t>
            </a:r>
            <a:r>
              <a:rPr lang="en-US" sz="1200" dirty="0">
                <a:solidFill>
                  <a:srgbClr val="008000"/>
                </a:solidFill>
                <a:latin typeface="Cascadia Mono" panose="020B0609020000020004" pitchFamily="49" charset="0"/>
              </a:rPr>
              <a: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t>
            </a:r>
            <a:r>
              <a:rPr lang="en-US" sz="1200" dirty="0" err="1">
                <a:solidFill>
                  <a:srgbClr val="008000"/>
                </a:solidFill>
                <a:latin typeface="Cascadia Mono" panose="020B0609020000020004" pitchFamily="49" charset="0"/>
              </a:rPr>
              <a:t>TrivialStruct</a:t>
            </a:r>
            <a:r>
              <a:rPr lang="en-US" sz="1200" dirty="0">
                <a:solidFill>
                  <a:srgbClr val="008000"/>
                </a:solidFill>
                <a:latin typeface="Cascadia Mono" panose="020B0609020000020004" pitchFamily="49" charset="0"/>
              </a:rPr>
              <a:t>&amp; operator=(const </a:t>
            </a:r>
            <a:r>
              <a:rPr lang="en-US" sz="1200" dirty="0" err="1">
                <a:solidFill>
                  <a:srgbClr val="008000"/>
                </a:solidFill>
                <a:latin typeface="Cascadia Mono" panose="020B0609020000020004" pitchFamily="49" charset="0"/>
              </a:rPr>
              <a:t>TrivialStruct</a:t>
            </a:r>
            <a:r>
              <a:rPr lang="en-US" sz="1200" dirty="0">
                <a:solidFill>
                  <a:srgbClr val="008000"/>
                </a:solidFill>
                <a:latin typeface="Cascadia Mono" panose="020B0609020000020004" pitchFamily="49" charset="0"/>
              </a:rPr>
              <a:t>&amp; </a:t>
            </a:r>
            <a:r>
              <a:rPr lang="en-US" sz="1200" dirty="0" err="1">
                <a:solidFill>
                  <a:srgbClr val="008000"/>
                </a:solidFill>
                <a:latin typeface="Cascadia Mono" panose="020B0609020000020004" pitchFamily="49" charset="0"/>
              </a:rPr>
              <a:t>arg</a:t>
            </a:r>
            <a:r>
              <a:rPr lang="en-US" sz="1200" dirty="0">
                <a:solidFill>
                  <a:srgbClr val="008000"/>
                </a:solidFill>
                <a:latin typeface="Cascadia Mono" panose="020B0609020000020004" pitchFamily="49" charset="0"/>
              </a:rPr>
              <a: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t>
            </a:r>
            <a:r>
              <a:rPr lang="en-US" sz="1200" dirty="0" err="1">
                <a:solidFill>
                  <a:srgbClr val="008000"/>
                </a:solidFill>
                <a:latin typeface="Cascadia Mono" panose="020B0609020000020004" pitchFamily="49" charset="0"/>
              </a:rPr>
              <a:t>TrivialStruct</a:t>
            </a:r>
            <a:r>
              <a:rPr lang="en-US" sz="1200" dirty="0">
                <a:solidFill>
                  <a:srgbClr val="008000"/>
                </a:solidFill>
                <a:latin typeface="Cascadia Mono" panose="020B0609020000020004" pitchFamily="49" charset="0"/>
              </a:rPr>
              <a:t>(const </a:t>
            </a:r>
            <a:r>
              <a:rPr lang="en-US" sz="1200" dirty="0" err="1">
                <a:solidFill>
                  <a:srgbClr val="008000"/>
                </a:solidFill>
                <a:latin typeface="Cascadia Mono" panose="020B0609020000020004" pitchFamily="49" charset="0"/>
              </a:rPr>
              <a:t>TrivialStruct</a:t>
            </a:r>
            <a:r>
              <a:rPr lang="en-US" sz="1200" dirty="0">
                <a:solidFill>
                  <a:srgbClr val="008000"/>
                </a:solidFill>
                <a:latin typeface="Cascadia Mono" panose="020B0609020000020004" pitchFamily="49" charset="0"/>
              </a:rPr>
              <a:t>&amp; </a:t>
            </a:r>
            <a:r>
              <a:rPr lang="en-US" sz="1200" dirty="0" err="1">
                <a:solidFill>
                  <a:srgbClr val="008000"/>
                </a:solidFill>
                <a:latin typeface="Cascadia Mono" panose="020B0609020000020004" pitchFamily="49" charset="0"/>
              </a:rPr>
              <a:t>arg</a:t>
            </a:r>
            <a:r>
              <a:rPr lang="en-US" sz="1200" dirty="0">
                <a:solidFill>
                  <a:srgbClr val="008000"/>
                </a:solidFill>
                <a:latin typeface="Cascadia Mono" panose="020B0609020000020004" pitchFamily="49" charset="0"/>
              </a:rPr>
              <a: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17167601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Construct and copy</a:t>
            </a:r>
          </a:p>
        </p:txBody>
      </p:sp>
      <p:sp>
        <p:nvSpPr>
          <p:cNvPr id="14" name="TextBox 13">
            <a:extLst>
              <a:ext uri="{FF2B5EF4-FFF2-40B4-BE49-F238E27FC236}">
                <a16:creationId xmlns:a16="http://schemas.microsoft.com/office/drawing/2014/main" id="{1A8E0ECB-FA12-43CE-BFFE-67A8B5CD9AE9}"/>
              </a:ext>
            </a:extLst>
          </p:cNvPr>
          <p:cNvSpPr txBox="1"/>
          <p:nvPr/>
        </p:nvSpPr>
        <p:spPr>
          <a:xfrm>
            <a:off x="469392" y="2728854"/>
            <a:ext cx="6096000" cy="646331"/>
          </a:xfrm>
          <a:prstGeom prst="rect">
            <a:avLst/>
          </a:prstGeom>
          <a:noFill/>
        </p:spPr>
        <p:txBody>
          <a:bodyPr wrap="square">
            <a:spAutoFit/>
          </a:bodyPr>
          <a:lstStyle/>
          <a:p>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TrivialStruct</a:t>
            </a:r>
            <a:r>
              <a:rPr lang="en-US" sz="1200" dirty="0">
                <a:solidFill>
                  <a:srgbClr val="000000"/>
                </a:solidFill>
                <a:latin typeface="Cascadia Mono" panose="020B0609020000020004" pitchFamily="49" charset="0"/>
              </a:rPr>
              <a:t> st1{}; </a:t>
            </a:r>
            <a:r>
              <a:rPr lang="en-US" sz="1200" dirty="0">
                <a:solidFill>
                  <a:srgbClr val="008000"/>
                </a:solidFill>
                <a:latin typeface="Cascadia Mono" panose="020B0609020000020004" pitchFamily="49" charset="0"/>
              </a:rPr>
              <a:t>// default constructor ok</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TrivialStruct</a:t>
            </a:r>
            <a:r>
              <a:rPr lang="en-US" sz="1200" dirty="0">
                <a:solidFill>
                  <a:srgbClr val="000000"/>
                </a:solidFill>
                <a:latin typeface="Cascadia Mono" panose="020B0609020000020004" pitchFamily="49" charset="0"/>
              </a:rPr>
              <a:t> st2 = st1; </a:t>
            </a:r>
            <a:r>
              <a:rPr lang="en-US" sz="1200" dirty="0">
                <a:solidFill>
                  <a:srgbClr val="008000"/>
                </a:solidFill>
                <a:latin typeface="Cascadia Mono" panose="020B0609020000020004" pitchFamily="49" charset="0"/>
              </a:rPr>
              <a:t>// copy constructor compile error</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TrivialStruct</a:t>
            </a:r>
            <a:r>
              <a:rPr lang="en-US" sz="1200" dirty="0">
                <a:solidFill>
                  <a:srgbClr val="000000"/>
                </a:solidFill>
                <a:latin typeface="Cascadia Mono" panose="020B0609020000020004" pitchFamily="49" charset="0"/>
              </a:rPr>
              <a:t> st3{st1}; </a:t>
            </a:r>
            <a:r>
              <a:rPr lang="en-US" sz="1200" dirty="0">
                <a:solidFill>
                  <a:srgbClr val="008000"/>
                </a:solidFill>
                <a:latin typeface="Cascadia Mono" panose="020B0609020000020004" pitchFamily="49" charset="0"/>
              </a:rPr>
              <a:t>// copy constructor compile error</a:t>
            </a:r>
            <a:endParaRPr lang="en-US" sz="1200" dirty="0"/>
          </a:p>
        </p:txBody>
      </p:sp>
      <p:sp>
        <p:nvSpPr>
          <p:cNvPr id="7" name="TextBox 6">
            <a:extLst>
              <a:ext uri="{FF2B5EF4-FFF2-40B4-BE49-F238E27FC236}">
                <a16:creationId xmlns:a16="http://schemas.microsoft.com/office/drawing/2014/main" id="{FDD18C12-E612-4D1A-85B4-5863F677CEA7}"/>
              </a:ext>
            </a:extLst>
          </p:cNvPr>
          <p:cNvSpPr txBox="1"/>
          <p:nvPr/>
        </p:nvSpPr>
        <p:spPr>
          <a:xfrm>
            <a:off x="566928" y="1343859"/>
            <a:ext cx="6096000" cy="1384995"/>
          </a:xfrm>
          <a:prstGeom prst="rect">
            <a:avLst/>
          </a:prstGeom>
          <a:noFill/>
        </p:spPr>
        <p:txBody>
          <a:bodyPr wrap="square">
            <a:spAutoFit/>
          </a:bodyPr>
          <a:lstStyle/>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TrivialStruct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 = 0;</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TrivialStruct</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default</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TrivialStruct</a:t>
            </a:r>
            <a:r>
              <a:rPr lang="en-US" sz="1200" dirty="0">
                <a:solidFill>
                  <a:srgbClr val="000000"/>
                </a:solidFill>
                <a:latin typeface="Cascadia Mono" panose="020B0609020000020004" pitchFamily="49" charset="0"/>
              </a:rPr>
              <a:t>&amp;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TrivialStruct</a:t>
            </a:r>
            <a:r>
              <a:rPr lang="en-US" sz="1200" dirty="0">
                <a:solidFill>
                  <a:srgbClr val="000000"/>
                </a:solidFill>
                <a:latin typeface="Cascadia Mono" panose="020B0609020000020004" pitchFamily="49" charset="0"/>
              </a:rPr>
              <a:t>&amp; </a:t>
            </a:r>
            <a:r>
              <a:rPr lang="en-US" sz="1200" dirty="0" err="1">
                <a:solidFill>
                  <a:srgbClr val="000000"/>
                </a:solidFill>
                <a:latin typeface="Cascadia Mono" panose="020B0609020000020004" pitchFamily="49" charset="0"/>
              </a:rPr>
              <a:t>arg</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delete</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TrivialStruct</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TrivialStruct</a:t>
            </a:r>
            <a:r>
              <a:rPr lang="en-US" sz="1200" dirty="0">
                <a:solidFill>
                  <a:srgbClr val="000000"/>
                </a:solidFill>
                <a:latin typeface="Cascadia Mono" panose="020B0609020000020004" pitchFamily="49" charset="0"/>
              </a:rPr>
              <a:t>&amp; </a:t>
            </a:r>
            <a:r>
              <a:rPr lang="en-US" sz="1200" dirty="0" err="1">
                <a:solidFill>
                  <a:srgbClr val="000000"/>
                </a:solidFill>
                <a:latin typeface="Cascadia Mono" panose="020B0609020000020004" pitchFamily="49" charset="0"/>
              </a:rPr>
              <a:t>arg</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delete</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endParaRPr lang="en-US" sz="1200" dirty="0"/>
          </a:p>
        </p:txBody>
      </p:sp>
    </p:spTree>
    <p:extLst>
      <p:ext uri="{BB962C8B-B14F-4D97-AF65-F5344CB8AC3E}">
        <p14:creationId xmlns:p14="http://schemas.microsoft.com/office/powerpoint/2010/main" val="455608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6833B0F-27C9-4AFE-9938-5258EBE87D4D}"/>
              </a:ext>
            </a:extLst>
          </p:cNvPr>
          <p:cNvSpPr txBox="1"/>
          <p:nvPr/>
        </p:nvSpPr>
        <p:spPr>
          <a:xfrm>
            <a:off x="658368" y="745712"/>
            <a:ext cx="8107680" cy="1200329"/>
          </a:xfrm>
          <a:prstGeom prst="rect">
            <a:avLst/>
          </a:prstGeom>
          <a:noFill/>
        </p:spPr>
        <p:txBody>
          <a:bodyPr wrap="square">
            <a:spAutoFit/>
          </a:bodyPr>
          <a:lstStyle/>
          <a:p>
            <a:r>
              <a:rPr lang="en-US" sz="1800" dirty="0">
                <a:solidFill>
                  <a:srgbClr val="000000"/>
                </a:solidFill>
                <a:latin typeface="Cascadia Mono" panose="020B0609020000020004" pitchFamily="49" charset="0"/>
              </a:rPr>
              <a:t>std::</a:t>
            </a:r>
            <a:r>
              <a:rPr lang="en-US" sz="1800" dirty="0">
                <a:solidFill>
                  <a:srgbClr val="2B91AF"/>
                </a:solidFill>
                <a:latin typeface="Cascadia Mono" panose="020B0609020000020004" pitchFamily="49" charset="0"/>
              </a:rPr>
              <a:t>vector</a:t>
            </a:r>
            <a:r>
              <a:rPr lang="en-US" sz="1800" dirty="0">
                <a:solidFill>
                  <a:srgbClr val="000000"/>
                </a:solidFill>
                <a:latin typeface="Cascadia Mono" panose="020B0609020000020004" pitchFamily="49" charset="0"/>
              </a:rPr>
              <a:t>&lt;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&gt; </a:t>
            </a:r>
            <a:r>
              <a:rPr lang="en-US" sz="1800" dirty="0" err="1">
                <a:solidFill>
                  <a:srgbClr val="000000"/>
                </a:solidFill>
                <a:latin typeface="Cascadia Mono" panose="020B0609020000020004" pitchFamily="49" charset="0"/>
              </a:rPr>
              <a:t>createVector</a:t>
            </a:r>
            <a:r>
              <a:rPr lang="en-US" sz="1800" dirty="0">
                <a:solidFill>
                  <a:srgbClr val="000000"/>
                </a:solidFill>
                <a:latin typeface="Cascadia Mono" panose="020B0609020000020004" pitchFamily="49" charset="0"/>
              </a:rPr>
              <a:t>() {</a:t>
            </a:r>
          </a:p>
          <a:p>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return</a:t>
            </a:r>
            <a:r>
              <a:rPr lang="en-US" sz="1800" dirty="0">
                <a:solidFill>
                  <a:srgbClr val="000000"/>
                </a:solidFill>
                <a:latin typeface="Cascadia Mono" panose="020B0609020000020004" pitchFamily="49" charset="0"/>
              </a:rPr>
              <a:t> std::</a:t>
            </a:r>
            <a:r>
              <a:rPr lang="en-US" sz="1800" dirty="0">
                <a:solidFill>
                  <a:srgbClr val="2B91AF"/>
                </a:solidFill>
                <a:latin typeface="Cascadia Mono" panose="020B0609020000020004" pitchFamily="49" charset="0"/>
              </a:rPr>
              <a:t>vector</a:t>
            </a:r>
            <a:r>
              <a:rPr lang="en-US" sz="1800" dirty="0">
                <a:solidFill>
                  <a:srgbClr val="000000"/>
                </a:solidFill>
                <a:latin typeface="Cascadia Mono" panose="020B0609020000020004" pitchFamily="49" charset="0"/>
              </a:rPr>
              <a:t>&lt;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&gt;{ 1, 2, 3, 4, 5 };</a:t>
            </a:r>
          </a:p>
          <a:p>
            <a:r>
              <a:rPr lang="en-US"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std::</a:t>
            </a:r>
            <a:r>
              <a:rPr lang="en-US" sz="1800" dirty="0">
                <a:solidFill>
                  <a:srgbClr val="2B91AF"/>
                </a:solidFill>
                <a:latin typeface="Cascadia Mono" panose="020B0609020000020004" pitchFamily="49" charset="0"/>
              </a:rPr>
              <a:t>vector</a:t>
            </a:r>
            <a:r>
              <a:rPr lang="en-US" sz="1800" dirty="0">
                <a:solidFill>
                  <a:srgbClr val="000000"/>
                </a:solidFill>
                <a:latin typeface="Cascadia Mono" panose="020B0609020000020004" pitchFamily="49" charset="0"/>
              </a:rPr>
              <a:t>&lt;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&gt; v2{};</a:t>
            </a:r>
            <a:endParaRPr lang="en-US" dirty="0"/>
          </a:p>
        </p:txBody>
      </p:sp>
      <p:pic>
        <p:nvPicPr>
          <p:cNvPr id="6" name="Picture 5">
            <a:extLst>
              <a:ext uri="{FF2B5EF4-FFF2-40B4-BE49-F238E27FC236}">
                <a16:creationId xmlns:a16="http://schemas.microsoft.com/office/drawing/2014/main" id="{557F145A-6BA6-44A1-B16B-3261487DFF12}"/>
              </a:ext>
            </a:extLst>
          </p:cNvPr>
          <p:cNvPicPr>
            <a:picLocks noChangeAspect="1"/>
          </p:cNvPicPr>
          <p:nvPr/>
        </p:nvPicPr>
        <p:blipFill>
          <a:blip r:embed="rId2"/>
          <a:stretch>
            <a:fillRect/>
          </a:stretch>
        </p:blipFill>
        <p:spPr>
          <a:xfrm>
            <a:off x="784467" y="2376165"/>
            <a:ext cx="2905530" cy="1886213"/>
          </a:xfrm>
          <a:prstGeom prst="rect">
            <a:avLst/>
          </a:prstGeom>
        </p:spPr>
      </p:pic>
    </p:spTree>
    <p:extLst>
      <p:ext uri="{BB962C8B-B14F-4D97-AF65-F5344CB8AC3E}">
        <p14:creationId xmlns:p14="http://schemas.microsoft.com/office/powerpoint/2010/main" val="34702676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6833B0F-27C9-4AFE-9938-5258EBE87D4D}"/>
              </a:ext>
            </a:extLst>
          </p:cNvPr>
          <p:cNvSpPr txBox="1"/>
          <p:nvPr/>
        </p:nvSpPr>
        <p:spPr>
          <a:xfrm>
            <a:off x="658368" y="745712"/>
            <a:ext cx="8107680" cy="1200329"/>
          </a:xfrm>
          <a:prstGeom prst="rect">
            <a:avLst/>
          </a:prstGeom>
          <a:noFill/>
        </p:spPr>
        <p:txBody>
          <a:bodyPr wrap="square">
            <a:spAutoFit/>
          </a:bodyPr>
          <a:lstStyle/>
          <a:p>
            <a:r>
              <a:rPr lang="en-US" sz="1800" dirty="0">
                <a:solidFill>
                  <a:srgbClr val="000000"/>
                </a:solidFill>
                <a:latin typeface="Cascadia Mono" panose="020B0609020000020004" pitchFamily="49" charset="0"/>
              </a:rPr>
              <a:t>std::</a:t>
            </a:r>
            <a:r>
              <a:rPr lang="en-US" sz="1800" dirty="0">
                <a:solidFill>
                  <a:srgbClr val="2B91AF"/>
                </a:solidFill>
                <a:latin typeface="Cascadia Mono" panose="020B0609020000020004" pitchFamily="49" charset="0"/>
              </a:rPr>
              <a:t>vector</a:t>
            </a:r>
            <a:r>
              <a:rPr lang="en-US" sz="1800" dirty="0">
                <a:solidFill>
                  <a:srgbClr val="000000"/>
                </a:solidFill>
                <a:latin typeface="Cascadia Mono" panose="020B0609020000020004" pitchFamily="49" charset="0"/>
              </a:rPr>
              <a:t>&lt;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&gt; </a:t>
            </a:r>
            <a:r>
              <a:rPr lang="en-US" sz="1800" dirty="0" err="1">
                <a:solidFill>
                  <a:srgbClr val="000000"/>
                </a:solidFill>
                <a:latin typeface="Cascadia Mono" panose="020B0609020000020004" pitchFamily="49" charset="0"/>
              </a:rPr>
              <a:t>createVector</a:t>
            </a:r>
            <a:r>
              <a:rPr lang="en-US" sz="1800" dirty="0">
                <a:solidFill>
                  <a:srgbClr val="000000"/>
                </a:solidFill>
                <a:latin typeface="Cascadia Mono" panose="020B0609020000020004" pitchFamily="49" charset="0"/>
              </a:rPr>
              <a:t>() {</a:t>
            </a:r>
          </a:p>
          <a:p>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return</a:t>
            </a:r>
            <a:r>
              <a:rPr lang="en-US" sz="1800" dirty="0">
                <a:solidFill>
                  <a:srgbClr val="000000"/>
                </a:solidFill>
                <a:latin typeface="Cascadia Mono" panose="020B0609020000020004" pitchFamily="49" charset="0"/>
              </a:rPr>
              <a:t> std::</a:t>
            </a:r>
            <a:r>
              <a:rPr lang="en-US" sz="1800" dirty="0">
                <a:solidFill>
                  <a:srgbClr val="2B91AF"/>
                </a:solidFill>
                <a:latin typeface="Cascadia Mono" panose="020B0609020000020004" pitchFamily="49" charset="0"/>
              </a:rPr>
              <a:t>vector</a:t>
            </a:r>
            <a:r>
              <a:rPr lang="en-US" sz="1800" dirty="0">
                <a:solidFill>
                  <a:srgbClr val="000000"/>
                </a:solidFill>
                <a:latin typeface="Cascadia Mono" panose="020B0609020000020004" pitchFamily="49" charset="0"/>
              </a:rPr>
              <a:t>&lt;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&gt;{ 1, 2, 3, 4, 5 };</a:t>
            </a:r>
          </a:p>
          <a:p>
            <a:r>
              <a:rPr lang="en-US"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std::</a:t>
            </a:r>
            <a:r>
              <a:rPr lang="en-US" sz="1800" dirty="0">
                <a:solidFill>
                  <a:srgbClr val="2B91AF"/>
                </a:solidFill>
                <a:latin typeface="Cascadia Mono" panose="020B0609020000020004" pitchFamily="49" charset="0"/>
              </a:rPr>
              <a:t>vector</a:t>
            </a:r>
            <a:r>
              <a:rPr lang="en-US" sz="1800" dirty="0">
                <a:solidFill>
                  <a:srgbClr val="000000"/>
                </a:solidFill>
                <a:latin typeface="Cascadia Mono" panose="020B0609020000020004" pitchFamily="49" charset="0"/>
              </a:rPr>
              <a:t>&lt;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&gt; v2{};</a:t>
            </a:r>
            <a:endParaRPr lang="en-US" dirty="0"/>
          </a:p>
        </p:txBody>
      </p:sp>
      <p:sp>
        <p:nvSpPr>
          <p:cNvPr id="8" name="TextBox 7">
            <a:extLst>
              <a:ext uri="{FF2B5EF4-FFF2-40B4-BE49-F238E27FC236}">
                <a16:creationId xmlns:a16="http://schemas.microsoft.com/office/drawing/2014/main" id="{C4BBD566-783A-4AF8-B3E2-6DE56E2FFE5C}"/>
              </a:ext>
            </a:extLst>
          </p:cNvPr>
          <p:cNvSpPr txBox="1"/>
          <p:nvPr/>
        </p:nvSpPr>
        <p:spPr>
          <a:xfrm>
            <a:off x="658368" y="2354318"/>
            <a:ext cx="6096000" cy="369332"/>
          </a:xfrm>
          <a:prstGeom prst="rect">
            <a:avLst/>
          </a:prstGeom>
          <a:noFill/>
        </p:spPr>
        <p:txBody>
          <a:bodyPr wrap="square">
            <a:spAutoFit/>
          </a:bodyPr>
          <a:lstStyle/>
          <a:p>
            <a:r>
              <a:rPr lang="en-US" sz="1800" dirty="0">
                <a:solidFill>
                  <a:srgbClr val="C00000"/>
                </a:solidFill>
                <a:latin typeface="Cascadia Mono" panose="020B0609020000020004" pitchFamily="49" charset="0"/>
              </a:rPr>
              <a:t>v2 = </a:t>
            </a:r>
            <a:r>
              <a:rPr lang="en-US" sz="1800" dirty="0" err="1">
                <a:solidFill>
                  <a:srgbClr val="C00000"/>
                </a:solidFill>
                <a:latin typeface="Cascadia Mono" panose="020B0609020000020004" pitchFamily="49" charset="0"/>
              </a:rPr>
              <a:t>createVector</a:t>
            </a:r>
            <a:r>
              <a:rPr lang="en-US" sz="1800" dirty="0">
                <a:solidFill>
                  <a:srgbClr val="C00000"/>
                </a:solidFill>
                <a:latin typeface="Cascadia Mono" panose="020B0609020000020004" pitchFamily="49" charset="0"/>
              </a:rPr>
              <a:t>();</a:t>
            </a:r>
            <a:endParaRPr lang="en-US" dirty="0">
              <a:solidFill>
                <a:srgbClr val="C00000"/>
              </a:solidFill>
            </a:endParaRPr>
          </a:p>
        </p:txBody>
      </p:sp>
      <p:sp>
        <p:nvSpPr>
          <p:cNvPr id="5" name="TextBox 4">
            <a:extLst>
              <a:ext uri="{FF2B5EF4-FFF2-40B4-BE49-F238E27FC236}">
                <a16:creationId xmlns:a16="http://schemas.microsoft.com/office/drawing/2014/main" id="{61554516-0BE0-4516-AECE-52D7D29F31DA}"/>
              </a:ext>
            </a:extLst>
          </p:cNvPr>
          <p:cNvSpPr txBox="1"/>
          <p:nvPr/>
        </p:nvSpPr>
        <p:spPr>
          <a:xfrm>
            <a:off x="658368" y="2762595"/>
            <a:ext cx="6096000" cy="369332"/>
          </a:xfrm>
          <a:prstGeom prst="rect">
            <a:avLst/>
          </a:prstGeom>
          <a:noFill/>
        </p:spPr>
        <p:txBody>
          <a:bodyPr wrap="square">
            <a:spAutoFit/>
          </a:bodyPr>
          <a:lstStyle/>
          <a:p>
            <a:r>
              <a:rPr lang="ru-RU" dirty="0">
                <a:solidFill>
                  <a:srgbClr val="C00000"/>
                </a:solidFill>
                <a:latin typeface="Cascadia Mono" panose="020B0609020000020004" pitchFamily="49" charset="0"/>
              </a:rPr>
              <a:t>Полное копирование?</a:t>
            </a:r>
            <a:endParaRPr lang="en-US" dirty="0">
              <a:solidFill>
                <a:srgbClr val="C00000"/>
              </a:solidFill>
            </a:endParaRPr>
          </a:p>
        </p:txBody>
      </p:sp>
    </p:spTree>
    <p:extLst>
      <p:ext uri="{BB962C8B-B14F-4D97-AF65-F5344CB8AC3E}">
        <p14:creationId xmlns:p14="http://schemas.microsoft.com/office/powerpoint/2010/main" val="32643534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6833B0F-27C9-4AFE-9938-5258EBE87D4D}"/>
              </a:ext>
            </a:extLst>
          </p:cNvPr>
          <p:cNvSpPr txBox="1"/>
          <p:nvPr/>
        </p:nvSpPr>
        <p:spPr>
          <a:xfrm>
            <a:off x="658368" y="745712"/>
            <a:ext cx="8107680" cy="1200329"/>
          </a:xfrm>
          <a:prstGeom prst="rect">
            <a:avLst/>
          </a:prstGeom>
          <a:noFill/>
        </p:spPr>
        <p:txBody>
          <a:bodyPr wrap="square">
            <a:spAutoFit/>
          </a:bodyPr>
          <a:lstStyle/>
          <a:p>
            <a:r>
              <a:rPr lang="en-US" sz="1800" dirty="0">
                <a:solidFill>
                  <a:srgbClr val="000000"/>
                </a:solidFill>
                <a:latin typeface="Cascadia Mono" panose="020B0609020000020004" pitchFamily="49" charset="0"/>
              </a:rPr>
              <a:t>std::</a:t>
            </a:r>
            <a:r>
              <a:rPr lang="en-US" sz="1800" dirty="0">
                <a:solidFill>
                  <a:srgbClr val="2B91AF"/>
                </a:solidFill>
                <a:latin typeface="Cascadia Mono" panose="020B0609020000020004" pitchFamily="49" charset="0"/>
              </a:rPr>
              <a:t>vector</a:t>
            </a:r>
            <a:r>
              <a:rPr lang="en-US" sz="1800" dirty="0">
                <a:solidFill>
                  <a:srgbClr val="000000"/>
                </a:solidFill>
                <a:latin typeface="Cascadia Mono" panose="020B0609020000020004" pitchFamily="49" charset="0"/>
              </a:rPr>
              <a:t>&lt;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&gt; </a:t>
            </a:r>
            <a:r>
              <a:rPr lang="en-US" sz="1800" dirty="0" err="1">
                <a:solidFill>
                  <a:srgbClr val="000000"/>
                </a:solidFill>
                <a:latin typeface="Cascadia Mono" panose="020B0609020000020004" pitchFamily="49" charset="0"/>
              </a:rPr>
              <a:t>createVector</a:t>
            </a:r>
            <a:r>
              <a:rPr lang="en-US" sz="1800" dirty="0">
                <a:solidFill>
                  <a:srgbClr val="000000"/>
                </a:solidFill>
                <a:latin typeface="Cascadia Mono" panose="020B0609020000020004" pitchFamily="49" charset="0"/>
              </a:rPr>
              <a:t>() {</a:t>
            </a:r>
          </a:p>
          <a:p>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return</a:t>
            </a:r>
            <a:r>
              <a:rPr lang="en-US" sz="1800" dirty="0">
                <a:solidFill>
                  <a:srgbClr val="000000"/>
                </a:solidFill>
                <a:latin typeface="Cascadia Mono" panose="020B0609020000020004" pitchFamily="49" charset="0"/>
              </a:rPr>
              <a:t> std::</a:t>
            </a:r>
            <a:r>
              <a:rPr lang="en-US" sz="1800" dirty="0">
                <a:solidFill>
                  <a:srgbClr val="2B91AF"/>
                </a:solidFill>
                <a:latin typeface="Cascadia Mono" panose="020B0609020000020004" pitchFamily="49" charset="0"/>
              </a:rPr>
              <a:t>vector</a:t>
            </a:r>
            <a:r>
              <a:rPr lang="en-US" sz="1800" dirty="0">
                <a:solidFill>
                  <a:srgbClr val="000000"/>
                </a:solidFill>
                <a:latin typeface="Cascadia Mono" panose="020B0609020000020004" pitchFamily="49" charset="0"/>
              </a:rPr>
              <a:t>&lt;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&gt;{ 1, 2, 3, 4, 5 };</a:t>
            </a:r>
          </a:p>
          <a:p>
            <a:r>
              <a:rPr lang="en-US"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std::</a:t>
            </a:r>
            <a:r>
              <a:rPr lang="en-US" sz="1800" dirty="0">
                <a:solidFill>
                  <a:srgbClr val="2B91AF"/>
                </a:solidFill>
                <a:latin typeface="Cascadia Mono" panose="020B0609020000020004" pitchFamily="49" charset="0"/>
              </a:rPr>
              <a:t>vector</a:t>
            </a:r>
            <a:r>
              <a:rPr lang="en-US" sz="1800" dirty="0">
                <a:solidFill>
                  <a:srgbClr val="000000"/>
                </a:solidFill>
                <a:latin typeface="Cascadia Mono" panose="020B0609020000020004" pitchFamily="49" charset="0"/>
              </a:rPr>
              <a:t>&lt;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&gt; v2{};</a:t>
            </a:r>
            <a:endParaRPr lang="en-US" dirty="0"/>
          </a:p>
        </p:txBody>
      </p:sp>
      <p:sp>
        <p:nvSpPr>
          <p:cNvPr id="8" name="TextBox 7">
            <a:extLst>
              <a:ext uri="{FF2B5EF4-FFF2-40B4-BE49-F238E27FC236}">
                <a16:creationId xmlns:a16="http://schemas.microsoft.com/office/drawing/2014/main" id="{C4BBD566-783A-4AF8-B3E2-6DE56E2FFE5C}"/>
              </a:ext>
            </a:extLst>
          </p:cNvPr>
          <p:cNvSpPr txBox="1"/>
          <p:nvPr/>
        </p:nvSpPr>
        <p:spPr>
          <a:xfrm>
            <a:off x="658368" y="2029599"/>
            <a:ext cx="6096000" cy="369332"/>
          </a:xfrm>
          <a:prstGeom prst="rect">
            <a:avLst/>
          </a:prstGeom>
          <a:noFill/>
        </p:spPr>
        <p:txBody>
          <a:bodyPr wrap="square">
            <a:spAutoFit/>
          </a:bodyPr>
          <a:lstStyle/>
          <a:p>
            <a:r>
              <a:rPr lang="en-US" sz="1800" dirty="0">
                <a:solidFill>
                  <a:srgbClr val="C00000"/>
                </a:solidFill>
                <a:latin typeface="Cascadia Mono" panose="020B0609020000020004" pitchFamily="49" charset="0"/>
              </a:rPr>
              <a:t>v2 = </a:t>
            </a:r>
            <a:r>
              <a:rPr lang="en-US" sz="1800" dirty="0" err="1">
                <a:solidFill>
                  <a:srgbClr val="C00000"/>
                </a:solidFill>
                <a:latin typeface="Cascadia Mono" panose="020B0609020000020004" pitchFamily="49" charset="0"/>
              </a:rPr>
              <a:t>createVector</a:t>
            </a:r>
            <a:r>
              <a:rPr lang="en-US" sz="1800" dirty="0">
                <a:solidFill>
                  <a:srgbClr val="C00000"/>
                </a:solidFill>
                <a:latin typeface="Cascadia Mono" panose="020B0609020000020004" pitchFamily="49" charset="0"/>
              </a:rPr>
              <a:t>();</a:t>
            </a:r>
            <a:endParaRPr lang="en-US" dirty="0">
              <a:solidFill>
                <a:srgbClr val="C00000"/>
              </a:solidFill>
            </a:endParaRPr>
          </a:p>
        </p:txBody>
      </p:sp>
      <p:pic>
        <p:nvPicPr>
          <p:cNvPr id="9" name="Picture 8">
            <a:extLst>
              <a:ext uri="{FF2B5EF4-FFF2-40B4-BE49-F238E27FC236}">
                <a16:creationId xmlns:a16="http://schemas.microsoft.com/office/drawing/2014/main" id="{F17D7FD8-ECCF-4B09-96A1-528C6B1ED850}"/>
              </a:ext>
            </a:extLst>
          </p:cNvPr>
          <p:cNvPicPr>
            <a:picLocks noChangeAspect="1"/>
          </p:cNvPicPr>
          <p:nvPr/>
        </p:nvPicPr>
        <p:blipFill>
          <a:blip r:embed="rId2"/>
          <a:stretch>
            <a:fillRect/>
          </a:stretch>
        </p:blipFill>
        <p:spPr>
          <a:xfrm>
            <a:off x="1252127" y="2785594"/>
            <a:ext cx="4621365" cy="2247086"/>
          </a:xfrm>
          <a:prstGeom prst="rect">
            <a:avLst/>
          </a:prstGeom>
        </p:spPr>
      </p:pic>
      <p:sp>
        <p:nvSpPr>
          <p:cNvPr id="10" name="TextBox 9">
            <a:extLst>
              <a:ext uri="{FF2B5EF4-FFF2-40B4-BE49-F238E27FC236}">
                <a16:creationId xmlns:a16="http://schemas.microsoft.com/office/drawing/2014/main" id="{774EEE60-34C2-411C-A6DE-E8318B69CE93}"/>
              </a:ext>
            </a:extLst>
          </p:cNvPr>
          <p:cNvSpPr txBox="1"/>
          <p:nvPr/>
        </p:nvSpPr>
        <p:spPr>
          <a:xfrm>
            <a:off x="4492752" y="2234939"/>
            <a:ext cx="3560064" cy="369332"/>
          </a:xfrm>
          <a:prstGeom prst="rect">
            <a:avLst/>
          </a:prstGeom>
          <a:noFill/>
        </p:spPr>
        <p:txBody>
          <a:bodyPr wrap="square">
            <a:spAutoFit/>
          </a:bodyPr>
          <a:lstStyle/>
          <a:p>
            <a:r>
              <a:rPr lang="en-US" dirty="0">
                <a:solidFill>
                  <a:srgbClr val="000000"/>
                </a:solidFill>
                <a:latin typeface="Cascadia Mono" panose="020B0609020000020004" pitchFamily="49" charset="0"/>
              </a:rPr>
              <a:t>Return value optimization</a:t>
            </a:r>
            <a:endParaRPr lang="en-US" dirty="0"/>
          </a:p>
        </p:txBody>
      </p:sp>
      <p:pic>
        <p:nvPicPr>
          <p:cNvPr id="12" name="Picture 11">
            <a:extLst>
              <a:ext uri="{FF2B5EF4-FFF2-40B4-BE49-F238E27FC236}">
                <a16:creationId xmlns:a16="http://schemas.microsoft.com/office/drawing/2014/main" id="{ADB852C4-947D-41FF-B797-1E2D754F8FFB}"/>
              </a:ext>
            </a:extLst>
          </p:cNvPr>
          <p:cNvPicPr>
            <a:picLocks noChangeAspect="1"/>
          </p:cNvPicPr>
          <p:nvPr/>
        </p:nvPicPr>
        <p:blipFill>
          <a:blip r:embed="rId3"/>
          <a:stretch>
            <a:fillRect/>
          </a:stretch>
        </p:blipFill>
        <p:spPr>
          <a:xfrm>
            <a:off x="6446063" y="2858746"/>
            <a:ext cx="4270706" cy="2247086"/>
          </a:xfrm>
          <a:prstGeom prst="rect">
            <a:avLst/>
          </a:prstGeom>
        </p:spPr>
      </p:pic>
      <p:sp>
        <p:nvSpPr>
          <p:cNvPr id="13" name="TextBox 12">
            <a:extLst>
              <a:ext uri="{FF2B5EF4-FFF2-40B4-BE49-F238E27FC236}">
                <a16:creationId xmlns:a16="http://schemas.microsoft.com/office/drawing/2014/main" id="{FC0B18D3-517C-4F3E-8873-4971C9F86D6C}"/>
              </a:ext>
            </a:extLst>
          </p:cNvPr>
          <p:cNvSpPr txBox="1"/>
          <p:nvPr/>
        </p:nvSpPr>
        <p:spPr>
          <a:xfrm>
            <a:off x="3401568" y="5123163"/>
            <a:ext cx="371856" cy="369332"/>
          </a:xfrm>
          <a:prstGeom prst="rect">
            <a:avLst/>
          </a:prstGeom>
          <a:noFill/>
        </p:spPr>
        <p:txBody>
          <a:bodyPr wrap="square">
            <a:spAutoFit/>
          </a:bodyPr>
          <a:lstStyle/>
          <a:p>
            <a:r>
              <a:rPr lang="en-US" dirty="0">
                <a:solidFill>
                  <a:srgbClr val="000000"/>
                </a:solidFill>
                <a:latin typeface="Cascadia Mono" panose="020B0609020000020004" pitchFamily="49" charset="0"/>
              </a:rPr>
              <a:t>1</a:t>
            </a:r>
            <a:endParaRPr lang="en-US" dirty="0"/>
          </a:p>
        </p:txBody>
      </p:sp>
      <p:sp>
        <p:nvSpPr>
          <p:cNvPr id="14" name="TextBox 13">
            <a:extLst>
              <a:ext uri="{FF2B5EF4-FFF2-40B4-BE49-F238E27FC236}">
                <a16:creationId xmlns:a16="http://schemas.microsoft.com/office/drawing/2014/main" id="{3C16088B-1475-4710-B927-DCB657DD1623}"/>
              </a:ext>
            </a:extLst>
          </p:cNvPr>
          <p:cNvSpPr txBox="1"/>
          <p:nvPr/>
        </p:nvSpPr>
        <p:spPr>
          <a:xfrm>
            <a:off x="8581416" y="5147179"/>
            <a:ext cx="371856" cy="369332"/>
          </a:xfrm>
          <a:prstGeom prst="rect">
            <a:avLst/>
          </a:prstGeom>
          <a:noFill/>
        </p:spPr>
        <p:txBody>
          <a:bodyPr wrap="square">
            <a:spAutoFit/>
          </a:bodyPr>
          <a:lstStyle/>
          <a:p>
            <a:r>
              <a:rPr lang="en-US" dirty="0">
                <a:solidFill>
                  <a:srgbClr val="000000"/>
                </a:solidFill>
                <a:latin typeface="Cascadia Mono" panose="020B0609020000020004" pitchFamily="49" charset="0"/>
              </a:rPr>
              <a:t>2</a:t>
            </a:r>
            <a:endParaRPr lang="en-US" dirty="0"/>
          </a:p>
        </p:txBody>
      </p:sp>
    </p:spTree>
    <p:extLst>
      <p:ext uri="{BB962C8B-B14F-4D97-AF65-F5344CB8AC3E}">
        <p14:creationId xmlns:p14="http://schemas.microsoft.com/office/powerpoint/2010/main" val="28580513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CB089F-95F7-4EF1-88CC-EF8C6D179AA2}"/>
              </a:ext>
            </a:extLst>
          </p:cNvPr>
          <p:cNvPicPr>
            <a:picLocks noChangeAspect="1"/>
          </p:cNvPicPr>
          <p:nvPr/>
        </p:nvPicPr>
        <p:blipFill>
          <a:blip r:embed="rId2"/>
          <a:stretch>
            <a:fillRect/>
          </a:stretch>
        </p:blipFill>
        <p:spPr>
          <a:xfrm>
            <a:off x="702797" y="2261818"/>
            <a:ext cx="4848902" cy="3543795"/>
          </a:xfrm>
          <a:prstGeom prst="rect">
            <a:avLst/>
          </a:prstGeom>
        </p:spPr>
      </p:pic>
      <p:pic>
        <p:nvPicPr>
          <p:cNvPr id="10" name="Picture 9">
            <a:extLst>
              <a:ext uri="{FF2B5EF4-FFF2-40B4-BE49-F238E27FC236}">
                <a16:creationId xmlns:a16="http://schemas.microsoft.com/office/drawing/2014/main" id="{E6389B6D-54B6-45B4-8FD3-023F295F46B4}"/>
              </a:ext>
            </a:extLst>
          </p:cNvPr>
          <p:cNvPicPr>
            <a:picLocks noChangeAspect="1"/>
          </p:cNvPicPr>
          <p:nvPr/>
        </p:nvPicPr>
        <p:blipFill>
          <a:blip r:embed="rId3"/>
          <a:stretch>
            <a:fillRect/>
          </a:stretch>
        </p:blipFill>
        <p:spPr>
          <a:xfrm>
            <a:off x="6870192" y="2261818"/>
            <a:ext cx="2867425" cy="1686160"/>
          </a:xfrm>
          <a:prstGeom prst="rect">
            <a:avLst/>
          </a:prstGeom>
        </p:spPr>
      </p:pic>
      <p:sp>
        <p:nvSpPr>
          <p:cNvPr id="8" name="TextBox 7">
            <a:extLst>
              <a:ext uri="{FF2B5EF4-FFF2-40B4-BE49-F238E27FC236}">
                <a16:creationId xmlns:a16="http://schemas.microsoft.com/office/drawing/2014/main" id="{32BC3DE5-31B6-4DDB-82AD-B4B8EE6714BA}"/>
              </a:ext>
            </a:extLst>
          </p:cNvPr>
          <p:cNvSpPr txBox="1"/>
          <p:nvPr/>
        </p:nvSpPr>
        <p:spPr>
          <a:xfrm>
            <a:off x="515112" y="725716"/>
            <a:ext cx="11161776" cy="646331"/>
          </a:xfrm>
          <a:prstGeom prst="rect">
            <a:avLst/>
          </a:prstGeom>
          <a:noFill/>
        </p:spPr>
        <p:txBody>
          <a:bodyPr wrap="square">
            <a:spAutoFit/>
          </a:bodyPr>
          <a:lstStyle/>
          <a:p>
            <a:r>
              <a:rPr lang="en-US" sz="1800" dirty="0">
                <a:solidFill>
                  <a:srgbClr val="000000"/>
                </a:solidFill>
                <a:latin typeface="Cascadia Mono" panose="020B0609020000020004" pitchFamily="49" charset="0"/>
              </a:rPr>
              <a:t> std::</a:t>
            </a:r>
            <a:r>
              <a:rPr lang="en-US" sz="1800" dirty="0">
                <a:solidFill>
                  <a:srgbClr val="2B91AF"/>
                </a:solidFill>
                <a:latin typeface="Cascadia Mono" panose="020B0609020000020004" pitchFamily="49" charset="0"/>
              </a:rPr>
              <a:t>vector</a:t>
            </a:r>
            <a:r>
              <a:rPr lang="en-US" sz="1800" dirty="0">
                <a:solidFill>
                  <a:srgbClr val="000000"/>
                </a:solidFill>
                <a:latin typeface="Cascadia Mono" panose="020B0609020000020004" pitchFamily="49" charset="0"/>
              </a:rPr>
              <a:t>&lt;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&gt; v1{ 1, 2, 3, 4, 5 }; </a:t>
            </a:r>
            <a:r>
              <a:rPr lang="en-US" sz="1800" dirty="0">
                <a:solidFill>
                  <a:srgbClr val="008000"/>
                </a:solidFill>
                <a:latin typeface="Cascadia Mono" panose="020B0609020000020004" pitchFamily="49" charset="0"/>
              </a:rPr>
              <a:t>// constructor with initializer list</a:t>
            </a:r>
            <a:endParaRPr lang="en-US" sz="1800" dirty="0">
              <a:solidFill>
                <a:srgbClr val="000000"/>
              </a:solidFill>
              <a:latin typeface="Cascadia Mono" panose="020B0609020000020004" pitchFamily="49" charset="0"/>
            </a:endParaRPr>
          </a:p>
          <a:p>
            <a:r>
              <a:rPr lang="en-US" sz="1800" dirty="0">
                <a:solidFill>
                  <a:srgbClr val="000000"/>
                </a:solidFill>
                <a:latin typeface="Cascadia Mono" panose="020B0609020000020004" pitchFamily="49" charset="0"/>
              </a:rPr>
              <a:t> std::</a:t>
            </a:r>
            <a:r>
              <a:rPr lang="en-US" sz="1800" dirty="0">
                <a:solidFill>
                  <a:srgbClr val="2B91AF"/>
                </a:solidFill>
                <a:latin typeface="Cascadia Mono" panose="020B0609020000020004" pitchFamily="49" charset="0"/>
              </a:rPr>
              <a:t>vector</a:t>
            </a:r>
            <a:r>
              <a:rPr lang="en-US" sz="1800" dirty="0">
                <a:solidFill>
                  <a:srgbClr val="000000"/>
                </a:solidFill>
                <a:latin typeface="Cascadia Mono" panose="020B0609020000020004" pitchFamily="49" charset="0"/>
              </a:rPr>
              <a:t>&lt;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&gt; v2{}; </a:t>
            </a:r>
            <a:r>
              <a:rPr lang="en-US" sz="1800" dirty="0">
                <a:solidFill>
                  <a:srgbClr val="008000"/>
                </a:solidFill>
                <a:latin typeface="Cascadia Mono" panose="020B0609020000020004" pitchFamily="49" charset="0"/>
              </a:rPr>
              <a:t>// default constructor</a:t>
            </a:r>
            <a:endParaRPr lang="en-US" dirty="0"/>
          </a:p>
        </p:txBody>
      </p:sp>
      <p:sp>
        <p:nvSpPr>
          <p:cNvPr id="7" name="TextBox 6">
            <a:extLst>
              <a:ext uri="{FF2B5EF4-FFF2-40B4-BE49-F238E27FC236}">
                <a16:creationId xmlns:a16="http://schemas.microsoft.com/office/drawing/2014/main" id="{17C225AD-7C9C-4F21-B751-12BEFE669770}"/>
              </a:ext>
            </a:extLst>
          </p:cNvPr>
          <p:cNvSpPr txBox="1"/>
          <p:nvPr/>
        </p:nvSpPr>
        <p:spPr>
          <a:xfrm>
            <a:off x="557784" y="1489093"/>
            <a:ext cx="11161776" cy="369332"/>
          </a:xfrm>
          <a:prstGeom prst="rect">
            <a:avLst/>
          </a:prstGeom>
          <a:noFill/>
        </p:spPr>
        <p:txBody>
          <a:bodyPr wrap="square">
            <a:spAutoFit/>
          </a:bodyPr>
          <a:lstStyle/>
          <a:p>
            <a:r>
              <a:rPr lang="ru-RU" sz="1800" dirty="0">
                <a:solidFill>
                  <a:srgbClr val="000000"/>
                </a:solidFill>
                <a:latin typeface="Cascadia Mono" panose="020B0609020000020004" pitchFamily="49" charset="0"/>
              </a:rPr>
              <a:t>Как переместить </a:t>
            </a:r>
            <a:r>
              <a:rPr lang="en-US" sz="1800" dirty="0">
                <a:solidFill>
                  <a:srgbClr val="000000"/>
                </a:solidFill>
                <a:latin typeface="Cascadia Mono" panose="020B0609020000020004" pitchFamily="49" charset="0"/>
              </a:rPr>
              <a:t>v1 </a:t>
            </a:r>
            <a:r>
              <a:rPr lang="ru-RU" sz="1800" dirty="0">
                <a:solidFill>
                  <a:srgbClr val="000000"/>
                </a:solidFill>
                <a:latin typeface="Cascadia Mono" panose="020B0609020000020004" pitchFamily="49" charset="0"/>
              </a:rPr>
              <a:t>в </a:t>
            </a:r>
            <a:r>
              <a:rPr lang="en-US" sz="1800" dirty="0">
                <a:solidFill>
                  <a:srgbClr val="000000"/>
                </a:solidFill>
                <a:latin typeface="Cascadia Mono" panose="020B0609020000020004" pitchFamily="49" charset="0"/>
              </a:rPr>
              <a:t>v2</a:t>
            </a:r>
            <a:r>
              <a:rPr lang="en-US" dirty="0">
                <a:solidFill>
                  <a:srgbClr val="000000"/>
                </a:solidFill>
                <a:latin typeface="Cascadia Mono" panose="020B0609020000020004" pitchFamily="49" charset="0"/>
              </a:rPr>
              <a:t>?</a:t>
            </a:r>
            <a:endParaRPr lang="en-US" dirty="0"/>
          </a:p>
        </p:txBody>
      </p:sp>
    </p:spTree>
    <p:extLst>
      <p:ext uri="{BB962C8B-B14F-4D97-AF65-F5344CB8AC3E}">
        <p14:creationId xmlns:p14="http://schemas.microsoft.com/office/powerpoint/2010/main" val="15212754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2BC3DE5-31B6-4DDB-82AD-B4B8EE6714BA}"/>
              </a:ext>
            </a:extLst>
          </p:cNvPr>
          <p:cNvSpPr txBox="1"/>
          <p:nvPr/>
        </p:nvSpPr>
        <p:spPr>
          <a:xfrm>
            <a:off x="515112" y="725716"/>
            <a:ext cx="11161776" cy="646331"/>
          </a:xfrm>
          <a:prstGeom prst="rect">
            <a:avLst/>
          </a:prstGeom>
          <a:noFill/>
        </p:spPr>
        <p:txBody>
          <a:bodyPr wrap="square">
            <a:spAutoFit/>
          </a:bodyPr>
          <a:lstStyle/>
          <a:p>
            <a:r>
              <a:rPr lang="en-US" sz="1800" dirty="0">
                <a:solidFill>
                  <a:srgbClr val="000000"/>
                </a:solidFill>
                <a:latin typeface="Cascadia Mono" panose="020B0609020000020004" pitchFamily="49" charset="0"/>
              </a:rPr>
              <a:t> std::</a:t>
            </a:r>
            <a:r>
              <a:rPr lang="en-US" sz="1800" dirty="0">
                <a:solidFill>
                  <a:srgbClr val="2B91AF"/>
                </a:solidFill>
                <a:latin typeface="Cascadia Mono" panose="020B0609020000020004" pitchFamily="49" charset="0"/>
              </a:rPr>
              <a:t>vector</a:t>
            </a:r>
            <a:r>
              <a:rPr lang="en-US" sz="1800" dirty="0">
                <a:solidFill>
                  <a:srgbClr val="000000"/>
                </a:solidFill>
                <a:latin typeface="Cascadia Mono" panose="020B0609020000020004" pitchFamily="49" charset="0"/>
              </a:rPr>
              <a:t>&lt;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&gt; v1{ 1, 2, 3, 4, 5 }; </a:t>
            </a:r>
            <a:r>
              <a:rPr lang="en-US" sz="1800" dirty="0">
                <a:solidFill>
                  <a:srgbClr val="008000"/>
                </a:solidFill>
                <a:latin typeface="Cascadia Mono" panose="020B0609020000020004" pitchFamily="49" charset="0"/>
              </a:rPr>
              <a:t>// constructor with initializer list</a:t>
            </a:r>
            <a:endParaRPr lang="en-US" sz="1800" dirty="0">
              <a:solidFill>
                <a:srgbClr val="000000"/>
              </a:solidFill>
              <a:latin typeface="Cascadia Mono" panose="020B0609020000020004" pitchFamily="49" charset="0"/>
            </a:endParaRPr>
          </a:p>
          <a:p>
            <a:r>
              <a:rPr lang="en-US" sz="1800" dirty="0">
                <a:solidFill>
                  <a:srgbClr val="000000"/>
                </a:solidFill>
                <a:latin typeface="Cascadia Mono" panose="020B0609020000020004" pitchFamily="49" charset="0"/>
              </a:rPr>
              <a:t> std::</a:t>
            </a:r>
            <a:r>
              <a:rPr lang="en-US" sz="1800" dirty="0">
                <a:solidFill>
                  <a:srgbClr val="2B91AF"/>
                </a:solidFill>
                <a:latin typeface="Cascadia Mono" panose="020B0609020000020004" pitchFamily="49" charset="0"/>
              </a:rPr>
              <a:t>vector</a:t>
            </a:r>
            <a:r>
              <a:rPr lang="en-US" sz="1800" dirty="0">
                <a:solidFill>
                  <a:srgbClr val="000000"/>
                </a:solidFill>
                <a:latin typeface="Cascadia Mono" panose="020B0609020000020004" pitchFamily="49" charset="0"/>
              </a:rPr>
              <a:t>&lt;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&gt; v2{}; </a:t>
            </a:r>
            <a:r>
              <a:rPr lang="en-US" sz="1800" dirty="0">
                <a:solidFill>
                  <a:srgbClr val="008000"/>
                </a:solidFill>
                <a:latin typeface="Cascadia Mono" panose="020B0609020000020004" pitchFamily="49" charset="0"/>
              </a:rPr>
              <a:t>// default constructor</a:t>
            </a:r>
            <a:endParaRPr lang="en-US" dirty="0"/>
          </a:p>
        </p:txBody>
      </p:sp>
      <p:sp>
        <p:nvSpPr>
          <p:cNvPr id="6" name="TextBox 5">
            <a:extLst>
              <a:ext uri="{FF2B5EF4-FFF2-40B4-BE49-F238E27FC236}">
                <a16:creationId xmlns:a16="http://schemas.microsoft.com/office/drawing/2014/main" id="{24ECBF58-E980-4CB2-80B3-044E33B28FEA}"/>
              </a:ext>
            </a:extLst>
          </p:cNvPr>
          <p:cNvSpPr txBox="1"/>
          <p:nvPr/>
        </p:nvSpPr>
        <p:spPr>
          <a:xfrm>
            <a:off x="658368" y="1345230"/>
            <a:ext cx="6096000" cy="369332"/>
          </a:xfrm>
          <a:prstGeom prst="rect">
            <a:avLst/>
          </a:prstGeom>
          <a:noFill/>
        </p:spPr>
        <p:txBody>
          <a:bodyPr wrap="square">
            <a:spAutoFit/>
          </a:bodyPr>
          <a:lstStyle/>
          <a:p>
            <a:r>
              <a:rPr lang="en-US" sz="1800" dirty="0">
                <a:solidFill>
                  <a:srgbClr val="000000"/>
                </a:solidFill>
                <a:latin typeface="Cascadia Mono" panose="020B0609020000020004" pitchFamily="49" charset="0"/>
              </a:rPr>
              <a:t>v2 = std::move(v1);</a:t>
            </a:r>
            <a:endParaRPr lang="en-US" dirty="0"/>
          </a:p>
        </p:txBody>
      </p:sp>
      <p:pic>
        <p:nvPicPr>
          <p:cNvPr id="3" name="Picture 2">
            <a:extLst>
              <a:ext uri="{FF2B5EF4-FFF2-40B4-BE49-F238E27FC236}">
                <a16:creationId xmlns:a16="http://schemas.microsoft.com/office/drawing/2014/main" id="{A89F56CB-9C9E-415B-8A4D-B8D9C1B20BA0}"/>
              </a:ext>
            </a:extLst>
          </p:cNvPr>
          <p:cNvPicPr>
            <a:picLocks noChangeAspect="1"/>
          </p:cNvPicPr>
          <p:nvPr/>
        </p:nvPicPr>
        <p:blipFill>
          <a:blip r:embed="rId2"/>
          <a:stretch>
            <a:fillRect/>
          </a:stretch>
        </p:blipFill>
        <p:spPr>
          <a:xfrm>
            <a:off x="515112" y="2057077"/>
            <a:ext cx="5340450" cy="2563691"/>
          </a:xfrm>
          <a:prstGeom prst="rect">
            <a:avLst/>
          </a:prstGeom>
        </p:spPr>
      </p:pic>
      <p:pic>
        <p:nvPicPr>
          <p:cNvPr id="7" name="Picture 6">
            <a:extLst>
              <a:ext uri="{FF2B5EF4-FFF2-40B4-BE49-F238E27FC236}">
                <a16:creationId xmlns:a16="http://schemas.microsoft.com/office/drawing/2014/main" id="{8BD5C2C4-F543-410B-AE96-548CC4A758C4}"/>
              </a:ext>
            </a:extLst>
          </p:cNvPr>
          <p:cNvPicPr>
            <a:picLocks noChangeAspect="1"/>
          </p:cNvPicPr>
          <p:nvPr/>
        </p:nvPicPr>
        <p:blipFill>
          <a:blip r:embed="rId3"/>
          <a:stretch>
            <a:fillRect/>
          </a:stretch>
        </p:blipFill>
        <p:spPr>
          <a:xfrm>
            <a:off x="6096000" y="2057077"/>
            <a:ext cx="5870448" cy="2611460"/>
          </a:xfrm>
          <a:prstGeom prst="rect">
            <a:avLst/>
          </a:prstGeom>
        </p:spPr>
      </p:pic>
      <p:sp>
        <p:nvSpPr>
          <p:cNvPr id="12" name="TextBox 11">
            <a:extLst>
              <a:ext uri="{FF2B5EF4-FFF2-40B4-BE49-F238E27FC236}">
                <a16:creationId xmlns:a16="http://schemas.microsoft.com/office/drawing/2014/main" id="{F56ED8F7-7DAA-4103-B168-192C11628423}"/>
              </a:ext>
            </a:extLst>
          </p:cNvPr>
          <p:cNvSpPr txBox="1"/>
          <p:nvPr/>
        </p:nvSpPr>
        <p:spPr>
          <a:xfrm>
            <a:off x="8845296" y="4668537"/>
            <a:ext cx="371856" cy="369332"/>
          </a:xfrm>
          <a:prstGeom prst="rect">
            <a:avLst/>
          </a:prstGeom>
          <a:noFill/>
        </p:spPr>
        <p:txBody>
          <a:bodyPr wrap="square">
            <a:spAutoFit/>
          </a:bodyPr>
          <a:lstStyle/>
          <a:p>
            <a:r>
              <a:rPr lang="en-US" dirty="0">
                <a:solidFill>
                  <a:srgbClr val="000000"/>
                </a:solidFill>
                <a:latin typeface="Cascadia Mono" panose="020B0609020000020004" pitchFamily="49" charset="0"/>
              </a:rPr>
              <a:t>2</a:t>
            </a:r>
            <a:endParaRPr lang="en-US" dirty="0"/>
          </a:p>
        </p:txBody>
      </p:sp>
      <p:sp>
        <p:nvSpPr>
          <p:cNvPr id="13" name="TextBox 12">
            <a:extLst>
              <a:ext uri="{FF2B5EF4-FFF2-40B4-BE49-F238E27FC236}">
                <a16:creationId xmlns:a16="http://schemas.microsoft.com/office/drawing/2014/main" id="{2F766751-F7A4-4AAF-910C-A186CCF62FEA}"/>
              </a:ext>
            </a:extLst>
          </p:cNvPr>
          <p:cNvSpPr txBox="1"/>
          <p:nvPr/>
        </p:nvSpPr>
        <p:spPr>
          <a:xfrm>
            <a:off x="2788920" y="4676247"/>
            <a:ext cx="371856" cy="369332"/>
          </a:xfrm>
          <a:prstGeom prst="rect">
            <a:avLst/>
          </a:prstGeom>
          <a:noFill/>
        </p:spPr>
        <p:txBody>
          <a:bodyPr wrap="square">
            <a:spAutoFit/>
          </a:bodyPr>
          <a:lstStyle/>
          <a:p>
            <a:r>
              <a:rPr lang="en-US" dirty="0">
                <a:solidFill>
                  <a:srgbClr val="000000"/>
                </a:solidFill>
                <a:latin typeface="Cascadia Mono" panose="020B0609020000020004" pitchFamily="49" charset="0"/>
              </a:rPr>
              <a:t>1</a:t>
            </a:r>
            <a:endParaRPr lang="en-US" dirty="0"/>
          </a:p>
        </p:txBody>
      </p:sp>
    </p:spTree>
    <p:extLst>
      <p:ext uri="{BB962C8B-B14F-4D97-AF65-F5344CB8AC3E}">
        <p14:creationId xmlns:p14="http://schemas.microsoft.com/office/powerpoint/2010/main" val="20959044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err="1">
                <a:latin typeface="Segoe UI Light" panose="020B0502040204020203" pitchFamily="34" charset="0"/>
                <a:cs typeface="Segoe UI Light" panose="020B0502040204020203" pitchFamily="34" charset="0"/>
              </a:rPr>
              <a:t>rvalue</a:t>
            </a:r>
            <a:r>
              <a:rPr lang="en-US" dirty="0">
                <a:latin typeface="Segoe UI Light" panose="020B0502040204020203" pitchFamily="34" charset="0"/>
                <a:cs typeface="Segoe UI Light" panose="020B0502040204020203" pitchFamily="34" charset="0"/>
              </a:rPr>
              <a:t> reference and </a:t>
            </a:r>
            <a:r>
              <a:rPr lang="en-US" dirty="0" err="1">
                <a:latin typeface="Segoe UI Light" panose="020B0502040204020203" pitchFamily="34" charset="0"/>
                <a:cs typeface="Segoe UI Light" panose="020B0502040204020203" pitchFamily="34" charset="0"/>
              </a:rPr>
              <a:t>lvalue</a:t>
            </a:r>
            <a:r>
              <a:rPr lang="en-US" dirty="0">
                <a:latin typeface="Segoe UI Light" panose="020B0502040204020203" pitchFamily="34" charset="0"/>
                <a:cs typeface="Segoe UI Light" panose="020B0502040204020203" pitchFamily="34" charset="0"/>
              </a:rPr>
              <a:t> reference</a:t>
            </a:r>
          </a:p>
        </p:txBody>
      </p:sp>
      <p:sp>
        <p:nvSpPr>
          <p:cNvPr id="3" name="TextBox 2">
            <a:extLst>
              <a:ext uri="{FF2B5EF4-FFF2-40B4-BE49-F238E27FC236}">
                <a16:creationId xmlns:a16="http://schemas.microsoft.com/office/drawing/2014/main" id="{11C87237-1770-484C-A8C5-49B4ACD27542}"/>
              </a:ext>
            </a:extLst>
          </p:cNvPr>
          <p:cNvSpPr txBox="1"/>
          <p:nvPr/>
        </p:nvSpPr>
        <p:spPr>
          <a:xfrm>
            <a:off x="661415" y="1555812"/>
            <a:ext cx="6097190" cy="307777"/>
          </a:xfrm>
          <a:prstGeom prst="rect">
            <a:avLst/>
          </a:prstGeom>
          <a:noFill/>
        </p:spPr>
        <p:txBody>
          <a:bodyPr wrap="square">
            <a:spAutoFit/>
          </a:bodyPr>
          <a:lstStyle/>
          <a:p>
            <a:r>
              <a:rPr lang="en-US" sz="1400" dirty="0"/>
              <a:t>Left (</a:t>
            </a:r>
            <a:r>
              <a:rPr lang="ru-RU" sz="1400" dirty="0"/>
              <a:t>лево</a:t>
            </a:r>
            <a:r>
              <a:rPr lang="en-US" sz="1400" dirty="0"/>
              <a:t>) value -&gt; </a:t>
            </a:r>
            <a:r>
              <a:rPr lang="en-US" sz="1400" dirty="0">
                <a:solidFill>
                  <a:srgbClr val="C00000"/>
                </a:solidFill>
              </a:rPr>
              <a:t>L = R </a:t>
            </a:r>
            <a:r>
              <a:rPr lang="en-US" sz="1400" dirty="0"/>
              <a:t>&lt;- right (</a:t>
            </a:r>
            <a:r>
              <a:rPr lang="ru-RU" sz="1400" dirty="0"/>
              <a:t>право</a:t>
            </a:r>
            <a:r>
              <a:rPr lang="en-US" sz="1400" dirty="0"/>
              <a:t>)</a:t>
            </a:r>
            <a:r>
              <a:rPr lang="ru-RU" sz="1400" dirty="0"/>
              <a:t> </a:t>
            </a:r>
            <a:r>
              <a:rPr lang="en-US" sz="1400" dirty="0"/>
              <a:t>value</a:t>
            </a:r>
          </a:p>
        </p:txBody>
      </p:sp>
      <p:sp>
        <p:nvSpPr>
          <p:cNvPr id="4" name="TextBox 3">
            <a:extLst>
              <a:ext uri="{FF2B5EF4-FFF2-40B4-BE49-F238E27FC236}">
                <a16:creationId xmlns:a16="http://schemas.microsoft.com/office/drawing/2014/main" id="{3EDA861F-6A21-4689-B187-53A93CDC1D8A}"/>
              </a:ext>
            </a:extLst>
          </p:cNvPr>
          <p:cNvSpPr txBox="1"/>
          <p:nvPr/>
        </p:nvSpPr>
        <p:spPr>
          <a:xfrm>
            <a:off x="2914481" y="2601642"/>
            <a:ext cx="832105" cy="307777"/>
          </a:xfrm>
          <a:prstGeom prst="rect">
            <a:avLst/>
          </a:prstGeom>
          <a:noFill/>
        </p:spPr>
        <p:txBody>
          <a:bodyPr wrap="square">
            <a:spAutoFit/>
          </a:bodyPr>
          <a:lstStyle/>
          <a:p>
            <a:r>
              <a:rPr lang="en-US" sz="1400" dirty="0">
                <a:solidFill>
                  <a:srgbClr val="C00000"/>
                </a:solidFill>
              </a:rPr>
              <a:t>&lt;- </a:t>
            </a:r>
            <a:r>
              <a:rPr lang="en-US" sz="1400" dirty="0" err="1">
                <a:solidFill>
                  <a:srgbClr val="C00000"/>
                </a:solidFill>
              </a:rPr>
              <a:t>lvalue</a:t>
            </a:r>
            <a:endParaRPr lang="en-US" sz="1400" dirty="0">
              <a:solidFill>
                <a:srgbClr val="C00000"/>
              </a:solidFill>
            </a:endParaRPr>
          </a:p>
        </p:txBody>
      </p:sp>
      <p:sp>
        <p:nvSpPr>
          <p:cNvPr id="6" name="TextBox 5">
            <a:extLst>
              <a:ext uri="{FF2B5EF4-FFF2-40B4-BE49-F238E27FC236}">
                <a16:creationId xmlns:a16="http://schemas.microsoft.com/office/drawing/2014/main" id="{5D88516F-92AA-459F-AC10-BAAEBB394AD3}"/>
              </a:ext>
            </a:extLst>
          </p:cNvPr>
          <p:cNvSpPr txBox="1"/>
          <p:nvPr/>
        </p:nvSpPr>
        <p:spPr>
          <a:xfrm>
            <a:off x="1762337" y="2386130"/>
            <a:ext cx="1728217" cy="523220"/>
          </a:xfrm>
          <a:prstGeom prst="rect">
            <a:avLst/>
          </a:prstGeom>
          <a:noFill/>
        </p:spPr>
        <p:txBody>
          <a:bodyPr wrap="square">
            <a:spAutoFit/>
          </a:bodyPr>
          <a:lstStyle/>
          <a:p>
            <a:r>
              <a:rPr lang="en-US" sz="1400" dirty="0">
                <a:solidFill>
                  <a:srgbClr val="000000"/>
                </a:solidFill>
                <a:latin typeface="Cascadia Mono" panose="020B0609020000020004" pitchFamily="49" charset="0"/>
              </a:rPr>
              <a:t>std::</a:t>
            </a:r>
            <a:r>
              <a:rPr lang="en-US" sz="1400" dirty="0">
                <a:solidFill>
                  <a:srgbClr val="2B91AF"/>
                </a:solidFill>
                <a:latin typeface="Cascadia Mono" panose="020B0609020000020004" pitchFamily="49" charset="0"/>
              </a:rPr>
              <a:t>string</a:t>
            </a:r>
            <a:r>
              <a:rPr lang="en-US" sz="1400" dirty="0">
                <a:solidFill>
                  <a:srgbClr val="000000"/>
                </a:solidFill>
                <a:latin typeface="Cascadia Mono" panose="020B0609020000020004" pitchFamily="49" charset="0"/>
              </a:rPr>
              <a:t> s;</a:t>
            </a:r>
          </a:p>
          <a:p>
            <a:r>
              <a:rPr lang="en-US" sz="1400" dirty="0">
                <a:solidFill>
                  <a:schemeClr val="accent5">
                    <a:lumMod val="75000"/>
                  </a:schemeClr>
                </a:solidFill>
                <a:latin typeface="Cascadia Mono" panose="020B0609020000020004" pitchFamily="49" charset="0"/>
              </a:rPr>
              <a:t>s + s </a:t>
            </a:r>
            <a:r>
              <a:rPr lang="en-US" sz="1400" dirty="0">
                <a:solidFill>
                  <a:srgbClr val="000000"/>
                </a:solidFill>
                <a:latin typeface="Cascadia Mono" panose="020B0609020000020004" pitchFamily="49" charset="0"/>
              </a:rPr>
              <a:t>= </a:t>
            </a:r>
            <a:r>
              <a:rPr lang="en-US" sz="1400" dirty="0">
                <a:solidFill>
                  <a:srgbClr val="C00000"/>
                </a:solidFill>
                <a:latin typeface="Cascadia Mono" panose="020B0609020000020004" pitchFamily="49" charset="0"/>
              </a:rPr>
              <a:t>s</a:t>
            </a:r>
            <a:r>
              <a:rPr lang="en-US" sz="1400" dirty="0">
                <a:solidFill>
                  <a:srgbClr val="000000"/>
                </a:solidFill>
                <a:latin typeface="Cascadia Mono" panose="020B0609020000020004" pitchFamily="49" charset="0"/>
              </a:rPr>
              <a:t>;</a:t>
            </a:r>
            <a:endParaRPr lang="en-US" sz="1400" dirty="0"/>
          </a:p>
        </p:txBody>
      </p:sp>
      <p:sp>
        <p:nvSpPr>
          <p:cNvPr id="7" name="TextBox 6">
            <a:extLst>
              <a:ext uri="{FF2B5EF4-FFF2-40B4-BE49-F238E27FC236}">
                <a16:creationId xmlns:a16="http://schemas.microsoft.com/office/drawing/2014/main" id="{42DEEF07-5B68-4C39-B9CC-9F736B8FDFB1}"/>
              </a:ext>
            </a:extLst>
          </p:cNvPr>
          <p:cNvSpPr txBox="1"/>
          <p:nvPr/>
        </p:nvSpPr>
        <p:spPr>
          <a:xfrm>
            <a:off x="1024721" y="2601573"/>
            <a:ext cx="1228345" cy="307777"/>
          </a:xfrm>
          <a:prstGeom prst="rect">
            <a:avLst/>
          </a:prstGeom>
          <a:noFill/>
        </p:spPr>
        <p:txBody>
          <a:bodyPr wrap="square">
            <a:spAutoFit/>
          </a:bodyPr>
          <a:lstStyle/>
          <a:p>
            <a:r>
              <a:rPr lang="en-US" sz="1400" dirty="0" err="1">
                <a:solidFill>
                  <a:schemeClr val="accent5">
                    <a:lumMod val="75000"/>
                  </a:schemeClr>
                </a:solidFill>
              </a:rPr>
              <a:t>rvalue</a:t>
            </a:r>
            <a:r>
              <a:rPr lang="en-US" sz="1400" dirty="0">
                <a:solidFill>
                  <a:schemeClr val="accent5">
                    <a:lumMod val="75000"/>
                  </a:schemeClr>
                </a:solidFill>
              </a:rPr>
              <a:t> -&gt;</a:t>
            </a:r>
          </a:p>
        </p:txBody>
      </p:sp>
      <p:sp>
        <p:nvSpPr>
          <p:cNvPr id="9" name="TextBox 8">
            <a:extLst>
              <a:ext uri="{FF2B5EF4-FFF2-40B4-BE49-F238E27FC236}">
                <a16:creationId xmlns:a16="http://schemas.microsoft.com/office/drawing/2014/main" id="{0B9C75D6-F35C-4C23-90F1-855EB54B9CCE}"/>
              </a:ext>
            </a:extLst>
          </p:cNvPr>
          <p:cNvSpPr txBox="1"/>
          <p:nvPr/>
        </p:nvSpPr>
        <p:spPr>
          <a:xfrm>
            <a:off x="2314025" y="2909350"/>
            <a:ext cx="832105" cy="307777"/>
          </a:xfrm>
          <a:prstGeom prst="rect">
            <a:avLst/>
          </a:prstGeom>
          <a:noFill/>
        </p:spPr>
        <p:txBody>
          <a:bodyPr wrap="square">
            <a:spAutoFit/>
          </a:bodyPr>
          <a:lstStyle/>
          <a:p>
            <a:r>
              <a:rPr lang="en-US" sz="1400" dirty="0">
                <a:solidFill>
                  <a:srgbClr val="C00000"/>
                </a:solidFill>
              </a:rPr>
              <a:t>???</a:t>
            </a:r>
          </a:p>
        </p:txBody>
      </p:sp>
    </p:spTree>
    <p:extLst>
      <p:ext uri="{BB962C8B-B14F-4D97-AF65-F5344CB8AC3E}">
        <p14:creationId xmlns:p14="http://schemas.microsoft.com/office/powerpoint/2010/main" val="19878987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Value categories</a:t>
            </a:r>
          </a:p>
        </p:txBody>
      </p:sp>
      <p:sp>
        <p:nvSpPr>
          <p:cNvPr id="10" name="TextBox 9">
            <a:extLst>
              <a:ext uri="{FF2B5EF4-FFF2-40B4-BE49-F238E27FC236}">
                <a16:creationId xmlns:a16="http://schemas.microsoft.com/office/drawing/2014/main" id="{8D6732F8-57D0-4402-B691-84C844551136}"/>
              </a:ext>
            </a:extLst>
          </p:cNvPr>
          <p:cNvSpPr txBox="1"/>
          <p:nvPr/>
        </p:nvSpPr>
        <p:spPr>
          <a:xfrm>
            <a:off x="2063496" y="4989920"/>
            <a:ext cx="1743456" cy="369332"/>
          </a:xfrm>
          <a:prstGeom prst="rect">
            <a:avLst/>
          </a:prstGeom>
          <a:noFill/>
        </p:spPr>
        <p:txBody>
          <a:bodyPr wrap="square">
            <a:spAutoFit/>
          </a:bodyPr>
          <a:lstStyle/>
          <a:p>
            <a:r>
              <a:rPr lang="en-US" dirty="0" err="1"/>
              <a:t>lvalue</a:t>
            </a:r>
            <a:r>
              <a:rPr lang="en-US" dirty="0"/>
              <a:t> {</a:t>
            </a:r>
            <a:r>
              <a:rPr lang="en-US" dirty="0" err="1"/>
              <a:t>i</a:t>
            </a:r>
            <a:r>
              <a:rPr lang="en-US" dirty="0"/>
              <a:t>&amp;!m}</a:t>
            </a:r>
          </a:p>
        </p:txBody>
      </p:sp>
      <p:sp>
        <p:nvSpPr>
          <p:cNvPr id="12" name="TextBox 11">
            <a:extLst>
              <a:ext uri="{FF2B5EF4-FFF2-40B4-BE49-F238E27FC236}">
                <a16:creationId xmlns:a16="http://schemas.microsoft.com/office/drawing/2014/main" id="{777A0683-E28E-498B-ACCD-E7C4E1DBF506}"/>
              </a:ext>
            </a:extLst>
          </p:cNvPr>
          <p:cNvSpPr txBox="1"/>
          <p:nvPr/>
        </p:nvSpPr>
        <p:spPr>
          <a:xfrm>
            <a:off x="5263896" y="5013745"/>
            <a:ext cx="1664208" cy="369332"/>
          </a:xfrm>
          <a:prstGeom prst="rect">
            <a:avLst/>
          </a:prstGeom>
          <a:noFill/>
        </p:spPr>
        <p:txBody>
          <a:bodyPr wrap="square">
            <a:spAutoFit/>
          </a:bodyPr>
          <a:lstStyle/>
          <a:p>
            <a:r>
              <a:rPr lang="en-US" dirty="0" err="1"/>
              <a:t>xvalue</a:t>
            </a:r>
            <a:r>
              <a:rPr lang="en-US" dirty="0"/>
              <a:t> {</a:t>
            </a:r>
            <a:r>
              <a:rPr lang="en-US" dirty="0" err="1"/>
              <a:t>i&amp;m</a:t>
            </a:r>
            <a:r>
              <a:rPr lang="en-US" dirty="0"/>
              <a:t>}</a:t>
            </a:r>
          </a:p>
        </p:txBody>
      </p:sp>
      <p:sp>
        <p:nvSpPr>
          <p:cNvPr id="14" name="TextBox 13">
            <a:extLst>
              <a:ext uri="{FF2B5EF4-FFF2-40B4-BE49-F238E27FC236}">
                <a16:creationId xmlns:a16="http://schemas.microsoft.com/office/drawing/2014/main" id="{F2E5EFD3-3821-46A8-9EDF-F4696F4CD34A}"/>
              </a:ext>
            </a:extLst>
          </p:cNvPr>
          <p:cNvSpPr txBox="1"/>
          <p:nvPr/>
        </p:nvSpPr>
        <p:spPr>
          <a:xfrm>
            <a:off x="8238744" y="5013745"/>
            <a:ext cx="1871472" cy="369332"/>
          </a:xfrm>
          <a:prstGeom prst="rect">
            <a:avLst/>
          </a:prstGeom>
          <a:noFill/>
        </p:spPr>
        <p:txBody>
          <a:bodyPr wrap="square">
            <a:spAutoFit/>
          </a:bodyPr>
          <a:lstStyle/>
          <a:p>
            <a:r>
              <a:rPr lang="en-US" dirty="0" err="1"/>
              <a:t>prvalue</a:t>
            </a:r>
            <a:r>
              <a:rPr lang="en-US" dirty="0"/>
              <a:t> {!</a:t>
            </a:r>
            <a:r>
              <a:rPr lang="en-US" dirty="0" err="1"/>
              <a:t>i&amp;m</a:t>
            </a:r>
            <a:r>
              <a:rPr lang="en-US" dirty="0"/>
              <a:t>}</a:t>
            </a:r>
          </a:p>
        </p:txBody>
      </p:sp>
      <p:sp>
        <p:nvSpPr>
          <p:cNvPr id="16" name="TextBox 15">
            <a:extLst>
              <a:ext uri="{FF2B5EF4-FFF2-40B4-BE49-F238E27FC236}">
                <a16:creationId xmlns:a16="http://schemas.microsoft.com/office/drawing/2014/main" id="{19931C2B-2886-4FB9-A4C9-279114814FD9}"/>
              </a:ext>
            </a:extLst>
          </p:cNvPr>
          <p:cNvSpPr txBox="1"/>
          <p:nvPr/>
        </p:nvSpPr>
        <p:spPr>
          <a:xfrm>
            <a:off x="3725250" y="5684794"/>
            <a:ext cx="1538646" cy="369332"/>
          </a:xfrm>
          <a:prstGeom prst="rect">
            <a:avLst/>
          </a:prstGeom>
          <a:noFill/>
        </p:spPr>
        <p:txBody>
          <a:bodyPr wrap="square">
            <a:spAutoFit/>
          </a:bodyPr>
          <a:lstStyle/>
          <a:p>
            <a:r>
              <a:rPr lang="en-US" dirty="0" err="1"/>
              <a:t>glvalue</a:t>
            </a:r>
            <a:r>
              <a:rPr lang="en-US" dirty="0"/>
              <a:t> {</a:t>
            </a:r>
            <a:r>
              <a:rPr lang="en-US" dirty="0" err="1"/>
              <a:t>i</a:t>
            </a:r>
            <a:r>
              <a:rPr lang="en-US" dirty="0"/>
              <a:t>}</a:t>
            </a:r>
          </a:p>
        </p:txBody>
      </p:sp>
      <p:sp>
        <p:nvSpPr>
          <p:cNvPr id="18" name="TextBox 17">
            <a:extLst>
              <a:ext uri="{FF2B5EF4-FFF2-40B4-BE49-F238E27FC236}">
                <a16:creationId xmlns:a16="http://schemas.microsoft.com/office/drawing/2014/main" id="{D39ABDE5-A097-445E-9293-4CFA2CD8DC68}"/>
              </a:ext>
            </a:extLst>
          </p:cNvPr>
          <p:cNvSpPr txBox="1"/>
          <p:nvPr/>
        </p:nvSpPr>
        <p:spPr>
          <a:xfrm>
            <a:off x="7074408" y="5698178"/>
            <a:ext cx="1475232" cy="369332"/>
          </a:xfrm>
          <a:prstGeom prst="rect">
            <a:avLst/>
          </a:prstGeom>
          <a:noFill/>
        </p:spPr>
        <p:txBody>
          <a:bodyPr wrap="square">
            <a:spAutoFit/>
          </a:bodyPr>
          <a:lstStyle/>
          <a:p>
            <a:r>
              <a:rPr lang="en-US" dirty="0" err="1"/>
              <a:t>rvalue</a:t>
            </a:r>
            <a:r>
              <a:rPr lang="en-US" dirty="0"/>
              <a:t> {m}</a:t>
            </a:r>
          </a:p>
        </p:txBody>
      </p:sp>
      <p:cxnSp>
        <p:nvCxnSpPr>
          <p:cNvPr id="5" name="Straight Arrow Connector 4">
            <a:extLst>
              <a:ext uri="{FF2B5EF4-FFF2-40B4-BE49-F238E27FC236}">
                <a16:creationId xmlns:a16="http://schemas.microsoft.com/office/drawing/2014/main" id="{F9E933E1-AE26-44F8-9204-ABCEB1B68147}"/>
              </a:ext>
            </a:extLst>
          </p:cNvPr>
          <p:cNvCxnSpPr>
            <a:stCxn id="16" idx="0"/>
            <a:endCxn id="10" idx="2"/>
          </p:cNvCxnSpPr>
          <p:nvPr/>
        </p:nvCxnSpPr>
        <p:spPr>
          <a:xfrm flipH="1" flipV="1">
            <a:off x="2935224" y="5359252"/>
            <a:ext cx="1559349" cy="3255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661CD8E-7282-4284-96F0-80A99AF1BCF9}"/>
              </a:ext>
            </a:extLst>
          </p:cNvPr>
          <p:cNvCxnSpPr>
            <a:stCxn id="16" idx="0"/>
            <a:endCxn id="12" idx="2"/>
          </p:cNvCxnSpPr>
          <p:nvPr/>
        </p:nvCxnSpPr>
        <p:spPr>
          <a:xfrm flipV="1">
            <a:off x="4494573" y="5383077"/>
            <a:ext cx="1601427" cy="3017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F8C36C3-0410-46DC-95EA-E628818D7825}"/>
              </a:ext>
            </a:extLst>
          </p:cNvPr>
          <p:cNvCxnSpPr>
            <a:stCxn id="18" idx="0"/>
            <a:endCxn id="12" idx="2"/>
          </p:cNvCxnSpPr>
          <p:nvPr/>
        </p:nvCxnSpPr>
        <p:spPr>
          <a:xfrm flipH="1" flipV="1">
            <a:off x="6096000" y="5383077"/>
            <a:ext cx="1716024" cy="3151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A27CE36-F1F0-492C-9324-9803BA94EAAB}"/>
              </a:ext>
            </a:extLst>
          </p:cNvPr>
          <p:cNvCxnSpPr>
            <a:stCxn id="18" idx="0"/>
            <a:endCxn id="14" idx="2"/>
          </p:cNvCxnSpPr>
          <p:nvPr/>
        </p:nvCxnSpPr>
        <p:spPr>
          <a:xfrm flipV="1">
            <a:off x="7812024" y="5383077"/>
            <a:ext cx="1362456" cy="3151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1871B250-A28C-4EE3-BD91-31F03E3A6D12}"/>
              </a:ext>
            </a:extLst>
          </p:cNvPr>
          <p:cNvSpPr txBox="1"/>
          <p:nvPr/>
        </p:nvSpPr>
        <p:spPr>
          <a:xfrm>
            <a:off x="652272" y="1474923"/>
            <a:ext cx="6096000" cy="954107"/>
          </a:xfrm>
          <a:prstGeom prst="rect">
            <a:avLst/>
          </a:prstGeom>
          <a:noFill/>
        </p:spPr>
        <p:txBody>
          <a:bodyPr wrap="square">
            <a:spAutoFit/>
          </a:bodyPr>
          <a:lstStyle/>
          <a:p>
            <a:r>
              <a:rPr lang="en-US" sz="1400" dirty="0"/>
              <a:t>(</a:t>
            </a:r>
            <a:r>
              <a:rPr lang="en-US" sz="1400" dirty="0" err="1"/>
              <a:t>i</a:t>
            </a:r>
            <a:r>
              <a:rPr lang="en-US" sz="1400" dirty="0"/>
              <a:t>) </a:t>
            </a:r>
            <a:r>
              <a:rPr lang="ru-RU" sz="1400" dirty="0"/>
              <a:t>Можно опознать </a:t>
            </a:r>
            <a:r>
              <a:rPr lang="en-US" sz="1400" dirty="0"/>
              <a:t>(has identity): </a:t>
            </a:r>
            <a:r>
              <a:rPr lang="ru-RU" sz="1400" dirty="0"/>
              <a:t>В программе существует именнованный указатель</a:t>
            </a:r>
            <a:r>
              <a:rPr lang="en-US" sz="1400" dirty="0"/>
              <a:t>/</a:t>
            </a:r>
            <a:r>
              <a:rPr lang="ru-RU" sz="1400" dirty="0"/>
              <a:t>ссылка на объект</a:t>
            </a:r>
          </a:p>
          <a:p>
            <a:r>
              <a:rPr lang="ru-RU" sz="1400" dirty="0"/>
              <a:t>(</a:t>
            </a:r>
            <a:r>
              <a:rPr lang="en-US" sz="1400" dirty="0"/>
              <a:t>m</a:t>
            </a:r>
            <a:r>
              <a:rPr lang="ru-RU" sz="1400" dirty="0"/>
              <a:t>)</a:t>
            </a:r>
            <a:r>
              <a:rPr lang="en-US" sz="1400" dirty="0"/>
              <a:t> </a:t>
            </a:r>
            <a:r>
              <a:rPr lang="ru-RU" sz="1400" dirty="0"/>
              <a:t>Можно переместить (</a:t>
            </a:r>
            <a:r>
              <a:rPr lang="en-US" sz="1400" dirty="0"/>
              <a:t>Movable</a:t>
            </a:r>
            <a:r>
              <a:rPr lang="ru-RU" sz="1400" dirty="0"/>
              <a:t>)</a:t>
            </a:r>
            <a:r>
              <a:rPr lang="en-US" sz="1400" dirty="0"/>
              <a:t>: </a:t>
            </a:r>
            <a:r>
              <a:rPr lang="ru-RU" sz="1400" dirty="0"/>
              <a:t>Объект можно переместить</a:t>
            </a:r>
            <a:r>
              <a:rPr lang="en-US" sz="1400" dirty="0"/>
              <a:t>. </a:t>
            </a:r>
            <a:r>
              <a:rPr lang="ru-RU" sz="1400" dirty="0"/>
              <a:t>Тоесть безопасно </a:t>
            </a:r>
            <a:r>
              <a:rPr lang="en-US" sz="1400" dirty="0"/>
              <a:t>“</a:t>
            </a:r>
            <a:r>
              <a:rPr lang="ru-RU" sz="1400" dirty="0"/>
              <a:t>украсть</a:t>
            </a:r>
            <a:r>
              <a:rPr lang="en-US" sz="1400" dirty="0"/>
              <a:t>”</a:t>
            </a:r>
            <a:r>
              <a:rPr lang="ru-RU" sz="1400" dirty="0"/>
              <a:t> содержимое объекта</a:t>
            </a:r>
            <a:endParaRPr lang="en-US" sz="1400" dirty="0"/>
          </a:p>
        </p:txBody>
      </p:sp>
      <p:sp>
        <p:nvSpPr>
          <p:cNvPr id="24" name="TextBox 23">
            <a:extLst>
              <a:ext uri="{FF2B5EF4-FFF2-40B4-BE49-F238E27FC236}">
                <a16:creationId xmlns:a16="http://schemas.microsoft.com/office/drawing/2014/main" id="{322FA738-5E69-420A-865D-C3939FD46038}"/>
              </a:ext>
            </a:extLst>
          </p:cNvPr>
          <p:cNvSpPr txBox="1"/>
          <p:nvPr/>
        </p:nvSpPr>
        <p:spPr>
          <a:xfrm>
            <a:off x="6729984" y="2828835"/>
            <a:ext cx="3017520" cy="1200329"/>
          </a:xfrm>
          <a:prstGeom prst="rect">
            <a:avLst/>
          </a:prstGeom>
          <a:noFill/>
        </p:spPr>
        <p:txBody>
          <a:bodyPr wrap="square">
            <a:spAutoFit/>
          </a:bodyPr>
          <a:lstStyle/>
          <a:p>
            <a:r>
              <a:rPr lang="en-US" sz="1200" dirty="0">
                <a:solidFill>
                  <a:srgbClr val="000000"/>
                </a:solidFill>
                <a:latin typeface="Cascadia Mono" panose="020B0609020000020004" pitchFamily="49" charset="0"/>
              </a:rPr>
              <a:t>std::</a:t>
            </a:r>
            <a:r>
              <a:rPr lang="en-US" sz="1200" dirty="0">
                <a:solidFill>
                  <a:srgbClr val="2B91AF"/>
                </a:solidFill>
                <a:latin typeface="Cascadia Mono" panose="020B0609020000020004" pitchFamily="49" charset="0"/>
              </a:rPr>
              <a:t>string</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func</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A31515"/>
                </a:solidFill>
                <a:latin typeface="Cascadia Mono" panose="020B0609020000020004" pitchFamily="49" charset="0"/>
              </a:rPr>
              <a:t>"steal me!"</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std::</a:t>
            </a:r>
            <a:r>
              <a:rPr lang="en-US" sz="1200" dirty="0">
                <a:solidFill>
                  <a:srgbClr val="2B91AF"/>
                </a:solidFill>
                <a:latin typeface="Cascadia Mono" panose="020B0609020000020004" pitchFamily="49" charset="0"/>
              </a:rPr>
              <a:t>string</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st</a:t>
            </a:r>
            <a:r>
              <a:rPr lang="en-US" sz="1200" dirty="0">
                <a:solidFill>
                  <a:srgbClr val="000000"/>
                </a:solidFill>
                <a:latin typeface="Cascadia Mono" panose="020B0609020000020004" pitchFamily="49" charset="0"/>
              </a:rPr>
              <a:t> = </a:t>
            </a:r>
            <a:r>
              <a:rPr lang="en-US" sz="1200" dirty="0" err="1">
                <a:solidFill>
                  <a:srgbClr val="000000"/>
                </a:solidFill>
                <a:latin typeface="Cascadia Mono" panose="020B0609020000020004" pitchFamily="49" charset="0"/>
              </a:rPr>
              <a:t>func</a:t>
            </a:r>
            <a:r>
              <a:rPr lang="en-US" sz="1200" dirty="0">
                <a:solidFill>
                  <a:srgbClr val="000000"/>
                </a:solidFill>
                <a:latin typeface="Cascadia Mono" panose="020B0609020000020004" pitchFamily="49" charset="0"/>
              </a:rPr>
              <a:t>();</a:t>
            </a:r>
            <a:endParaRPr lang="en-US" sz="1200" dirty="0"/>
          </a:p>
        </p:txBody>
      </p:sp>
      <p:sp>
        <p:nvSpPr>
          <p:cNvPr id="26" name="TextBox 25">
            <a:extLst>
              <a:ext uri="{FF2B5EF4-FFF2-40B4-BE49-F238E27FC236}">
                <a16:creationId xmlns:a16="http://schemas.microsoft.com/office/drawing/2014/main" id="{831BCC8E-E442-4087-9A75-CB95043C8811}"/>
              </a:ext>
            </a:extLst>
          </p:cNvPr>
          <p:cNvSpPr txBox="1"/>
          <p:nvPr/>
        </p:nvSpPr>
        <p:spPr>
          <a:xfrm>
            <a:off x="1499616" y="2572152"/>
            <a:ext cx="4407408" cy="2123658"/>
          </a:xfrm>
          <a:prstGeom prst="rect">
            <a:avLst/>
          </a:prstGeom>
          <a:noFill/>
        </p:spPr>
        <p:txBody>
          <a:bodyPr wrap="square">
            <a:spAutoFit/>
          </a:bodyPr>
          <a:lstStyle/>
          <a:p>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a:t>
            </a:r>
          </a:p>
          <a:p>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 </a:t>
            </a:r>
            <a:r>
              <a:rPr lang="en-US" sz="1200" dirty="0">
                <a:solidFill>
                  <a:srgbClr val="008000"/>
                </a:solidFill>
                <a:latin typeface="Cascadia Mono" panose="020B0609020000020004" pitchFamily="49" charset="0"/>
              </a:rPr>
              <a:t>// has identity</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42; </a:t>
            </a:r>
            <a:r>
              <a:rPr lang="en-US" sz="1200" dirty="0">
                <a:solidFill>
                  <a:srgbClr val="008000"/>
                </a:solidFill>
                <a:latin typeface="Cascadia Mono" panose="020B0609020000020004" pitchFamily="49" charset="0"/>
              </a:rPr>
              <a:t>// no identity</a:t>
            </a:r>
            <a:endParaRPr lang="en-US" sz="1200" dirty="0">
              <a:solidFill>
                <a:srgbClr val="000000"/>
              </a:solidFill>
              <a:latin typeface="Cascadia Mono" panose="020B0609020000020004" pitchFamily="49" charset="0"/>
            </a:endParaRPr>
          </a:p>
          <a:p>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 + 2; </a:t>
            </a:r>
            <a:r>
              <a:rPr lang="en-US" sz="1200" dirty="0">
                <a:solidFill>
                  <a:srgbClr val="008000"/>
                </a:solidFill>
                <a:latin typeface="Cascadia Mono" panose="020B0609020000020004" pitchFamily="49" charset="0"/>
              </a:rPr>
              <a:t>// no identity</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 </a:t>
            </a:r>
            <a:r>
              <a:rPr lang="en-US" sz="1200" dirty="0">
                <a:solidFill>
                  <a:srgbClr val="008000"/>
                </a:solidFill>
                <a:latin typeface="Cascadia Mono" panose="020B0609020000020004" pitchFamily="49" charset="0"/>
              </a:rPr>
              <a:t>// no </a:t>
            </a:r>
            <a:r>
              <a:rPr lang="en-US" sz="1200" dirty="0" err="1">
                <a:solidFill>
                  <a:srgbClr val="008000"/>
                </a:solidFill>
                <a:latin typeface="Cascadia Mono" panose="020B0609020000020004" pitchFamily="49" charset="0"/>
              </a:rPr>
              <a:t>indentity</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 </a:t>
            </a:r>
            <a:r>
              <a:rPr lang="en-US" sz="1200" dirty="0">
                <a:solidFill>
                  <a:srgbClr val="008000"/>
                </a:solidFill>
                <a:latin typeface="Cascadia Mono" panose="020B0609020000020004" pitchFamily="49" charset="0"/>
              </a:rPr>
              <a:t>// has identity</a:t>
            </a:r>
            <a:endParaRPr lang="en-US" sz="1200" dirty="0">
              <a:solidFill>
                <a:srgbClr val="000000"/>
              </a:solidFill>
              <a:latin typeface="Cascadia Mono" panose="020B0609020000020004" pitchFamily="49" charset="0"/>
            </a:endParaRPr>
          </a:p>
          <a:p>
            <a:endParaRPr lang="en-US" sz="1200" dirty="0">
              <a:solidFill>
                <a:srgbClr val="000000"/>
              </a:solidFill>
              <a:latin typeface="Cascadia Mono" panose="020B0609020000020004" pitchFamily="49" charset="0"/>
            </a:endParaRPr>
          </a:p>
          <a:p>
            <a:r>
              <a:rPr lang="en-US" sz="1200" dirty="0" err="1">
                <a:solidFill>
                  <a:srgbClr val="0000FF"/>
                </a:solidFill>
                <a:latin typeface="Cascadia Mono" panose="020B0609020000020004" pitchFamily="49" charset="0"/>
              </a:rPr>
              <a:t>static_cast</a:t>
            </a:r>
            <a:r>
              <a:rPr lang="en-US" sz="1200" dirty="0">
                <a:solidFill>
                  <a:srgbClr val="000000"/>
                </a:solidFill>
                <a:latin typeface="Cascadia Mono" panose="020B0609020000020004" pitchFamily="49" charset="0"/>
              </a:rPr>
              <a:t>&lt;</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&gt;(a); </a:t>
            </a:r>
            <a:r>
              <a:rPr lang="en-US" sz="1200" dirty="0">
                <a:solidFill>
                  <a:srgbClr val="008000"/>
                </a:solidFill>
                <a:latin typeface="Cascadia Mono" panose="020B0609020000020004" pitchFamily="49" charset="0"/>
              </a:rPr>
              <a:t>// has no identity</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std::move(a); </a:t>
            </a:r>
            <a:r>
              <a:rPr lang="en-US" sz="1200" dirty="0">
                <a:solidFill>
                  <a:srgbClr val="008000"/>
                </a:solidFill>
                <a:latin typeface="Cascadia Mono" panose="020B0609020000020004" pitchFamily="49" charset="0"/>
              </a:rPr>
              <a:t>// has identity</a:t>
            </a:r>
            <a:endParaRPr lang="en-US" sz="1200" dirty="0"/>
          </a:p>
        </p:txBody>
      </p:sp>
    </p:spTree>
    <p:extLst>
      <p:ext uri="{BB962C8B-B14F-4D97-AF65-F5344CB8AC3E}">
        <p14:creationId xmlns:p14="http://schemas.microsoft.com/office/powerpoint/2010/main" val="15759949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Move semantic</a:t>
            </a:r>
          </a:p>
        </p:txBody>
      </p:sp>
      <p:sp>
        <p:nvSpPr>
          <p:cNvPr id="10" name="TextBox 9">
            <a:extLst>
              <a:ext uri="{FF2B5EF4-FFF2-40B4-BE49-F238E27FC236}">
                <a16:creationId xmlns:a16="http://schemas.microsoft.com/office/drawing/2014/main" id="{08C6B765-8A82-4E59-AABB-DB8E41EC96A6}"/>
              </a:ext>
            </a:extLst>
          </p:cNvPr>
          <p:cNvSpPr txBox="1"/>
          <p:nvPr/>
        </p:nvSpPr>
        <p:spPr>
          <a:xfrm>
            <a:off x="707136" y="1837403"/>
            <a:ext cx="4498848" cy="2862322"/>
          </a:xfrm>
          <a:prstGeom prst="rect">
            <a:avLst/>
          </a:prstGeom>
          <a:noFill/>
        </p:spPr>
        <p:txBody>
          <a:bodyPr wrap="square">
            <a:spAutoFit/>
          </a:bodyPr>
          <a:lstStyle/>
          <a:p>
            <a:r>
              <a:rPr lang="en-US" sz="1200" dirty="0">
                <a:solidFill>
                  <a:srgbClr val="0000FF"/>
                </a:solidFill>
                <a:latin typeface="Cascadia Mono" panose="020B0609020000020004" pitchFamily="49" charset="0"/>
              </a:rPr>
              <a:t>template</a:t>
            </a:r>
            <a:r>
              <a:rPr lang="en-US" sz="1200" dirty="0">
                <a:solidFill>
                  <a:srgbClr val="000000"/>
                </a:solidFill>
                <a:latin typeface="Cascadia Mono" panose="020B0609020000020004" pitchFamily="49" charset="0"/>
              </a:rPr>
              <a:t>&lt;</a:t>
            </a:r>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T</a:t>
            </a:r>
            <a:r>
              <a:rPr lang="en-US" sz="1200" dirty="0">
                <a:solidFill>
                  <a:srgbClr val="000000"/>
                </a:solidFill>
                <a:latin typeface="Cascadia Mono" panose="020B0609020000020004" pitchFamily="49" charset="0"/>
              </a:rPr>
              <a:t>&gt; </a:t>
            </a:r>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Vector</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Default Constructor</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Vector();</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Copy Constructor</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Vector(</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&amp; </a:t>
            </a:r>
            <a:r>
              <a:rPr lang="en-US" sz="1200" dirty="0" err="1">
                <a:solidFill>
                  <a:srgbClr val="808080"/>
                </a:solidFill>
                <a:latin typeface="Cascadia Mono" panose="020B0609020000020004" pitchFamily="49" charset="0"/>
              </a:rPr>
              <a:t>arg</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Copy assignment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T</a:t>
            </a:r>
            <a:r>
              <a:rPr lang="en-US" sz="1200" dirty="0">
                <a:solidFill>
                  <a:srgbClr val="000000"/>
                </a:solidFill>
                <a:latin typeface="Cascadia Mono" panose="020B0609020000020004" pitchFamily="49" charset="0"/>
              </a:rPr>
              <a:t>&gt;&amp;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T</a:t>
            </a:r>
            <a:r>
              <a:rPr lang="en-US" sz="1200" dirty="0">
                <a:solidFill>
                  <a:srgbClr val="000000"/>
                </a:solidFill>
                <a:latin typeface="Cascadia Mono" panose="020B0609020000020004" pitchFamily="49" charset="0"/>
              </a:rPr>
              <a:t>&gt;&amp; </a:t>
            </a:r>
            <a:r>
              <a:rPr lang="en-US" sz="1200" dirty="0" err="1">
                <a:solidFill>
                  <a:srgbClr val="808080"/>
                </a:solidFill>
                <a:latin typeface="Cascadia Mono" panose="020B0609020000020004" pitchFamily="49" charset="0"/>
              </a:rPr>
              <a:t>arg</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Move Constructor</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Vector(</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T</a:t>
            </a:r>
            <a:r>
              <a:rPr lang="en-US" sz="1200" dirty="0">
                <a:solidFill>
                  <a:srgbClr val="000000"/>
                </a:solidFill>
                <a:latin typeface="Cascadia Mono" panose="020B0609020000020004" pitchFamily="49" charset="0"/>
              </a:rPr>
              <a:t>&gt;&amp;&amp; </a:t>
            </a:r>
            <a:r>
              <a:rPr lang="en-US" sz="1200" dirty="0" err="1">
                <a:solidFill>
                  <a:srgbClr val="808080"/>
                </a:solidFill>
                <a:latin typeface="Cascadia Mono" panose="020B0609020000020004" pitchFamily="49" charset="0"/>
              </a:rPr>
              <a:t>arg</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Move assignment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T</a:t>
            </a:r>
            <a:r>
              <a:rPr lang="en-US" sz="1200" dirty="0">
                <a:solidFill>
                  <a:srgbClr val="000000"/>
                </a:solidFill>
                <a:latin typeface="Cascadia Mono" panose="020B0609020000020004" pitchFamily="49" charset="0"/>
              </a:rPr>
              <a:t>&gt;&amp;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T</a:t>
            </a:r>
            <a:r>
              <a:rPr lang="en-US" sz="1200" dirty="0">
                <a:solidFill>
                  <a:srgbClr val="000000"/>
                </a:solidFill>
                <a:latin typeface="Cascadia Mono" panose="020B0609020000020004" pitchFamily="49" charset="0"/>
              </a:rPr>
              <a:t>&gt;</a:t>
            </a:r>
            <a:r>
              <a:rPr lang="en-US" sz="1200" dirty="0">
                <a:solidFill>
                  <a:srgbClr val="C00000"/>
                </a:solidFill>
                <a:latin typeface="Cascadia Mono" panose="020B0609020000020004" pitchFamily="49" charset="0"/>
              </a:rPr>
              <a:t>&amp;&amp;</a:t>
            </a:r>
            <a:r>
              <a:rPr lang="en-US" sz="1200" dirty="0">
                <a:solidFill>
                  <a:srgbClr val="000000"/>
                </a:solidFill>
                <a:latin typeface="Cascadia Mono" panose="020B0609020000020004" pitchFamily="49" charset="0"/>
              </a:rPr>
              <a:t> </a:t>
            </a:r>
            <a:r>
              <a:rPr lang="en-US" sz="1200" dirty="0" err="1">
                <a:solidFill>
                  <a:srgbClr val="808080"/>
                </a:solidFill>
                <a:latin typeface="Cascadia Mono" panose="020B0609020000020004" pitchFamily="49" charset="0"/>
              </a:rPr>
              <a:t>arg</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Destructor</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~Vector();</a:t>
            </a:r>
          </a:p>
          <a:p>
            <a:r>
              <a:rPr lang="en-US" sz="1200" dirty="0">
                <a:solidFill>
                  <a:srgbClr val="000000"/>
                </a:solidFill>
                <a:latin typeface="Cascadia Mono" panose="020B0609020000020004" pitchFamily="49" charset="0"/>
              </a:rPr>
              <a:t>};</a:t>
            </a:r>
          </a:p>
        </p:txBody>
      </p:sp>
      <p:cxnSp>
        <p:nvCxnSpPr>
          <p:cNvPr id="13" name="Straight Arrow Connector 12">
            <a:extLst>
              <a:ext uri="{FF2B5EF4-FFF2-40B4-BE49-F238E27FC236}">
                <a16:creationId xmlns:a16="http://schemas.microsoft.com/office/drawing/2014/main" id="{C924C762-F8EE-49F7-B8E5-457F95538A08}"/>
              </a:ext>
            </a:extLst>
          </p:cNvPr>
          <p:cNvCxnSpPr>
            <a:cxnSpLocks/>
          </p:cNvCxnSpPr>
          <p:nvPr/>
        </p:nvCxnSpPr>
        <p:spPr>
          <a:xfrm flipH="1">
            <a:off x="4620768" y="3767328"/>
            <a:ext cx="1901952" cy="1584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BBBCD1D-521A-4846-96DE-FD9769819D59}"/>
              </a:ext>
            </a:extLst>
          </p:cNvPr>
          <p:cNvSpPr txBox="1"/>
          <p:nvPr/>
        </p:nvSpPr>
        <p:spPr>
          <a:xfrm>
            <a:off x="6096000" y="3059668"/>
            <a:ext cx="4456176" cy="1015663"/>
          </a:xfrm>
          <a:prstGeom prst="rect">
            <a:avLst/>
          </a:prstGeom>
          <a:noFill/>
        </p:spPr>
        <p:txBody>
          <a:bodyPr wrap="square">
            <a:spAutoFit/>
          </a:bodyPr>
          <a:lstStyle/>
          <a:p>
            <a:r>
              <a:rPr lang="en-US" sz="1200" dirty="0">
                <a:solidFill>
                  <a:srgbClr val="000000"/>
                </a:solidFill>
                <a:latin typeface="Cascadia Mono" panose="020B0609020000020004" pitchFamily="49" charset="0"/>
              </a:rPr>
              <a:t>std::</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&lt;</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&gt; v2{}; </a:t>
            </a:r>
            <a:r>
              <a:rPr lang="en-US" sz="1200" dirty="0">
                <a:solidFill>
                  <a:srgbClr val="008000"/>
                </a:solidFill>
                <a:latin typeface="Cascadia Mono" panose="020B0609020000020004" pitchFamily="49" charset="0"/>
              </a:rPr>
              <a:t>// default constructor</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std::vector&lt;</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&gt; v1{ 1, 2, 3, 4, 5 };</a:t>
            </a:r>
          </a:p>
          <a:p>
            <a:r>
              <a:rPr lang="en-US" sz="1200" dirty="0">
                <a:solidFill>
                  <a:srgbClr val="000000"/>
                </a:solidFill>
                <a:latin typeface="Cascadia Mono" panose="020B0609020000020004" pitchFamily="49" charset="0"/>
              </a:rPr>
              <a:t>    v2 = std::move(v1);</a:t>
            </a:r>
          </a:p>
          <a:p>
            <a:r>
              <a:rPr lang="en-US" sz="1200" dirty="0">
                <a:solidFill>
                  <a:srgbClr val="000000"/>
                </a:solidFill>
                <a:latin typeface="Cascadia Mono" panose="020B0609020000020004" pitchFamily="49" charset="0"/>
              </a:rPr>
              <a:t>}</a:t>
            </a:r>
            <a:endParaRPr lang="en-US" sz="1200" dirty="0"/>
          </a:p>
        </p:txBody>
      </p:sp>
      <p:cxnSp>
        <p:nvCxnSpPr>
          <p:cNvPr id="18" name="Straight Arrow Connector 17">
            <a:extLst>
              <a:ext uri="{FF2B5EF4-FFF2-40B4-BE49-F238E27FC236}">
                <a16:creationId xmlns:a16="http://schemas.microsoft.com/office/drawing/2014/main" id="{F4557F28-60BA-4EA8-9490-691C1554671F}"/>
              </a:ext>
            </a:extLst>
          </p:cNvPr>
          <p:cNvCxnSpPr>
            <a:cxnSpLocks/>
          </p:cNvCxnSpPr>
          <p:nvPr/>
        </p:nvCxnSpPr>
        <p:spPr>
          <a:xfrm flipH="1">
            <a:off x="2176272" y="4075331"/>
            <a:ext cx="4059936" cy="2894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A37EB0A-804C-4EB0-9275-C38A93AD1B09}"/>
              </a:ext>
            </a:extLst>
          </p:cNvPr>
          <p:cNvSpPr txBox="1"/>
          <p:nvPr/>
        </p:nvSpPr>
        <p:spPr>
          <a:xfrm>
            <a:off x="6096000" y="4045375"/>
            <a:ext cx="6096000" cy="276999"/>
          </a:xfrm>
          <a:prstGeom prst="rect">
            <a:avLst/>
          </a:prstGeom>
          <a:noFill/>
        </p:spPr>
        <p:txBody>
          <a:bodyPr wrap="square">
            <a:spAutoFit/>
          </a:bodyPr>
          <a:lstStyle/>
          <a:p>
            <a:r>
              <a:rPr lang="en-US" sz="1200" dirty="0">
                <a:solidFill>
                  <a:srgbClr val="008000"/>
                </a:solidFill>
                <a:latin typeface="Cascadia Mono" panose="020B0609020000020004" pitchFamily="49" charset="0"/>
              </a:rPr>
              <a:t>// …</a:t>
            </a:r>
            <a:endParaRPr lang="en-US" sz="1200" dirty="0"/>
          </a:p>
        </p:txBody>
      </p:sp>
      <p:sp>
        <p:nvSpPr>
          <p:cNvPr id="24" name="TextBox 23">
            <a:extLst>
              <a:ext uri="{FF2B5EF4-FFF2-40B4-BE49-F238E27FC236}">
                <a16:creationId xmlns:a16="http://schemas.microsoft.com/office/drawing/2014/main" id="{060783ED-9926-4C22-9525-EFBC9381C625}"/>
              </a:ext>
            </a:extLst>
          </p:cNvPr>
          <p:cNvSpPr txBox="1"/>
          <p:nvPr/>
        </p:nvSpPr>
        <p:spPr>
          <a:xfrm>
            <a:off x="2176272" y="4819276"/>
            <a:ext cx="8119872" cy="307777"/>
          </a:xfrm>
          <a:prstGeom prst="rect">
            <a:avLst/>
          </a:prstGeom>
          <a:noFill/>
        </p:spPr>
        <p:txBody>
          <a:bodyPr wrap="square">
            <a:spAutoFit/>
          </a:bodyPr>
          <a:lstStyle/>
          <a:p>
            <a:r>
              <a:rPr lang="ru-RU" sz="1400" dirty="0"/>
              <a:t>После перемещения объект должен оставаться в валидном состоянии</a:t>
            </a:r>
          </a:p>
        </p:txBody>
      </p:sp>
    </p:spTree>
    <p:extLst>
      <p:ext uri="{BB962C8B-B14F-4D97-AF65-F5344CB8AC3E}">
        <p14:creationId xmlns:p14="http://schemas.microsoft.com/office/powerpoint/2010/main" val="41683177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std::move</a:t>
            </a:r>
          </a:p>
        </p:txBody>
      </p:sp>
      <p:sp>
        <p:nvSpPr>
          <p:cNvPr id="11" name="TextBox 10">
            <a:extLst>
              <a:ext uri="{FF2B5EF4-FFF2-40B4-BE49-F238E27FC236}">
                <a16:creationId xmlns:a16="http://schemas.microsoft.com/office/drawing/2014/main" id="{2AFB4E05-58C8-4844-99B4-2143B904FF36}"/>
              </a:ext>
            </a:extLst>
          </p:cNvPr>
          <p:cNvSpPr txBox="1"/>
          <p:nvPr/>
        </p:nvSpPr>
        <p:spPr>
          <a:xfrm>
            <a:off x="658368" y="1500646"/>
            <a:ext cx="9144000" cy="830997"/>
          </a:xfrm>
          <a:prstGeom prst="rect">
            <a:avLst/>
          </a:prstGeom>
          <a:noFill/>
        </p:spPr>
        <p:txBody>
          <a:bodyPr wrap="square">
            <a:spAutoFit/>
          </a:bodyPr>
          <a:lstStyle/>
          <a:p>
            <a:r>
              <a:rPr lang="en-US" sz="1200" dirty="0">
                <a:solidFill>
                  <a:srgbClr val="0000FF"/>
                </a:solidFill>
                <a:latin typeface="Cascadia Mono" panose="020B0609020000020004" pitchFamily="49" charset="0"/>
              </a:rPr>
              <a:t>template</a:t>
            </a:r>
            <a:r>
              <a:rPr lang="en-US" sz="1200" dirty="0">
                <a:solidFill>
                  <a:srgbClr val="000000"/>
                </a:solidFill>
                <a:latin typeface="Cascadia Mono" panose="020B0609020000020004" pitchFamily="49" charset="0"/>
              </a:rPr>
              <a:t> &lt;</a:t>
            </a:r>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T</a:t>
            </a:r>
            <a:r>
              <a:rPr lang="en-US" sz="1200" dirty="0">
                <a:solidFill>
                  <a:srgbClr val="000000"/>
                </a:solidFill>
                <a:latin typeface="Cascadia Mono" panose="020B0609020000020004" pitchFamily="49" charset="0"/>
              </a:rPr>
              <a:t>&gt;</a:t>
            </a:r>
          </a:p>
          <a:p>
            <a:r>
              <a:rPr lang="en-US" sz="1200" dirty="0" err="1">
                <a:solidFill>
                  <a:srgbClr val="2B91AF"/>
                </a:solidFill>
                <a:latin typeface="Cascadia Mono" panose="020B0609020000020004" pitchFamily="49" charset="0"/>
              </a:rPr>
              <a:t>remove_reference_t</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T</a:t>
            </a:r>
            <a:r>
              <a:rPr lang="en-US" sz="1200" dirty="0">
                <a:solidFill>
                  <a:srgbClr val="000000"/>
                </a:solidFill>
                <a:latin typeface="Cascadia Mono" panose="020B0609020000020004" pitchFamily="49" charset="0"/>
              </a:rPr>
              <a:t>&gt;&amp;&amp; move(</a:t>
            </a:r>
            <a:r>
              <a:rPr lang="en-US" sz="1200" dirty="0">
                <a:solidFill>
                  <a:srgbClr val="2B91AF"/>
                </a:solidFill>
                <a:latin typeface="Cascadia Mono" panose="020B0609020000020004" pitchFamily="49" charset="0"/>
              </a:rPr>
              <a:t>T</a:t>
            </a:r>
            <a:r>
              <a:rPr lang="en-US" sz="1200" dirty="0">
                <a:solidFill>
                  <a:srgbClr val="000000"/>
                </a:solidFill>
                <a:latin typeface="Cascadia Mono" panose="020B0609020000020004" pitchFamily="49" charset="0"/>
              </a:rPr>
              <a:t>&amp;&amp; </a:t>
            </a:r>
            <a:r>
              <a:rPr lang="en-US" sz="1200" dirty="0">
                <a:solidFill>
                  <a:srgbClr val="808080"/>
                </a:solidFill>
                <a:latin typeface="Cascadia Mono" panose="020B0609020000020004" pitchFamily="49" charset="0"/>
              </a:rPr>
              <a:t>_Arg</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err="1">
                <a:solidFill>
                  <a:srgbClr val="0000FF"/>
                </a:solidFill>
                <a:latin typeface="Cascadia Mono" panose="020B0609020000020004" pitchFamily="49" charset="0"/>
              </a:rPr>
              <a:t>static_cast</a:t>
            </a:r>
            <a:r>
              <a:rPr lang="en-US" sz="1200" dirty="0">
                <a:solidFill>
                  <a:srgbClr val="000000"/>
                </a:solidFill>
                <a:latin typeface="Cascadia Mono" panose="020B0609020000020004" pitchFamily="49" charset="0"/>
              </a:rPr>
              <a:t>&lt;</a:t>
            </a:r>
            <a:r>
              <a:rPr lang="en-US" sz="1200" dirty="0" err="1">
                <a:solidFill>
                  <a:srgbClr val="2B91AF"/>
                </a:solidFill>
                <a:latin typeface="Cascadia Mono" panose="020B0609020000020004" pitchFamily="49" charset="0"/>
              </a:rPr>
              <a:t>remove_reference_t</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T</a:t>
            </a:r>
            <a:r>
              <a:rPr lang="en-US" sz="1200" dirty="0">
                <a:solidFill>
                  <a:srgbClr val="000000"/>
                </a:solidFill>
                <a:latin typeface="Cascadia Mono" panose="020B0609020000020004" pitchFamily="49" charset="0"/>
              </a:rPr>
              <a:t>&gt;&amp;&amp;&gt;(</a:t>
            </a:r>
            <a:r>
              <a:rPr lang="en-US" sz="1200" dirty="0">
                <a:solidFill>
                  <a:srgbClr val="808080"/>
                </a:solidFill>
                <a:latin typeface="Cascadia Mono" panose="020B0609020000020004" pitchFamily="49" charset="0"/>
              </a:rPr>
              <a:t>_Arg</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p:txBody>
      </p:sp>
      <p:sp>
        <p:nvSpPr>
          <p:cNvPr id="12" name="TextBox 11">
            <a:extLst>
              <a:ext uri="{FF2B5EF4-FFF2-40B4-BE49-F238E27FC236}">
                <a16:creationId xmlns:a16="http://schemas.microsoft.com/office/drawing/2014/main" id="{42B0F2B1-ECB2-48D9-A56A-168BEEA02F9C}"/>
              </a:ext>
            </a:extLst>
          </p:cNvPr>
          <p:cNvSpPr txBox="1"/>
          <p:nvPr/>
        </p:nvSpPr>
        <p:spPr>
          <a:xfrm>
            <a:off x="658368" y="2474893"/>
            <a:ext cx="8119872" cy="307777"/>
          </a:xfrm>
          <a:prstGeom prst="rect">
            <a:avLst/>
          </a:prstGeom>
          <a:noFill/>
        </p:spPr>
        <p:txBody>
          <a:bodyPr wrap="square">
            <a:spAutoFit/>
          </a:bodyPr>
          <a:lstStyle/>
          <a:p>
            <a:r>
              <a:rPr lang="en-US" sz="1400" dirty="0"/>
              <a:t>std::move </a:t>
            </a:r>
            <a:r>
              <a:rPr lang="ru-RU" sz="1400" dirty="0"/>
              <a:t>– ничего не перемещает, это пометка для компилятора, что объект можно переместить</a:t>
            </a:r>
          </a:p>
        </p:txBody>
      </p:sp>
      <p:sp>
        <p:nvSpPr>
          <p:cNvPr id="14" name="TextBox 13">
            <a:extLst>
              <a:ext uri="{FF2B5EF4-FFF2-40B4-BE49-F238E27FC236}">
                <a16:creationId xmlns:a16="http://schemas.microsoft.com/office/drawing/2014/main" id="{90E1DD3F-4848-49A5-8A6A-56D0C4BF76E2}"/>
              </a:ext>
            </a:extLst>
          </p:cNvPr>
          <p:cNvSpPr txBox="1"/>
          <p:nvPr/>
        </p:nvSpPr>
        <p:spPr>
          <a:xfrm>
            <a:off x="658368" y="2788683"/>
            <a:ext cx="8119872" cy="307777"/>
          </a:xfrm>
          <a:prstGeom prst="rect">
            <a:avLst/>
          </a:prstGeom>
          <a:noFill/>
        </p:spPr>
        <p:txBody>
          <a:bodyPr wrap="square">
            <a:spAutoFit/>
          </a:bodyPr>
          <a:lstStyle/>
          <a:p>
            <a:r>
              <a:rPr lang="en-US" sz="1400" dirty="0"/>
              <a:t>C++ </a:t>
            </a:r>
            <a:r>
              <a:rPr lang="ru-RU" sz="1400" dirty="0"/>
              <a:t>Контейнеры из </a:t>
            </a:r>
            <a:r>
              <a:rPr lang="en-US" sz="1400" dirty="0"/>
              <a:t>std </a:t>
            </a:r>
            <a:r>
              <a:rPr lang="ru-RU" sz="1400" dirty="0"/>
              <a:t>использую</a:t>
            </a:r>
            <a:r>
              <a:rPr lang="en-US" sz="1400" dirty="0"/>
              <a:t>n move </a:t>
            </a:r>
            <a:r>
              <a:rPr lang="ru-RU" sz="1400" dirty="0"/>
              <a:t>семантику</a:t>
            </a:r>
          </a:p>
        </p:txBody>
      </p:sp>
      <p:sp>
        <p:nvSpPr>
          <p:cNvPr id="16" name="TextBox 15">
            <a:extLst>
              <a:ext uri="{FF2B5EF4-FFF2-40B4-BE49-F238E27FC236}">
                <a16:creationId xmlns:a16="http://schemas.microsoft.com/office/drawing/2014/main" id="{E838EB91-EE9C-4CD5-82F6-7FBDA3F42C7C}"/>
              </a:ext>
            </a:extLst>
          </p:cNvPr>
          <p:cNvSpPr txBox="1"/>
          <p:nvPr/>
        </p:nvSpPr>
        <p:spPr>
          <a:xfrm>
            <a:off x="658368" y="3197115"/>
            <a:ext cx="6589776" cy="307777"/>
          </a:xfrm>
          <a:prstGeom prst="rect">
            <a:avLst/>
          </a:prstGeom>
          <a:noFill/>
        </p:spPr>
        <p:txBody>
          <a:bodyPr wrap="square">
            <a:spAutoFit/>
          </a:bodyPr>
          <a:lstStyle/>
          <a:p>
            <a:r>
              <a:rPr lang="en-US" sz="1400" dirty="0"/>
              <a:t>CPP Core Guidelines</a:t>
            </a:r>
            <a:r>
              <a:rPr lang="ru-RU" sz="1400" dirty="0"/>
              <a:t> – стараться использовать </a:t>
            </a:r>
            <a:r>
              <a:rPr lang="en-US" sz="1400" dirty="0"/>
              <a:t>default </a:t>
            </a:r>
            <a:r>
              <a:rPr lang="ru-RU" sz="1400" dirty="0"/>
              <a:t>операции по возможности   </a:t>
            </a:r>
          </a:p>
        </p:txBody>
      </p:sp>
      <p:sp>
        <p:nvSpPr>
          <p:cNvPr id="17" name="TextBox 16">
            <a:extLst>
              <a:ext uri="{FF2B5EF4-FFF2-40B4-BE49-F238E27FC236}">
                <a16:creationId xmlns:a16="http://schemas.microsoft.com/office/drawing/2014/main" id="{F0B9718E-7564-4187-A4EB-60DE2F4DE2D7}"/>
              </a:ext>
            </a:extLst>
          </p:cNvPr>
          <p:cNvSpPr txBox="1"/>
          <p:nvPr/>
        </p:nvSpPr>
        <p:spPr>
          <a:xfrm>
            <a:off x="658368" y="3429000"/>
            <a:ext cx="6096000" cy="830997"/>
          </a:xfrm>
          <a:prstGeom prst="rect">
            <a:avLst/>
          </a:prstGeom>
          <a:noFill/>
        </p:spPr>
        <p:txBody>
          <a:bodyPr wrap="square">
            <a:spAutoFit/>
          </a:bodyPr>
          <a:lstStyle/>
          <a:p>
            <a:r>
              <a:rPr lang="en-US" sz="1200" dirty="0">
                <a:solidFill>
                  <a:srgbClr val="0000FF"/>
                </a:solidFill>
                <a:latin typeface="Cascadia Mono" panose="020B0609020000020004" pitchFamily="49" charset="0"/>
              </a:rPr>
              <a:t>struct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TrivialStruct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 = 0;</a:t>
            </a:r>
          </a:p>
          <a:p>
            <a:r>
              <a:rPr lang="en-US" sz="120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28381509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Return value optimization</a:t>
            </a:r>
          </a:p>
        </p:txBody>
      </p:sp>
      <p:sp>
        <p:nvSpPr>
          <p:cNvPr id="9" name="TextBox 8">
            <a:extLst>
              <a:ext uri="{FF2B5EF4-FFF2-40B4-BE49-F238E27FC236}">
                <a16:creationId xmlns:a16="http://schemas.microsoft.com/office/drawing/2014/main" id="{C75ECB4E-4FBF-44FF-BE07-6534C48FAD16}"/>
              </a:ext>
            </a:extLst>
          </p:cNvPr>
          <p:cNvSpPr txBox="1"/>
          <p:nvPr/>
        </p:nvSpPr>
        <p:spPr>
          <a:xfrm>
            <a:off x="682752" y="1574768"/>
            <a:ext cx="6096000" cy="830997"/>
          </a:xfrm>
          <a:prstGeom prst="rect">
            <a:avLst/>
          </a:prstGeom>
          <a:noFill/>
        </p:spPr>
        <p:txBody>
          <a:bodyPr wrap="square">
            <a:spAutoFit/>
          </a:bodyPr>
          <a:lstStyle/>
          <a:p>
            <a:r>
              <a:rPr lang="en-US" sz="1200" dirty="0">
                <a:solidFill>
                  <a:srgbClr val="000000"/>
                </a:solidFill>
                <a:latin typeface="Cascadia Mono" panose="020B0609020000020004" pitchFamily="49" charset="0"/>
              </a:rPr>
              <a:t>std::</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&lt;</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&gt; </a:t>
            </a:r>
            <a:r>
              <a:rPr lang="en-US" sz="1200" dirty="0" err="1">
                <a:solidFill>
                  <a:srgbClr val="000000"/>
                </a:solidFill>
                <a:latin typeface="Cascadia Mono" panose="020B0609020000020004" pitchFamily="49" charset="0"/>
              </a:rPr>
              <a:t>createVector</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a:solidFill>
                  <a:srgbClr val="C00000"/>
                </a:solidFill>
                <a:latin typeface="Cascadia Mono" panose="020B0609020000020004" pitchFamily="49" charset="0"/>
              </a:rPr>
              <a:t>std::move</a:t>
            </a:r>
            <a:r>
              <a:rPr lang="en-US" sz="1200" dirty="0">
                <a:solidFill>
                  <a:srgbClr val="000000"/>
                </a:solidFill>
                <a:latin typeface="Cascadia Mono" panose="020B0609020000020004" pitchFamily="49" charset="0"/>
              </a:rPr>
              <a:t>(std::</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&lt;</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&gt;{ 1, 2, 3, 4, 5 });</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std::</a:t>
            </a:r>
            <a:r>
              <a:rPr lang="en-US" sz="1200" dirty="0">
                <a:solidFill>
                  <a:srgbClr val="2B91AF"/>
                </a:solidFill>
                <a:latin typeface="Cascadia Mono" panose="020B0609020000020004" pitchFamily="49" charset="0"/>
              </a:rPr>
              <a:t>vector</a:t>
            </a:r>
            <a:r>
              <a:rPr lang="en-US" sz="1200" dirty="0">
                <a:solidFill>
                  <a:srgbClr val="000000"/>
                </a:solidFill>
                <a:latin typeface="Cascadia Mono" panose="020B0609020000020004" pitchFamily="49" charset="0"/>
              </a:rPr>
              <a:t>&lt;</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&gt; v2{};</a:t>
            </a:r>
            <a:endParaRPr lang="en-US" sz="1200" dirty="0"/>
          </a:p>
        </p:txBody>
      </p:sp>
      <p:sp>
        <p:nvSpPr>
          <p:cNvPr id="10" name="TextBox 9">
            <a:extLst>
              <a:ext uri="{FF2B5EF4-FFF2-40B4-BE49-F238E27FC236}">
                <a16:creationId xmlns:a16="http://schemas.microsoft.com/office/drawing/2014/main" id="{366B88CF-A533-4C90-AD28-3C417B71C5D3}"/>
              </a:ext>
            </a:extLst>
          </p:cNvPr>
          <p:cNvSpPr txBox="1"/>
          <p:nvPr/>
        </p:nvSpPr>
        <p:spPr>
          <a:xfrm>
            <a:off x="682752" y="2793297"/>
            <a:ext cx="8119872" cy="307777"/>
          </a:xfrm>
          <a:prstGeom prst="rect">
            <a:avLst/>
          </a:prstGeom>
          <a:noFill/>
        </p:spPr>
        <p:txBody>
          <a:bodyPr wrap="square">
            <a:spAutoFit/>
          </a:bodyPr>
          <a:lstStyle/>
          <a:p>
            <a:r>
              <a:rPr lang="ru-RU" sz="1400" dirty="0"/>
              <a:t>Комплятор С++ не будет использовать </a:t>
            </a:r>
            <a:r>
              <a:rPr lang="en-US" sz="1400" dirty="0"/>
              <a:t>ROV</a:t>
            </a:r>
            <a:endParaRPr lang="ru-RU" sz="1400" dirty="0"/>
          </a:p>
        </p:txBody>
      </p:sp>
      <p:sp>
        <p:nvSpPr>
          <p:cNvPr id="13" name="TextBox 12">
            <a:extLst>
              <a:ext uri="{FF2B5EF4-FFF2-40B4-BE49-F238E27FC236}">
                <a16:creationId xmlns:a16="http://schemas.microsoft.com/office/drawing/2014/main" id="{7B320C21-33F4-4575-AC8A-6D04166EBF72}"/>
              </a:ext>
            </a:extLst>
          </p:cNvPr>
          <p:cNvSpPr txBox="1"/>
          <p:nvPr/>
        </p:nvSpPr>
        <p:spPr>
          <a:xfrm>
            <a:off x="682752" y="2322531"/>
            <a:ext cx="6096000" cy="276999"/>
          </a:xfrm>
          <a:prstGeom prst="rect">
            <a:avLst/>
          </a:prstGeom>
          <a:noFill/>
        </p:spPr>
        <p:txBody>
          <a:bodyPr wrap="square">
            <a:spAutoFit/>
          </a:bodyPr>
          <a:lstStyle/>
          <a:p>
            <a:r>
              <a:rPr lang="en-US" sz="1200" dirty="0">
                <a:solidFill>
                  <a:srgbClr val="000000"/>
                </a:solidFill>
                <a:latin typeface="Cascadia Mono" panose="020B0609020000020004" pitchFamily="49" charset="0"/>
              </a:rPr>
              <a:t>v2 = </a:t>
            </a:r>
            <a:r>
              <a:rPr lang="en-US" sz="1200" dirty="0" err="1">
                <a:solidFill>
                  <a:srgbClr val="000000"/>
                </a:solidFill>
                <a:latin typeface="Cascadia Mono" panose="020B0609020000020004" pitchFamily="49" charset="0"/>
              </a:rPr>
              <a:t>createVector</a:t>
            </a:r>
            <a:r>
              <a:rPr lang="en-US" sz="1200" dirty="0">
                <a:solidFill>
                  <a:srgbClr val="000000"/>
                </a:solidFill>
                <a:latin typeface="Cascadia Mono" panose="020B0609020000020004" pitchFamily="49" charset="0"/>
              </a:rPr>
              <a:t>();</a:t>
            </a:r>
            <a:endParaRPr lang="en-US" sz="1200" dirty="0"/>
          </a:p>
        </p:txBody>
      </p:sp>
    </p:spTree>
    <p:extLst>
      <p:ext uri="{BB962C8B-B14F-4D97-AF65-F5344CB8AC3E}">
        <p14:creationId xmlns:p14="http://schemas.microsoft.com/office/powerpoint/2010/main" val="18711941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Smart pointers</a:t>
            </a:r>
          </a:p>
        </p:txBody>
      </p:sp>
      <p:sp>
        <p:nvSpPr>
          <p:cNvPr id="14" name="TextBox 13">
            <a:extLst>
              <a:ext uri="{FF2B5EF4-FFF2-40B4-BE49-F238E27FC236}">
                <a16:creationId xmlns:a16="http://schemas.microsoft.com/office/drawing/2014/main" id="{E0BC6F01-56F9-4369-BBCA-497638609931}"/>
              </a:ext>
            </a:extLst>
          </p:cNvPr>
          <p:cNvSpPr txBox="1"/>
          <p:nvPr/>
        </p:nvSpPr>
        <p:spPr>
          <a:xfrm>
            <a:off x="521207" y="1252181"/>
            <a:ext cx="6903243" cy="1384995"/>
          </a:xfrm>
          <a:prstGeom prst="rect">
            <a:avLst/>
          </a:prstGeom>
          <a:noFill/>
        </p:spPr>
        <p:txBody>
          <a:bodyPr wrap="square">
            <a:spAutoFit/>
          </a:bodyPr>
          <a:lstStyle/>
          <a:p>
            <a:r>
              <a:rPr lang="en-US" sz="1400" dirty="0"/>
              <a:t>std::</a:t>
            </a:r>
            <a:r>
              <a:rPr lang="en-US" sz="1400" dirty="0" err="1"/>
              <a:t>unique_ptr</a:t>
            </a:r>
            <a:r>
              <a:rPr lang="en-US" sz="1400" dirty="0"/>
              <a:t> </a:t>
            </a:r>
            <a:r>
              <a:rPr lang="ru-RU" sz="1400" dirty="0"/>
              <a:t>–</a:t>
            </a:r>
            <a:r>
              <a:rPr lang="en-US" sz="1400" dirty="0"/>
              <a:t> </a:t>
            </a:r>
            <a:r>
              <a:rPr lang="ru-RU" sz="1400" dirty="0"/>
              <a:t>предоставляет семантику строгого владения</a:t>
            </a:r>
            <a:r>
              <a:rPr lang="en-US" sz="1400" dirty="0"/>
              <a:t>:</a:t>
            </a:r>
          </a:p>
          <a:p>
            <a:pPr marL="285750" indent="-285750">
              <a:buFont typeface="Arial" panose="020B0604020202020204" pitchFamily="34" charset="0"/>
              <a:buChar char="•"/>
            </a:pPr>
            <a:r>
              <a:rPr lang="en-US" sz="1400" dirty="0" err="1"/>
              <a:t>unique_ptr</a:t>
            </a:r>
            <a:r>
              <a:rPr lang="en-US" sz="1400" dirty="0"/>
              <a:t> – </a:t>
            </a:r>
            <a:r>
              <a:rPr lang="ru-RU" sz="1400" dirty="0"/>
              <a:t>владеет объектом на который указывает указатель, те его обязаность входит удаление объекта</a:t>
            </a:r>
          </a:p>
          <a:p>
            <a:pPr marL="285750" indent="-285750">
              <a:buFont typeface="Arial" panose="020B0604020202020204" pitchFamily="34" charset="0"/>
              <a:buChar char="•"/>
            </a:pPr>
            <a:r>
              <a:rPr lang="en-US" sz="1400" dirty="0" err="1"/>
              <a:t>unique_ptr</a:t>
            </a:r>
            <a:r>
              <a:rPr lang="ru-RU" sz="1400" dirty="0"/>
              <a:t> нельзя скопировать</a:t>
            </a:r>
          </a:p>
          <a:p>
            <a:pPr marL="285750" indent="-285750">
              <a:buFont typeface="Arial" panose="020B0604020202020204" pitchFamily="34" charset="0"/>
              <a:buChar char="•"/>
            </a:pPr>
            <a:r>
              <a:rPr lang="ru-RU" sz="1400" dirty="0"/>
              <a:t>Подходит для того чтобы возвращать динамическую память из функции</a:t>
            </a:r>
          </a:p>
          <a:p>
            <a:pPr marL="285750" indent="-285750">
              <a:buFont typeface="Arial" panose="020B0604020202020204" pitchFamily="34" charset="0"/>
              <a:buChar char="•"/>
            </a:pPr>
            <a:r>
              <a:rPr lang="ru-RU" sz="1400" dirty="0"/>
              <a:t>Можно хранить в контейнере</a:t>
            </a:r>
          </a:p>
        </p:txBody>
      </p:sp>
      <p:sp>
        <p:nvSpPr>
          <p:cNvPr id="15" name="TextBox 14">
            <a:extLst>
              <a:ext uri="{FF2B5EF4-FFF2-40B4-BE49-F238E27FC236}">
                <a16:creationId xmlns:a16="http://schemas.microsoft.com/office/drawing/2014/main" id="{681F1806-0600-486F-897B-F836D2A5E4B0}"/>
              </a:ext>
            </a:extLst>
          </p:cNvPr>
          <p:cNvSpPr txBox="1"/>
          <p:nvPr/>
        </p:nvSpPr>
        <p:spPr>
          <a:xfrm>
            <a:off x="521207" y="2892087"/>
            <a:ext cx="6097190" cy="1938992"/>
          </a:xfrm>
          <a:prstGeom prst="rect">
            <a:avLst/>
          </a:prstGeom>
          <a:noFill/>
        </p:spPr>
        <p:txBody>
          <a:bodyPr wrap="square">
            <a:spAutoFit/>
          </a:bodyPr>
          <a:lstStyle/>
          <a:p>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big_obj_user</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std::</a:t>
            </a:r>
            <a:r>
              <a:rPr lang="en-US" sz="1200" dirty="0" err="1">
                <a:solidFill>
                  <a:srgbClr val="2B91AF"/>
                </a:solidFill>
                <a:latin typeface="Cascadia Mono" panose="020B0609020000020004" pitchFamily="49" charset="0"/>
              </a:rPr>
              <a:t>unique_ptr</a:t>
            </a:r>
            <a:r>
              <a:rPr lang="en-US" sz="1200" dirty="0">
                <a:solidFill>
                  <a:srgbClr val="000000"/>
                </a:solidFill>
                <a:latin typeface="Cascadia Mono" panose="020B0609020000020004" pitchFamily="49" charset="0"/>
              </a:rPr>
              <a:t>&lt;</a:t>
            </a:r>
            <a:r>
              <a:rPr lang="en-US" sz="1200" dirty="0" err="1">
                <a:solidFill>
                  <a:srgbClr val="2B91AF"/>
                </a:solidFill>
                <a:latin typeface="Cascadia Mono" panose="020B0609020000020004" pitchFamily="49" charset="0"/>
              </a:rPr>
              <a:t>MyBigObject</a:t>
            </a:r>
            <a:r>
              <a:rPr lang="en-US" sz="1200" dirty="0">
                <a:solidFill>
                  <a:srgbClr val="000000"/>
                </a:solidFill>
                <a:latin typeface="Cascadia Mono" panose="020B0609020000020004" pitchFamily="49" charset="0"/>
              </a:rPr>
              <a:t>&gt; </a:t>
            </a:r>
            <a:r>
              <a:rPr lang="en-US" sz="1200" dirty="0" err="1">
                <a:solidFill>
                  <a:srgbClr val="000000"/>
                </a:solidFill>
                <a:latin typeface="Cascadia Mono" panose="020B0609020000020004" pitchFamily="49" charset="0"/>
              </a:rPr>
              <a:t>my_big_obj</a:t>
            </a:r>
            <a:r>
              <a:rPr lang="en-US" sz="1200" dirty="0">
                <a:solidFill>
                  <a:srgbClr val="000000"/>
                </a:solidFill>
                <a:latin typeface="Cascadia Mono" panose="020B0609020000020004" pitchFamily="49" charset="0"/>
              </a:rPr>
              <a:t> = </a:t>
            </a:r>
            <a:r>
              <a:rPr lang="en-US" sz="1200" dirty="0" err="1">
                <a:solidFill>
                  <a:srgbClr val="000000"/>
                </a:solidFill>
                <a:latin typeface="Cascadia Mono" panose="020B0609020000020004" pitchFamily="49" charset="0"/>
              </a:rPr>
              <a:t>big_obj_factory</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calls ~</a:t>
            </a:r>
            <a:r>
              <a:rPr lang="en-US" sz="1200" dirty="0" err="1">
                <a:solidFill>
                  <a:srgbClr val="008000"/>
                </a:solidFill>
                <a:latin typeface="Cascadia Mono" panose="020B0609020000020004" pitchFamily="49" charset="0"/>
              </a:rPr>
              <a:t>MyBigObject</a:t>
            </a:r>
            <a:r>
              <a:rPr lang="en-US" sz="1200" dirty="0">
                <a:solidFill>
                  <a:srgbClr val="008000"/>
                </a:solidFill>
                <a:latin typeface="Cascadia Mono" panose="020B0609020000020004" pitchFamily="49" charset="0"/>
              </a:rPr>
              <a:t>()</a:t>
            </a:r>
            <a:endParaRPr lang="en-US" sz="1200" dirty="0">
              <a:solidFill>
                <a:srgbClr val="000000"/>
              </a:solidFill>
              <a:latin typeface="Cascadia Mono" panose="020B0609020000020004" pitchFamily="49" charset="0"/>
            </a:endParaRPr>
          </a:p>
          <a:p>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std::</a:t>
            </a:r>
            <a:r>
              <a:rPr lang="en-US" sz="1200" dirty="0" err="1">
                <a:solidFill>
                  <a:srgbClr val="2B91AF"/>
                </a:solidFill>
                <a:latin typeface="Cascadia Mono" panose="020B0609020000020004" pitchFamily="49" charset="0"/>
              </a:rPr>
              <a:t>unique_ptr</a:t>
            </a:r>
            <a:r>
              <a:rPr lang="en-US" sz="1200" dirty="0">
                <a:solidFill>
                  <a:srgbClr val="000000"/>
                </a:solidFill>
                <a:latin typeface="Cascadia Mono" panose="020B0609020000020004" pitchFamily="49" charset="0"/>
              </a:rPr>
              <a:t>&lt;</a:t>
            </a:r>
            <a:r>
              <a:rPr lang="en-US" sz="1200" dirty="0" err="1">
                <a:solidFill>
                  <a:srgbClr val="2B91AF"/>
                </a:solidFill>
                <a:latin typeface="Cascadia Mono" panose="020B0609020000020004" pitchFamily="49" charset="0"/>
              </a:rPr>
              <a:t>MyBigObject</a:t>
            </a:r>
            <a:r>
              <a:rPr lang="en-US" sz="1200" dirty="0">
                <a:solidFill>
                  <a:srgbClr val="000000"/>
                </a:solidFill>
                <a:latin typeface="Cascadia Mono" panose="020B0609020000020004" pitchFamily="49" charset="0"/>
              </a:rPr>
              <a:t>&gt; </a:t>
            </a:r>
            <a:r>
              <a:rPr lang="en-US" sz="1200" dirty="0" err="1">
                <a:solidFill>
                  <a:srgbClr val="000000"/>
                </a:solidFill>
                <a:latin typeface="Cascadia Mono" panose="020B0609020000020004" pitchFamily="49" charset="0"/>
              </a:rPr>
              <a:t>big_obj_factory</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std::</a:t>
            </a:r>
            <a:r>
              <a:rPr lang="en-US" sz="1200" dirty="0" err="1">
                <a:solidFill>
                  <a:srgbClr val="000000"/>
                </a:solidFill>
                <a:latin typeface="Cascadia Mono" panose="020B0609020000020004" pitchFamily="49" charset="0"/>
              </a:rPr>
              <a:t>make_unique</a:t>
            </a:r>
            <a:r>
              <a:rPr lang="en-US" sz="1200" dirty="0">
                <a:solidFill>
                  <a:srgbClr val="000000"/>
                </a:solidFill>
                <a:latin typeface="Cascadia Mono" panose="020B0609020000020004" pitchFamily="49" charset="0"/>
              </a:rPr>
              <a:t>&lt;</a:t>
            </a:r>
            <a:r>
              <a:rPr lang="en-US" sz="1200" dirty="0" err="1">
                <a:solidFill>
                  <a:srgbClr val="2B91AF"/>
                </a:solidFill>
                <a:latin typeface="Cascadia Mono" panose="020B0609020000020004" pitchFamily="49" charset="0"/>
              </a:rPr>
              <a:t>MyBigObject</a:t>
            </a:r>
            <a:r>
              <a:rPr lang="en-US" sz="1200" dirty="0">
                <a:solidFill>
                  <a:srgbClr val="000000"/>
                </a:solidFill>
                <a:latin typeface="Cascadia Mono" panose="020B0609020000020004" pitchFamily="49" charset="0"/>
              </a:rPr>
              <a:t>&gt;();</a:t>
            </a:r>
          </a:p>
          <a:p>
            <a:r>
              <a:rPr lang="en-US" sz="1200" dirty="0">
                <a:solidFill>
                  <a:srgbClr val="000000"/>
                </a:solidFill>
                <a:latin typeface="Cascadia Mono" panose="020B0609020000020004" pitchFamily="49" charset="0"/>
              </a:rPr>
              <a:t>}</a:t>
            </a:r>
            <a:endParaRPr lang="en-US" sz="1200" dirty="0"/>
          </a:p>
        </p:txBody>
      </p:sp>
    </p:spTree>
    <p:extLst>
      <p:ext uri="{BB962C8B-B14F-4D97-AF65-F5344CB8AC3E}">
        <p14:creationId xmlns:p14="http://schemas.microsoft.com/office/powerpoint/2010/main" val="39923869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std::</a:t>
            </a:r>
            <a:r>
              <a:rPr lang="en-US" dirty="0" err="1">
                <a:latin typeface="Segoe UI Light" panose="020B0502040204020203" pitchFamily="34" charset="0"/>
                <a:cs typeface="Segoe UI Light" panose="020B0502040204020203" pitchFamily="34" charset="0"/>
              </a:rPr>
              <a:t>unique_ptr</a:t>
            </a:r>
            <a:endParaRPr lang="en-US" dirty="0">
              <a:latin typeface="Segoe UI Light" panose="020B0502040204020203" pitchFamily="34" charset="0"/>
              <a:cs typeface="Segoe UI Light" panose="020B0502040204020203" pitchFamily="34" charset="0"/>
            </a:endParaRPr>
          </a:p>
        </p:txBody>
      </p:sp>
      <p:sp>
        <p:nvSpPr>
          <p:cNvPr id="11" name="TextBox 10">
            <a:extLst>
              <a:ext uri="{FF2B5EF4-FFF2-40B4-BE49-F238E27FC236}">
                <a16:creationId xmlns:a16="http://schemas.microsoft.com/office/drawing/2014/main" id="{A20C03B1-BC98-4E65-9F9A-5E074BD92FBC}"/>
              </a:ext>
            </a:extLst>
          </p:cNvPr>
          <p:cNvSpPr txBox="1"/>
          <p:nvPr/>
        </p:nvSpPr>
        <p:spPr>
          <a:xfrm>
            <a:off x="521207" y="1530388"/>
            <a:ext cx="5574793" cy="461665"/>
          </a:xfrm>
          <a:prstGeom prst="rect">
            <a:avLst/>
          </a:prstGeom>
          <a:noFill/>
        </p:spPr>
        <p:txBody>
          <a:bodyPr wrap="square">
            <a:spAutoFit/>
          </a:bodyPr>
          <a:lstStyle/>
          <a:p>
            <a:r>
              <a:rPr lang="en-US" sz="1200" dirty="0">
                <a:solidFill>
                  <a:srgbClr val="000000"/>
                </a:solidFill>
                <a:latin typeface="Cascadia Mono" panose="020B0609020000020004" pitchFamily="49" charset="0"/>
              </a:rPr>
              <a:t> std::</a:t>
            </a:r>
            <a:r>
              <a:rPr lang="en-US" sz="1200" dirty="0" err="1">
                <a:solidFill>
                  <a:srgbClr val="2B91AF"/>
                </a:solidFill>
                <a:latin typeface="Cascadia Mono" panose="020B0609020000020004" pitchFamily="49" charset="0"/>
              </a:rPr>
              <a:t>unique_ptr</a:t>
            </a:r>
            <a:r>
              <a:rPr lang="en-US" sz="1200" dirty="0">
                <a:solidFill>
                  <a:srgbClr val="000000"/>
                </a:solidFill>
                <a:latin typeface="Cascadia Mono" panose="020B0609020000020004" pitchFamily="49" charset="0"/>
              </a:rPr>
              <a:t>&lt;</a:t>
            </a:r>
            <a:r>
              <a:rPr lang="en-US" sz="1200" dirty="0" err="1">
                <a:solidFill>
                  <a:srgbClr val="2B91AF"/>
                </a:solidFill>
                <a:latin typeface="Cascadia Mono" panose="020B0609020000020004" pitchFamily="49" charset="0"/>
              </a:rPr>
              <a:t>MyClass</a:t>
            </a:r>
            <a:r>
              <a:rPr lang="en-US" sz="1200" dirty="0">
                <a:solidFill>
                  <a:srgbClr val="000000"/>
                </a:solidFill>
                <a:latin typeface="Cascadia Mono" panose="020B0609020000020004" pitchFamily="49" charset="0"/>
              </a:rPr>
              <a:t>&gt; t = std::</a:t>
            </a:r>
            <a:r>
              <a:rPr lang="en-US" sz="1200" dirty="0" err="1">
                <a:solidFill>
                  <a:srgbClr val="000000"/>
                </a:solidFill>
                <a:latin typeface="Cascadia Mono" panose="020B0609020000020004" pitchFamily="49" charset="0"/>
              </a:rPr>
              <a:t>make_unique</a:t>
            </a:r>
            <a:r>
              <a:rPr lang="en-US" sz="1200" dirty="0">
                <a:solidFill>
                  <a:srgbClr val="000000"/>
                </a:solidFill>
                <a:latin typeface="Cascadia Mono" panose="020B0609020000020004" pitchFamily="49" charset="0"/>
              </a:rPr>
              <a:t>&lt;</a:t>
            </a:r>
            <a:r>
              <a:rPr lang="en-US" sz="1200" dirty="0" err="1">
                <a:solidFill>
                  <a:srgbClr val="2B91AF"/>
                </a:solidFill>
                <a:latin typeface="Cascadia Mono" panose="020B0609020000020004" pitchFamily="49" charset="0"/>
              </a:rPr>
              <a:t>MyClass</a:t>
            </a:r>
            <a:r>
              <a:rPr lang="en-US" sz="1200" dirty="0">
                <a:solidFill>
                  <a:srgbClr val="000000"/>
                </a:solidFill>
                <a:latin typeface="Cascadia Mono" panose="020B0609020000020004" pitchFamily="49" charset="0"/>
              </a:rPr>
              <a:t>&gt;();</a:t>
            </a:r>
          </a:p>
          <a:p>
            <a:r>
              <a:rPr lang="fr-FR" sz="1200" dirty="0">
                <a:solidFill>
                  <a:srgbClr val="000000"/>
                </a:solidFill>
                <a:latin typeface="Cascadia Mono" panose="020B0609020000020004" pitchFamily="49" charset="0"/>
              </a:rPr>
              <a:t> std::</a:t>
            </a:r>
            <a:r>
              <a:rPr lang="fr-FR" sz="1200" dirty="0" err="1">
                <a:solidFill>
                  <a:srgbClr val="2B91AF"/>
                </a:solidFill>
                <a:latin typeface="Cascadia Mono" panose="020B0609020000020004" pitchFamily="49" charset="0"/>
              </a:rPr>
              <a:t>unique_ptr</a:t>
            </a:r>
            <a:r>
              <a:rPr lang="fr-FR" sz="1200" dirty="0">
                <a:solidFill>
                  <a:srgbClr val="000000"/>
                </a:solidFill>
                <a:latin typeface="Cascadia Mono" panose="020B0609020000020004" pitchFamily="49" charset="0"/>
              </a:rPr>
              <a:t>&lt;</a:t>
            </a:r>
            <a:r>
              <a:rPr lang="fr-FR" sz="1200" dirty="0" err="1">
                <a:solidFill>
                  <a:srgbClr val="2B91AF"/>
                </a:solidFill>
                <a:latin typeface="Cascadia Mono" panose="020B0609020000020004" pitchFamily="49" charset="0"/>
              </a:rPr>
              <a:t>MyClass</a:t>
            </a:r>
            <a:r>
              <a:rPr lang="fr-FR" sz="1200" dirty="0">
                <a:solidFill>
                  <a:srgbClr val="000000"/>
                </a:solidFill>
                <a:latin typeface="Cascadia Mono" panose="020B0609020000020004" pitchFamily="49" charset="0"/>
              </a:rPr>
              <a:t>&gt; </a:t>
            </a:r>
            <a:r>
              <a:rPr lang="fr-FR" sz="1200" dirty="0" err="1">
                <a:solidFill>
                  <a:srgbClr val="000000"/>
                </a:solidFill>
                <a:latin typeface="Cascadia Mono" panose="020B0609020000020004" pitchFamily="49" charset="0"/>
              </a:rPr>
              <a:t>t_copy</a:t>
            </a:r>
            <a:r>
              <a:rPr lang="fr-FR" sz="1200" dirty="0">
                <a:solidFill>
                  <a:srgbClr val="000000"/>
                </a:solidFill>
                <a:latin typeface="Cascadia Mono" panose="020B0609020000020004" pitchFamily="49" charset="0"/>
              </a:rPr>
              <a:t> = t; </a:t>
            </a:r>
            <a:r>
              <a:rPr lang="fr-FR" sz="1200" dirty="0">
                <a:solidFill>
                  <a:srgbClr val="008000"/>
                </a:solidFill>
                <a:latin typeface="Cascadia Mono" panose="020B0609020000020004" pitchFamily="49" charset="0"/>
              </a:rPr>
              <a:t>// compilation </a:t>
            </a:r>
            <a:r>
              <a:rPr lang="fr-FR" sz="1200" dirty="0" err="1">
                <a:solidFill>
                  <a:srgbClr val="008000"/>
                </a:solidFill>
                <a:latin typeface="Cascadia Mono" panose="020B0609020000020004" pitchFamily="49" charset="0"/>
              </a:rPr>
              <a:t>error</a:t>
            </a:r>
            <a:endParaRPr lang="en-US" sz="1200" dirty="0"/>
          </a:p>
        </p:txBody>
      </p:sp>
      <p:sp>
        <p:nvSpPr>
          <p:cNvPr id="12" name="TextBox 11">
            <a:extLst>
              <a:ext uri="{FF2B5EF4-FFF2-40B4-BE49-F238E27FC236}">
                <a16:creationId xmlns:a16="http://schemas.microsoft.com/office/drawing/2014/main" id="{27ED7BE8-9315-480E-8777-8877319166F6}"/>
              </a:ext>
            </a:extLst>
          </p:cNvPr>
          <p:cNvSpPr txBox="1"/>
          <p:nvPr/>
        </p:nvSpPr>
        <p:spPr>
          <a:xfrm>
            <a:off x="566928" y="2264432"/>
            <a:ext cx="6096000" cy="461665"/>
          </a:xfrm>
          <a:prstGeom prst="rect">
            <a:avLst/>
          </a:prstGeom>
          <a:noFill/>
        </p:spPr>
        <p:txBody>
          <a:bodyPr wrap="square">
            <a:spAutoFit/>
          </a:bodyPr>
          <a:lstStyle/>
          <a:p>
            <a:r>
              <a:rPr lang="fr-FR" sz="1200" dirty="0" err="1">
                <a:solidFill>
                  <a:srgbClr val="000000"/>
                </a:solidFill>
                <a:latin typeface="Cascadia Mono" panose="020B0609020000020004" pitchFamily="49" charset="0"/>
              </a:rPr>
              <a:t>unique_ptr</a:t>
            </a:r>
            <a:r>
              <a:rPr lang="fr-FR" sz="1200" dirty="0">
                <a:solidFill>
                  <a:srgbClr val="000000"/>
                </a:solidFill>
                <a:latin typeface="Cascadia Mono" panose="020B0609020000020004" pitchFamily="49" charset="0"/>
              </a:rPr>
              <a:t>(</a:t>
            </a:r>
            <a:r>
              <a:rPr lang="fr-FR" sz="1200" dirty="0" err="1">
                <a:solidFill>
                  <a:srgbClr val="0000FF"/>
                </a:solidFill>
                <a:latin typeface="Cascadia Mono" panose="020B0609020000020004" pitchFamily="49" charset="0"/>
              </a:rPr>
              <a:t>const</a:t>
            </a:r>
            <a:r>
              <a:rPr lang="fr-FR" sz="1200" dirty="0">
                <a:solidFill>
                  <a:srgbClr val="000000"/>
                </a:solidFill>
                <a:latin typeface="Cascadia Mono" panose="020B0609020000020004" pitchFamily="49" charset="0"/>
              </a:rPr>
              <a:t> </a:t>
            </a:r>
            <a:r>
              <a:rPr lang="fr-FR" sz="1200" dirty="0" err="1">
                <a:solidFill>
                  <a:srgbClr val="2B91AF"/>
                </a:solidFill>
                <a:latin typeface="Cascadia Mono" panose="020B0609020000020004" pitchFamily="49" charset="0"/>
              </a:rPr>
              <a:t>unique_ptr</a:t>
            </a:r>
            <a:r>
              <a:rPr lang="fr-FR" sz="1200" dirty="0">
                <a:solidFill>
                  <a:srgbClr val="000000"/>
                </a:solidFill>
                <a:latin typeface="Cascadia Mono" panose="020B0609020000020004" pitchFamily="49" charset="0"/>
              </a:rPr>
              <a:t>&amp;)            = </a:t>
            </a:r>
            <a:r>
              <a:rPr lang="fr-FR" sz="1200" dirty="0" err="1">
                <a:solidFill>
                  <a:srgbClr val="0000FF"/>
                </a:solidFill>
                <a:latin typeface="Cascadia Mono" panose="020B0609020000020004" pitchFamily="49" charset="0"/>
              </a:rPr>
              <a:t>delete</a:t>
            </a:r>
            <a:r>
              <a:rPr lang="fr-FR" sz="1200" dirty="0">
                <a:solidFill>
                  <a:srgbClr val="000000"/>
                </a:solidFill>
                <a:latin typeface="Cascadia Mono" panose="020B0609020000020004" pitchFamily="49" charset="0"/>
              </a:rPr>
              <a:t>;</a:t>
            </a:r>
          </a:p>
          <a:p>
            <a:r>
              <a:rPr lang="en-US" sz="1200" dirty="0" err="1">
                <a:solidFill>
                  <a:srgbClr val="2B91AF"/>
                </a:solidFill>
                <a:latin typeface="Cascadia Mono" panose="020B0609020000020004" pitchFamily="49" charset="0"/>
              </a:rPr>
              <a:t>unique_ptr</a:t>
            </a:r>
            <a:r>
              <a:rPr lang="en-US" sz="1200" dirty="0">
                <a:solidFill>
                  <a:srgbClr val="000000"/>
                </a:solidFill>
                <a:latin typeface="Cascadia Mono" panose="020B0609020000020004" pitchFamily="49" charset="0"/>
              </a:rPr>
              <a:t>&amp; </a:t>
            </a:r>
            <a:r>
              <a:rPr lang="en-US" sz="1200" dirty="0">
                <a:solidFill>
                  <a:srgbClr val="008080"/>
                </a:solidFill>
                <a:latin typeface="Cascadia Mono" panose="020B0609020000020004" pitchFamily="49" charset="0"/>
              </a:rPr>
              <a:t>operator=</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const</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unique_ptr</a:t>
            </a:r>
            <a:r>
              <a:rPr lang="en-US" sz="1200" dirty="0">
                <a:solidFill>
                  <a:srgbClr val="000000"/>
                </a:solidFill>
                <a:latin typeface="Cascadia Mono" panose="020B0609020000020004" pitchFamily="49" charset="0"/>
              </a:rPr>
              <a:t>&amp;) = </a:t>
            </a:r>
            <a:r>
              <a:rPr lang="en-US" sz="1200" dirty="0">
                <a:solidFill>
                  <a:srgbClr val="0000FF"/>
                </a:solidFill>
                <a:latin typeface="Cascadia Mono" panose="020B0609020000020004" pitchFamily="49" charset="0"/>
              </a:rPr>
              <a:t>delete</a:t>
            </a:r>
            <a:r>
              <a:rPr lang="en-US" sz="1200" dirty="0">
                <a:solidFill>
                  <a:srgbClr val="000000"/>
                </a:solidFill>
                <a:latin typeface="Cascadia Mono" panose="020B0609020000020004" pitchFamily="49" charset="0"/>
              </a:rPr>
              <a:t>;</a:t>
            </a:r>
            <a:endParaRPr lang="en-US" sz="1200" dirty="0"/>
          </a:p>
        </p:txBody>
      </p:sp>
    </p:spTree>
    <p:extLst>
      <p:ext uri="{BB962C8B-B14F-4D97-AF65-F5344CB8AC3E}">
        <p14:creationId xmlns:p14="http://schemas.microsoft.com/office/powerpoint/2010/main" val="37766269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830057" cy="640080"/>
          </a:xfrm>
        </p:spPr>
        <p:txBody>
          <a:bodyPr>
            <a:noAutofit/>
          </a:bodyPr>
          <a:lstStyle/>
          <a:p>
            <a:r>
              <a:rPr lang="en-US" dirty="0">
                <a:latin typeface="Segoe UI Light" panose="020B0502040204020203" pitchFamily="34" charset="0"/>
                <a:cs typeface="Segoe UI Light" panose="020B0502040204020203" pitchFamily="34" charset="0"/>
              </a:rPr>
              <a:t>STL</a:t>
            </a:r>
            <a:r>
              <a:rPr lang="ru-RU" dirty="0">
                <a:latin typeface="Segoe UI Light" panose="020B0502040204020203" pitchFamily="34" charset="0"/>
                <a:cs typeface="Segoe UI Light" panose="020B0502040204020203" pitchFamily="34" charset="0"/>
              </a:rPr>
              <a:t> </a:t>
            </a:r>
            <a:r>
              <a:rPr lang="en-US" dirty="0">
                <a:latin typeface="Segoe UI Light" panose="020B0502040204020203" pitchFamily="34" charset="0"/>
                <a:cs typeface="Segoe UI Light" panose="020B0502040204020203" pitchFamily="34" charset="0"/>
              </a:rPr>
              <a:t>Containers</a:t>
            </a:r>
          </a:p>
        </p:txBody>
      </p:sp>
      <p:sp>
        <p:nvSpPr>
          <p:cNvPr id="4" name="TextBox 3">
            <a:extLst>
              <a:ext uri="{FF2B5EF4-FFF2-40B4-BE49-F238E27FC236}">
                <a16:creationId xmlns:a16="http://schemas.microsoft.com/office/drawing/2014/main" id="{BAF1AE0E-ECC6-4615-A7F1-2ACD32E72E07}"/>
              </a:ext>
            </a:extLst>
          </p:cNvPr>
          <p:cNvSpPr txBox="1"/>
          <p:nvPr/>
        </p:nvSpPr>
        <p:spPr>
          <a:xfrm>
            <a:off x="921067" y="1829651"/>
            <a:ext cx="6096000" cy="1384995"/>
          </a:xfrm>
          <a:prstGeom prst="rect">
            <a:avLst/>
          </a:prstGeom>
          <a:noFill/>
        </p:spPr>
        <p:txBody>
          <a:bodyPr wrap="square">
            <a:spAutoFit/>
          </a:bodyPr>
          <a:lstStyle/>
          <a:p>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modify_element</a:t>
            </a:r>
            <a:r>
              <a:rPr lang="en-US"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std::</a:t>
            </a:r>
            <a:r>
              <a:rPr lang="en-US" sz="1200" dirty="0">
                <a:solidFill>
                  <a:srgbClr val="2B91AF"/>
                </a:solidFill>
                <a:latin typeface="Consolas" panose="020B0609020204030204" pitchFamily="49" charset="0"/>
              </a:rPr>
              <a:t>vector</a:t>
            </a:r>
            <a:r>
              <a:rPr lang="en-US" sz="1200" dirty="0">
                <a:solidFill>
                  <a:srgbClr val="000000"/>
                </a:solidFill>
                <a:latin typeface="Consolas" panose="020B0609020204030204" pitchFamily="49" charset="0"/>
              </a:rPr>
              <a:t>&lt;</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&gt; t{ 1,2,3,4 };</a:t>
            </a:r>
          </a:p>
          <a:p>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for_each</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t.begin</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t.end</a:t>
            </a:r>
            <a:r>
              <a:rPr lang="en-US" sz="1200" dirty="0">
                <a:solidFill>
                  <a:srgbClr val="000000"/>
                </a:solidFill>
                <a:latin typeface="Consolas" panose="020B0609020204030204" pitchFamily="49" charset="0"/>
              </a:rPr>
              <a:t>(), [&amp;](</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const</a:t>
            </a:r>
            <a:r>
              <a:rPr lang="en-US" sz="1200" dirty="0">
                <a:solidFill>
                  <a:srgbClr val="000000"/>
                </a:solidFill>
                <a:latin typeface="Consolas" panose="020B0609020204030204" pitchFamily="49" charset="0"/>
              </a:rPr>
              <a:t>&amp; </a:t>
            </a:r>
            <a:r>
              <a:rPr lang="en-US" sz="1200" dirty="0" err="1">
                <a:solidFill>
                  <a:srgbClr val="808080"/>
                </a:solidFill>
                <a:latin typeface="Consolas" panose="020B0609020204030204" pitchFamily="49" charset="0"/>
              </a:rPr>
              <a:t>elem</a:t>
            </a:r>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t.push_back</a:t>
            </a:r>
            <a:r>
              <a:rPr lang="en-US" sz="1200" dirty="0">
                <a:solidFill>
                  <a:srgbClr val="000000"/>
                </a:solidFill>
                <a:latin typeface="Consolas" panose="020B0609020204030204" pitchFamily="49" charset="0"/>
              </a:rPr>
              <a:t>(</a:t>
            </a:r>
            <a:r>
              <a:rPr lang="en-US" sz="1200" dirty="0" err="1">
                <a:solidFill>
                  <a:srgbClr val="808080"/>
                </a:solidFill>
                <a:latin typeface="Consolas" panose="020B0609020204030204" pitchFamily="49" charset="0"/>
              </a:rPr>
              <a:t>elem</a:t>
            </a:r>
            <a:r>
              <a:rPr lang="en-US"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    });</a:t>
            </a:r>
          </a:p>
          <a:p>
            <a:r>
              <a:rPr lang="ru-RU" sz="1200" dirty="0">
                <a:solidFill>
                  <a:srgbClr val="000000"/>
                </a:solidFill>
                <a:latin typeface="Consolas" panose="020B0609020204030204" pitchFamily="49" charset="0"/>
              </a:rPr>
              <a:t>}</a:t>
            </a:r>
            <a:endParaRPr lang="ru-RU" sz="1200" dirty="0"/>
          </a:p>
        </p:txBody>
      </p:sp>
      <p:sp>
        <p:nvSpPr>
          <p:cNvPr id="5" name="TextBox 4">
            <a:extLst>
              <a:ext uri="{FF2B5EF4-FFF2-40B4-BE49-F238E27FC236}">
                <a16:creationId xmlns:a16="http://schemas.microsoft.com/office/drawing/2014/main" id="{593E0084-8945-4C47-849A-8E6A8660D723}"/>
              </a:ext>
            </a:extLst>
          </p:cNvPr>
          <p:cNvSpPr txBox="1"/>
          <p:nvPr/>
        </p:nvSpPr>
        <p:spPr>
          <a:xfrm>
            <a:off x="6586918" y="1829651"/>
            <a:ext cx="4207764" cy="1754326"/>
          </a:xfrm>
          <a:prstGeom prst="rect">
            <a:avLst/>
          </a:prstGeom>
          <a:noFill/>
        </p:spPr>
        <p:txBody>
          <a:bodyPr wrap="square">
            <a:spAutoFit/>
          </a:bodyPr>
          <a:lstStyle/>
          <a:p>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modify_element</a:t>
            </a:r>
            <a:r>
              <a:rPr lang="en-US"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std::</a:t>
            </a:r>
            <a:r>
              <a:rPr lang="en-US" sz="1200" dirty="0">
                <a:solidFill>
                  <a:srgbClr val="2B91AF"/>
                </a:solidFill>
                <a:latin typeface="Consolas" panose="020B0609020204030204" pitchFamily="49" charset="0"/>
              </a:rPr>
              <a:t>vector</a:t>
            </a:r>
            <a:r>
              <a:rPr lang="en-US" sz="1200" dirty="0">
                <a:solidFill>
                  <a:srgbClr val="000000"/>
                </a:solidFill>
                <a:latin typeface="Consolas" panose="020B0609020204030204" pitchFamily="49" charset="0"/>
              </a:rPr>
              <a:t>&lt;</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&gt; t{ 1,2,3,4 };</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const</a:t>
            </a:r>
            <a:r>
              <a:rPr lang="en-US" sz="1200" dirty="0">
                <a:solidFill>
                  <a:srgbClr val="000000"/>
                </a:solidFill>
                <a:latin typeface="Consolas" panose="020B0609020204030204" pitchFamily="49" charset="0"/>
              </a:rPr>
              <a:t> </a:t>
            </a:r>
            <a:r>
              <a:rPr lang="en-US" sz="1200" dirty="0" err="1">
                <a:solidFill>
                  <a:srgbClr val="2B91AF"/>
                </a:solidFill>
                <a:latin typeface="Consolas" panose="020B0609020204030204" pitchFamily="49" charset="0"/>
              </a:rPr>
              <a:t>size_t</a:t>
            </a:r>
            <a:r>
              <a:rPr lang="en-US" sz="1200" dirty="0">
                <a:solidFill>
                  <a:srgbClr val="000000"/>
                </a:solidFill>
                <a:latin typeface="Consolas" panose="020B0609020204030204" pitchFamily="49" charset="0"/>
              </a:rPr>
              <a:t> size = </a:t>
            </a:r>
            <a:r>
              <a:rPr lang="en-US" sz="1200" dirty="0" err="1">
                <a:solidFill>
                  <a:srgbClr val="000000"/>
                </a:solidFill>
                <a:latin typeface="Consolas" panose="020B0609020204030204" pitchFamily="49" charset="0"/>
              </a:rPr>
              <a:t>t.size</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for</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auto</a:t>
            </a:r>
            <a:r>
              <a:rPr lang="en-US" sz="1200" dirty="0">
                <a:solidFill>
                  <a:srgbClr val="000000"/>
                </a:solidFill>
                <a:latin typeface="Consolas" panose="020B0609020204030204" pitchFamily="49" charset="0"/>
              </a:rPr>
              <a:t> x : t)</a:t>
            </a:r>
          </a:p>
          <a:p>
            <a:r>
              <a:rPr lang="ru-RU"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t.push_back</a:t>
            </a:r>
            <a:r>
              <a:rPr lang="en-US" sz="1200" dirty="0">
                <a:solidFill>
                  <a:srgbClr val="000000"/>
                </a:solidFill>
                <a:latin typeface="Consolas" panose="020B0609020204030204" pitchFamily="49" charset="0"/>
              </a:rPr>
              <a:t>(x);</a:t>
            </a:r>
          </a:p>
          <a:p>
            <a:r>
              <a:rPr lang="ru-RU" sz="1200" dirty="0">
                <a:solidFill>
                  <a:srgbClr val="000000"/>
                </a:solidFill>
                <a:latin typeface="Consolas" panose="020B0609020204030204" pitchFamily="49" charset="0"/>
              </a:rPr>
              <a:t>    }</a:t>
            </a:r>
          </a:p>
          <a:p>
            <a:r>
              <a:rPr lang="ru-RU" sz="1200" dirty="0">
                <a:solidFill>
                  <a:srgbClr val="000000"/>
                </a:solidFill>
                <a:latin typeface="Consolas" panose="020B0609020204030204" pitchFamily="49" charset="0"/>
              </a:rPr>
              <a:t>}</a:t>
            </a:r>
            <a:endParaRPr lang="ru-RU" sz="1200" dirty="0"/>
          </a:p>
        </p:txBody>
      </p:sp>
      <p:sp>
        <p:nvSpPr>
          <p:cNvPr id="6" name="TextBox 5">
            <a:extLst>
              <a:ext uri="{FF2B5EF4-FFF2-40B4-BE49-F238E27FC236}">
                <a16:creationId xmlns:a16="http://schemas.microsoft.com/office/drawing/2014/main" id="{A4B8C02E-7BD9-4EBA-9F93-50D379CEAF91}"/>
              </a:ext>
            </a:extLst>
          </p:cNvPr>
          <p:cNvSpPr txBox="1"/>
          <p:nvPr/>
        </p:nvSpPr>
        <p:spPr>
          <a:xfrm>
            <a:off x="921066" y="3764328"/>
            <a:ext cx="6965633" cy="1754326"/>
          </a:xfrm>
          <a:prstGeom prst="rect">
            <a:avLst/>
          </a:prstGeom>
          <a:noFill/>
        </p:spPr>
        <p:txBody>
          <a:bodyPr wrap="square">
            <a:spAutoFit/>
          </a:bodyPr>
          <a:lstStyle/>
          <a:p>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modify_element</a:t>
            </a:r>
            <a:r>
              <a:rPr lang="en-US"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std::</a:t>
            </a:r>
            <a:r>
              <a:rPr lang="en-US" sz="1200" dirty="0">
                <a:solidFill>
                  <a:srgbClr val="2B91AF"/>
                </a:solidFill>
                <a:latin typeface="Consolas" panose="020B0609020204030204" pitchFamily="49" charset="0"/>
              </a:rPr>
              <a:t>vector</a:t>
            </a:r>
            <a:r>
              <a:rPr lang="en-US" sz="1200" dirty="0">
                <a:solidFill>
                  <a:srgbClr val="000000"/>
                </a:solidFill>
                <a:latin typeface="Consolas" panose="020B0609020204030204" pitchFamily="49" charset="0"/>
              </a:rPr>
              <a:t>&lt;</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&gt; t{ 1,2,3,4 };</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const</a:t>
            </a:r>
            <a:r>
              <a:rPr lang="en-US" sz="1200" dirty="0">
                <a:solidFill>
                  <a:srgbClr val="000000"/>
                </a:solidFill>
                <a:latin typeface="Consolas" panose="020B0609020204030204" pitchFamily="49" charset="0"/>
              </a:rPr>
              <a:t> </a:t>
            </a:r>
            <a:r>
              <a:rPr lang="en-US" sz="1200" dirty="0" err="1">
                <a:solidFill>
                  <a:srgbClr val="2B91AF"/>
                </a:solidFill>
                <a:latin typeface="Consolas" panose="020B0609020204030204" pitchFamily="49" charset="0"/>
              </a:rPr>
              <a:t>size_t</a:t>
            </a:r>
            <a:r>
              <a:rPr lang="en-US" sz="1200" dirty="0">
                <a:solidFill>
                  <a:srgbClr val="000000"/>
                </a:solidFill>
                <a:latin typeface="Consolas" panose="020B0609020204030204" pitchFamily="49" charset="0"/>
              </a:rPr>
              <a:t> size = </a:t>
            </a:r>
            <a:r>
              <a:rPr lang="en-US" sz="1200" dirty="0" err="1">
                <a:solidFill>
                  <a:srgbClr val="000000"/>
                </a:solidFill>
                <a:latin typeface="Consolas" panose="020B0609020204030204" pitchFamily="49" charset="0"/>
              </a:rPr>
              <a:t>t.size</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for</a:t>
            </a:r>
            <a:r>
              <a:rPr lang="en-US" sz="1200" dirty="0">
                <a:solidFill>
                  <a:srgbClr val="000000"/>
                </a:solidFill>
                <a:latin typeface="Consolas" panose="020B0609020204030204" pitchFamily="49" charset="0"/>
              </a:rPr>
              <a:t> (</a:t>
            </a:r>
            <a:r>
              <a:rPr lang="en-US" sz="1200" dirty="0" err="1">
                <a:solidFill>
                  <a:srgbClr val="2B91AF"/>
                </a:solidFill>
                <a:latin typeface="Consolas" panose="020B0609020204030204" pitchFamily="49" charset="0"/>
              </a:rPr>
              <a:t>size_t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 0;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&lt; size;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t.push_back</a:t>
            </a:r>
            <a:r>
              <a:rPr lang="en-US" sz="1200" dirty="0">
                <a:solidFill>
                  <a:srgbClr val="000000"/>
                </a:solidFill>
                <a:latin typeface="Consolas" panose="020B0609020204030204" pitchFamily="49" charset="0"/>
              </a:rPr>
              <a:t>(t</a:t>
            </a:r>
            <a:r>
              <a:rPr lang="en-US" sz="1200" dirty="0">
                <a:solidFill>
                  <a:srgbClr val="008080"/>
                </a:solidFill>
                <a:latin typeface="Consolas" panose="020B0609020204030204" pitchFamily="49" charset="0"/>
              </a:rPr>
              <a:t>[</a:t>
            </a:r>
            <a:r>
              <a:rPr lang="en-US" sz="1200" dirty="0" err="1">
                <a:solidFill>
                  <a:srgbClr val="000000"/>
                </a:solidFill>
                <a:latin typeface="Consolas" panose="020B0609020204030204" pitchFamily="49" charset="0"/>
              </a:rPr>
              <a:t>i</a:t>
            </a:r>
            <a:r>
              <a:rPr lang="en-US" sz="1200" dirty="0">
                <a:solidFill>
                  <a:srgbClr val="008080"/>
                </a:solidFill>
                <a:latin typeface="Consolas" panose="020B0609020204030204" pitchFamily="49" charset="0"/>
              </a:rPr>
              <a:t>]</a:t>
            </a:r>
            <a:r>
              <a:rPr lang="en-US"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    }</a:t>
            </a:r>
          </a:p>
          <a:p>
            <a:r>
              <a:rPr lang="ru-RU" sz="1200" dirty="0">
                <a:solidFill>
                  <a:srgbClr val="000000"/>
                </a:solidFill>
                <a:latin typeface="Consolas" panose="020B0609020204030204" pitchFamily="49" charset="0"/>
              </a:rPr>
              <a:t>}</a:t>
            </a:r>
            <a:endParaRPr lang="ru-RU" sz="1200" dirty="0"/>
          </a:p>
        </p:txBody>
      </p:sp>
      <p:sp>
        <p:nvSpPr>
          <p:cNvPr id="7" name="TextBox 6">
            <a:extLst>
              <a:ext uri="{FF2B5EF4-FFF2-40B4-BE49-F238E27FC236}">
                <a16:creationId xmlns:a16="http://schemas.microsoft.com/office/drawing/2014/main" id="{56744507-26AA-480D-A574-F5A108A982AD}"/>
              </a:ext>
            </a:extLst>
          </p:cNvPr>
          <p:cNvSpPr txBox="1"/>
          <p:nvPr/>
        </p:nvSpPr>
        <p:spPr>
          <a:xfrm>
            <a:off x="6586917" y="3764328"/>
            <a:ext cx="4684015" cy="1569660"/>
          </a:xfrm>
          <a:prstGeom prst="rect">
            <a:avLst/>
          </a:prstGeom>
          <a:noFill/>
        </p:spPr>
        <p:txBody>
          <a:bodyPr wrap="square">
            <a:spAutoFit/>
          </a:bodyPr>
          <a:lstStyle/>
          <a:p>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modify_element</a:t>
            </a:r>
            <a:r>
              <a:rPr lang="en-US"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std::</a:t>
            </a:r>
            <a:r>
              <a:rPr lang="en-US" sz="1200" dirty="0">
                <a:solidFill>
                  <a:srgbClr val="2B91AF"/>
                </a:solidFill>
                <a:latin typeface="Consolas" panose="020B0609020204030204" pitchFamily="49" charset="0"/>
              </a:rPr>
              <a:t>vector</a:t>
            </a:r>
            <a:r>
              <a:rPr lang="en-US" sz="1200" dirty="0">
                <a:solidFill>
                  <a:srgbClr val="000000"/>
                </a:solidFill>
                <a:latin typeface="Consolas" panose="020B0609020204030204" pitchFamily="49" charset="0"/>
              </a:rPr>
              <a:t>&lt;</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&gt; t{ 1,2,3,4 };</a:t>
            </a:r>
          </a:p>
          <a:p>
            <a:r>
              <a:rPr lang="en-US" sz="1200" dirty="0">
                <a:solidFill>
                  <a:srgbClr val="0000FF"/>
                </a:solidFill>
                <a:latin typeface="Consolas" panose="020B0609020204030204" pitchFamily="49" charset="0"/>
              </a:rPr>
              <a:t>    for</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auto</a:t>
            </a:r>
            <a:r>
              <a:rPr lang="en-US" sz="1200" dirty="0">
                <a:solidFill>
                  <a:srgbClr val="000000"/>
                </a:solidFill>
                <a:latin typeface="Consolas" panose="020B0609020204030204" pitchFamily="49" charset="0"/>
              </a:rPr>
              <a:t> it = </a:t>
            </a:r>
            <a:r>
              <a:rPr lang="en-US" sz="1200" dirty="0" err="1">
                <a:solidFill>
                  <a:srgbClr val="000000"/>
                </a:solidFill>
                <a:latin typeface="Consolas" panose="020B0609020204030204" pitchFamily="49" charset="0"/>
              </a:rPr>
              <a:t>t.begin</a:t>
            </a:r>
            <a:r>
              <a:rPr lang="en-US" sz="1200" dirty="0">
                <a:solidFill>
                  <a:srgbClr val="000000"/>
                </a:solidFill>
                <a:latin typeface="Consolas" panose="020B0609020204030204" pitchFamily="49" charset="0"/>
              </a:rPr>
              <a:t>(); it </a:t>
            </a:r>
            <a:r>
              <a:rPr lang="en-US" sz="1200" dirty="0">
                <a:solidFill>
                  <a:srgbClr val="0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t.end</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a:t>
            </a:r>
            <a:r>
              <a:rPr lang="en-US" sz="1200" dirty="0">
                <a:solidFill>
                  <a:srgbClr val="000000"/>
                </a:solidFill>
                <a:latin typeface="Consolas" panose="020B0609020204030204" pitchFamily="49" charset="0"/>
              </a:rPr>
              <a:t>it)</a:t>
            </a:r>
          </a:p>
          <a:p>
            <a:r>
              <a:rPr lang="ru-RU"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t.push_back</a:t>
            </a:r>
            <a:r>
              <a:rPr lang="en-US" sz="1200" dirty="0">
                <a:solidFill>
                  <a:srgbClr val="000000"/>
                </a:solidFill>
                <a:latin typeface="Consolas" panose="020B0609020204030204" pitchFamily="49" charset="0"/>
              </a:rPr>
              <a:t>(</a:t>
            </a:r>
            <a:r>
              <a:rPr lang="en-US" sz="1200" dirty="0">
                <a:solidFill>
                  <a:srgbClr val="008080"/>
                </a:solidFill>
                <a:latin typeface="Consolas" panose="020B0609020204030204" pitchFamily="49" charset="0"/>
              </a:rPr>
              <a:t>*</a:t>
            </a:r>
            <a:r>
              <a:rPr lang="en-US" sz="1200" dirty="0">
                <a:solidFill>
                  <a:srgbClr val="000000"/>
                </a:solidFill>
                <a:latin typeface="Consolas" panose="020B0609020204030204" pitchFamily="49" charset="0"/>
              </a:rPr>
              <a:t>it);</a:t>
            </a:r>
          </a:p>
          <a:p>
            <a:r>
              <a:rPr lang="ru-RU" sz="1200" dirty="0">
                <a:solidFill>
                  <a:srgbClr val="000000"/>
                </a:solidFill>
                <a:latin typeface="Consolas" panose="020B0609020204030204" pitchFamily="49" charset="0"/>
              </a:rPr>
              <a:t>    }</a:t>
            </a:r>
          </a:p>
          <a:p>
            <a:r>
              <a:rPr lang="ru-RU" sz="1200" dirty="0">
                <a:solidFill>
                  <a:srgbClr val="000000"/>
                </a:solidFill>
                <a:latin typeface="Consolas" panose="020B0609020204030204" pitchFamily="49" charset="0"/>
              </a:rPr>
              <a:t>}</a:t>
            </a:r>
            <a:endParaRPr lang="ru-RU" sz="1200" dirty="0"/>
          </a:p>
        </p:txBody>
      </p:sp>
      <p:sp>
        <p:nvSpPr>
          <p:cNvPr id="2" name="TextBox 1">
            <a:extLst>
              <a:ext uri="{FF2B5EF4-FFF2-40B4-BE49-F238E27FC236}">
                <a16:creationId xmlns:a16="http://schemas.microsoft.com/office/drawing/2014/main" id="{D2207ABB-B149-42F6-B6CB-AB05D6AA21FD}"/>
              </a:ext>
            </a:extLst>
          </p:cNvPr>
          <p:cNvSpPr txBox="1"/>
          <p:nvPr/>
        </p:nvSpPr>
        <p:spPr>
          <a:xfrm>
            <a:off x="611367" y="1829651"/>
            <a:ext cx="309700" cy="369332"/>
          </a:xfrm>
          <a:prstGeom prst="rect">
            <a:avLst/>
          </a:prstGeom>
          <a:noFill/>
        </p:spPr>
        <p:txBody>
          <a:bodyPr wrap="none" rtlCol="0">
            <a:spAutoFit/>
          </a:bodyPr>
          <a:lstStyle/>
          <a:p>
            <a:r>
              <a:rPr lang="ru-RU" dirty="0"/>
              <a:t>1</a:t>
            </a:r>
            <a:endParaRPr lang="en-US" dirty="0"/>
          </a:p>
        </p:txBody>
      </p:sp>
      <p:sp>
        <p:nvSpPr>
          <p:cNvPr id="9" name="TextBox 8">
            <a:extLst>
              <a:ext uri="{FF2B5EF4-FFF2-40B4-BE49-F238E27FC236}">
                <a16:creationId xmlns:a16="http://schemas.microsoft.com/office/drawing/2014/main" id="{9D5E24D5-7EEF-4120-B80B-0F2AA0BD258F}"/>
              </a:ext>
            </a:extLst>
          </p:cNvPr>
          <p:cNvSpPr txBox="1"/>
          <p:nvPr/>
        </p:nvSpPr>
        <p:spPr>
          <a:xfrm>
            <a:off x="6277218" y="1829651"/>
            <a:ext cx="309700" cy="369332"/>
          </a:xfrm>
          <a:prstGeom prst="rect">
            <a:avLst/>
          </a:prstGeom>
          <a:noFill/>
        </p:spPr>
        <p:txBody>
          <a:bodyPr wrap="none" rtlCol="0">
            <a:spAutoFit/>
          </a:bodyPr>
          <a:lstStyle/>
          <a:p>
            <a:r>
              <a:rPr lang="ru-RU" dirty="0"/>
              <a:t>2</a:t>
            </a:r>
            <a:endParaRPr lang="en-US" dirty="0"/>
          </a:p>
        </p:txBody>
      </p:sp>
      <p:sp>
        <p:nvSpPr>
          <p:cNvPr id="10" name="TextBox 9">
            <a:extLst>
              <a:ext uri="{FF2B5EF4-FFF2-40B4-BE49-F238E27FC236}">
                <a16:creationId xmlns:a16="http://schemas.microsoft.com/office/drawing/2014/main" id="{975848F8-7A69-473F-B66C-54274339C4C0}"/>
              </a:ext>
            </a:extLst>
          </p:cNvPr>
          <p:cNvSpPr txBox="1"/>
          <p:nvPr/>
        </p:nvSpPr>
        <p:spPr>
          <a:xfrm>
            <a:off x="611367" y="3764328"/>
            <a:ext cx="309700" cy="369332"/>
          </a:xfrm>
          <a:prstGeom prst="rect">
            <a:avLst/>
          </a:prstGeom>
          <a:noFill/>
        </p:spPr>
        <p:txBody>
          <a:bodyPr wrap="none" rtlCol="0">
            <a:spAutoFit/>
          </a:bodyPr>
          <a:lstStyle/>
          <a:p>
            <a:r>
              <a:rPr lang="ru-RU" dirty="0"/>
              <a:t>3</a:t>
            </a:r>
            <a:endParaRPr lang="en-US" dirty="0"/>
          </a:p>
        </p:txBody>
      </p:sp>
      <p:sp>
        <p:nvSpPr>
          <p:cNvPr id="11" name="TextBox 10">
            <a:extLst>
              <a:ext uri="{FF2B5EF4-FFF2-40B4-BE49-F238E27FC236}">
                <a16:creationId xmlns:a16="http://schemas.microsoft.com/office/drawing/2014/main" id="{7DDF6467-9951-426B-BC27-B96CA571AE90}"/>
              </a:ext>
            </a:extLst>
          </p:cNvPr>
          <p:cNvSpPr txBox="1"/>
          <p:nvPr/>
        </p:nvSpPr>
        <p:spPr>
          <a:xfrm>
            <a:off x="6277218" y="3764328"/>
            <a:ext cx="309700" cy="369332"/>
          </a:xfrm>
          <a:prstGeom prst="rect">
            <a:avLst/>
          </a:prstGeom>
          <a:noFill/>
        </p:spPr>
        <p:txBody>
          <a:bodyPr wrap="none" rtlCol="0">
            <a:spAutoFit/>
          </a:bodyPr>
          <a:lstStyle/>
          <a:p>
            <a:r>
              <a:rPr lang="ru-RU" dirty="0"/>
              <a:t>4</a:t>
            </a:r>
            <a:endParaRPr lang="en-US" dirty="0"/>
          </a:p>
        </p:txBody>
      </p:sp>
    </p:spTree>
    <p:extLst>
      <p:ext uri="{BB962C8B-B14F-4D97-AF65-F5344CB8AC3E}">
        <p14:creationId xmlns:p14="http://schemas.microsoft.com/office/powerpoint/2010/main" val="24444415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85675</TotalTime>
  <Words>8931</Words>
  <Application>Microsoft Office PowerPoint</Application>
  <PresentationFormat>Widescreen</PresentationFormat>
  <Paragraphs>1386</Paragraphs>
  <Slides>88</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88</vt:i4>
      </vt:variant>
    </vt:vector>
  </HeadingPairs>
  <TitlesOfParts>
    <vt:vector size="97" baseType="lpstr">
      <vt:lpstr>Arial</vt:lpstr>
      <vt:lpstr>Calibri</vt:lpstr>
      <vt:lpstr>Calibri Light</vt:lpstr>
      <vt:lpstr>Cascadia Code</vt:lpstr>
      <vt:lpstr>Cascadia Mono</vt:lpstr>
      <vt:lpstr>Consolas</vt:lpstr>
      <vt:lpstr>Segoe UI</vt:lpstr>
      <vt:lpstr>Segoe UI Light</vt:lpstr>
      <vt:lpstr>Office Theme</vt:lpstr>
      <vt:lpstr>С++</vt:lpstr>
      <vt:lpstr>C++/C</vt:lpstr>
      <vt:lpstr>C++/C</vt:lpstr>
      <vt:lpstr>C++/C</vt:lpstr>
      <vt:lpstr>Ассемблер</vt:lpstr>
      <vt:lpstr>А где же стек (stack) и куча (heap)?</vt:lpstr>
      <vt:lpstr>Cache miss</vt:lpstr>
      <vt:lpstr>CPU</vt:lpstr>
      <vt:lpstr>CPP</vt:lpstr>
      <vt:lpstr>Процесс компиляции CPP/C кода</vt:lpstr>
      <vt:lpstr>Static library linking</vt:lpstr>
      <vt:lpstr>Dynamic library linking</vt:lpstr>
      <vt:lpstr>Debug Symbols</vt:lpstr>
      <vt:lpstr>Отличие Debug, Release, RelWithDebInfo, сборок </vt:lpstr>
      <vt:lpstr>C++/C</vt:lpstr>
      <vt:lpstr>C++/C</vt:lpstr>
      <vt:lpstr>C++/C</vt:lpstr>
      <vt:lpstr>C++/C</vt:lpstr>
      <vt:lpstr>C++/C</vt:lpstr>
      <vt:lpstr>C++/C</vt:lpstr>
      <vt:lpstr>static vs extern</vt:lpstr>
      <vt:lpstr>Перегрузка функций в С++</vt:lpstr>
      <vt:lpstr>Отличие линковски c и с++</vt:lpstr>
      <vt:lpstr>Разделение на .h и .cpp файлы</vt:lpstr>
      <vt:lpstr>Memory alignment</vt:lpstr>
      <vt:lpstr>Memory alignment</vt:lpstr>
      <vt:lpstr>Undefined behavior</vt:lpstr>
      <vt:lpstr>Undefined behavior</vt:lpstr>
      <vt:lpstr>Undefined behavior</vt:lpstr>
      <vt:lpstr>Undefined behavior</vt:lpstr>
      <vt:lpstr>Undefined behavior</vt:lpstr>
      <vt:lpstr>Undefined behavior</vt:lpstr>
      <vt:lpstr>C-style cast vs CPP casts</vt:lpstr>
      <vt:lpstr>C-style cast vs CPP casts</vt:lpstr>
      <vt:lpstr>reinterpret_cast</vt:lpstr>
      <vt:lpstr>Explicit/implicit</vt:lpstr>
      <vt:lpstr>static_cast</vt:lpstr>
      <vt:lpstr>C-style cast vs CPP casts</vt:lpstr>
      <vt:lpstr>Operator overloading</vt:lpstr>
      <vt:lpstr>Operator overloading</vt:lpstr>
      <vt:lpstr>Operator overloading</vt:lpstr>
      <vt:lpstr>Operator overloading</vt:lpstr>
      <vt:lpstr>Binary/Unary operator overloading</vt:lpstr>
      <vt:lpstr>Operator overloading</vt:lpstr>
      <vt:lpstr>Operator overloading</vt:lpstr>
      <vt:lpstr>Making new friends</vt:lpstr>
      <vt:lpstr>Making new friends</vt:lpstr>
      <vt:lpstr>Making new friends</vt:lpstr>
      <vt:lpstr>Avoiding friends</vt:lpstr>
      <vt:lpstr>Converting constructor</vt:lpstr>
      <vt:lpstr>Converting constructor</vt:lpstr>
      <vt:lpstr>Converting constructor</vt:lpstr>
      <vt:lpstr>Automatic Overload Resolution (разрещение перегрузки )</vt:lpstr>
      <vt:lpstr>Templates</vt:lpstr>
      <vt:lpstr>#include &lt;complex&gt;</vt:lpstr>
      <vt:lpstr>Задание</vt:lpstr>
      <vt:lpstr>STL</vt:lpstr>
      <vt:lpstr>STL</vt:lpstr>
      <vt:lpstr>new/delete vs malloc/free</vt:lpstr>
      <vt:lpstr>new/delete vs malloc/free</vt:lpstr>
      <vt:lpstr>new/delete vs malloc/free</vt:lpstr>
      <vt:lpstr>STL</vt:lpstr>
      <vt:lpstr>RAII</vt:lpstr>
      <vt:lpstr>Smart pointers</vt:lpstr>
      <vt:lpstr>Smart pointers</vt:lpstr>
      <vt:lpstr>Smart pointers</vt:lpstr>
      <vt:lpstr>std::weak_ptr</vt:lpstr>
      <vt:lpstr>std::vector</vt:lpstr>
      <vt:lpstr>std::vector</vt:lpstr>
      <vt:lpstr>PowerPoint Presentation</vt:lpstr>
      <vt:lpstr>PowerPoint Presentation</vt:lpstr>
      <vt:lpstr>Construct and copy</vt:lpstr>
      <vt:lpstr>Construct and copy</vt:lpstr>
      <vt:lpstr>Construct and copy</vt:lpstr>
      <vt:lpstr>Construct and copy</vt:lpstr>
      <vt:lpstr>PowerPoint Presentation</vt:lpstr>
      <vt:lpstr>PowerPoint Presentation</vt:lpstr>
      <vt:lpstr>PowerPoint Presentation</vt:lpstr>
      <vt:lpstr>PowerPoint Presentation</vt:lpstr>
      <vt:lpstr>PowerPoint Presentation</vt:lpstr>
      <vt:lpstr>rvalue reference and lvalue reference</vt:lpstr>
      <vt:lpstr>Value categories</vt:lpstr>
      <vt:lpstr>Move semantic</vt:lpstr>
      <vt:lpstr>std::move</vt:lpstr>
      <vt:lpstr>Return value optimization</vt:lpstr>
      <vt:lpstr>Smart pointers</vt:lpstr>
      <vt:lpstr>std::unique_ptr</vt:lpstr>
      <vt:lpstr>STL Containers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Технологии программирования</dc:title>
  <dc:creator>Svyatoslav</dc:creator>
  <cp:keywords/>
  <cp:lastModifiedBy>hulio</cp:lastModifiedBy>
  <cp:revision>178</cp:revision>
  <dcterms:created xsi:type="dcterms:W3CDTF">2023-04-07T23:55:43Z</dcterms:created>
  <dcterms:modified xsi:type="dcterms:W3CDTF">2023-12-07T07:12:09Z</dcterms:modified>
  <cp:version/>
</cp:coreProperties>
</file>